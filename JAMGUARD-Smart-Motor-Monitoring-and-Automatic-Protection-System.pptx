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embeddedFontLst>
    <p:embeddedFont>
      <p:font typeface="Carlito" panose="020B0604020202020204" charset="0"/>
      <p:regular r:id="rId17"/>
    </p:embeddedFont>
    <p:embeddedFont>
      <p:font typeface="Public Sans" panose="020B0604020202020204" charset="0"/>
      <p:regular r:id="rId18"/>
    </p:embeddedFont>
    <p:embeddedFont>
      <p:font typeface="Public Sans Bold" panose="020B0604020202020204" charset="0"/>
      <p:regular r:id="rId19"/>
    </p:embeddedFont>
    <p:embeddedFont>
      <p:font typeface="Public Sans SemiBold" panose="020B0604020202020204" charset="0"/>
      <p:regular r:id="rId20"/>
    </p:embeddedFont>
    <p:embeddedFont>
      <p:font typeface="Sora SemiBold" panose="020B0604020202020204" charset="0"/>
      <p:regular r:id="rId21"/>
    </p:embeddedFont>
    <p:embeddedFont>
      <p:font typeface="Spline Sans Mono" panose="020B0604020202020204" charset="0"/>
      <p:regular r:id="rId2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77935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JamGuard as a prototype system: it watches motor rotation, interprets a loss of motion, and supports a protective response without claiming deployment results.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problem in practical terms: when rotation disappears, a wider machine may continue waiting, pushing, or feeding unless the system notices. JamGuard adds a monitoring and response concept, not a claim of existing deployment.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JamGuard measures movement, distinguishes a sustained loss from a momentary gap, protects the motor, and reports the state locally.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examples of where the principle could transfer. Keep the claim appropriately bounded: this is an adaptable prototype concept, not an industrial deployment certification.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separation of responsibility. The Arduino thinks, the ESP32 communicates, the sensor observes, the L298N drives, and the alert components make the state visible.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chain as evidence moving through the system. Physical rotation creates pulses, pulses become an RPM reading, missing pulses become a fault decision, and the response is both local and visible on the dashboard.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that the useful engineering step is not just converting pulses into a number. JamGuard interprets the event pattern over time, validates that rotation is credible, and distinguishes an irregular moment from a sustained loss before raising a possible fault.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architecture as three layers rather than one large program. The browser is the local readout, while the control decision remains close to the motor on the Arduino.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evidence the prototype should show: a normal state, a controlled fault, and the matching dashboard update. The four photo zones are reserved for the team’s own step-by-step demonstration images.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connect the build details to the protection behavior. The resistor bands are brown, green, red, and gold, indicating ±5% tolerance. The LED glows below 2100 RPM; when the motor is off or any fault is detected, both the LED and buzzer glow.</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showing the breadth of the principle. These are application examples, not claims that JamGuard is already deployed in any of them. The prototype demonstrates how rotation monitoring can make a loss of motion visible and support a protective response.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17211F"/>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png"/><Relationship Id="rId7"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jpeg"/><Relationship Id="rId10" Type="http://schemas.openxmlformats.org/officeDocument/2006/relationships/image" Target="../media/image15.png"/><Relationship Id="rId4" Type="http://schemas.openxmlformats.org/officeDocument/2006/relationships/image" Target="../media/image4.png"/><Relationship Id="rId9"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8" Type="http://schemas.openxmlformats.org/officeDocument/2006/relationships/image" Target="../media/image24.jpeg"/><Relationship Id="rId3" Type="http://schemas.openxmlformats.org/officeDocument/2006/relationships/image" Target="../media/image2.png"/><Relationship Id="rId7" Type="http://schemas.openxmlformats.org/officeDocument/2006/relationships/image" Target="../media/image23.jpe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2.jpeg"/><Relationship Id="rId5" Type="http://schemas.openxmlformats.org/officeDocument/2006/relationships/image" Target="../media/image21.jpe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1076504" y="6558955"/>
            <a:ext cx="1071833" cy="255984"/>
          </a:xfrm>
          <a:prstGeom prst="rect">
            <a:avLst/>
          </a:prstGeom>
        </p:spPr>
      </p:pic>
      <p:pic>
        <p:nvPicPr>
          <p:cNvPr id="3" name="Image 1" descr="preencoded.png"/>
          <p:cNvPicPr>
            <a:picLocks noChangeAspect="1"/>
          </p:cNvPicPr>
          <p:nvPr/>
        </p:nvPicPr>
        <p:blipFill>
          <a:blip r:embed="rId4"/>
          <a:stretch>
            <a:fillRect/>
          </a:stretch>
        </p:blipFill>
        <p:spPr>
          <a:xfrm>
            <a:off x="6095451" y="1562100"/>
            <a:ext cx="6095451" cy="3733800"/>
          </a:xfrm>
          <a:prstGeom prst="rect">
            <a:avLst/>
          </a:prstGeom>
        </p:spPr>
      </p:pic>
      <p:sp>
        <p:nvSpPr>
          <p:cNvPr id="4" name="Shape 0"/>
          <p:cNvSpPr/>
          <p:nvPr/>
        </p:nvSpPr>
        <p:spPr>
          <a:xfrm>
            <a:off x="0" y="0"/>
            <a:ext cx="6095451" cy="6858000"/>
          </a:xfrm>
          <a:prstGeom prst="rect">
            <a:avLst/>
          </a:prstGeom>
          <a:solidFill>
            <a:srgbClr val="D99032"/>
          </a:solidFill>
          <a:ln/>
        </p:spPr>
      </p:sp>
      <p:sp>
        <p:nvSpPr>
          <p:cNvPr id="5" name="Text 1"/>
          <p:cNvSpPr/>
          <p:nvPr/>
        </p:nvSpPr>
        <p:spPr>
          <a:xfrm>
            <a:off x="431789" y="482600"/>
            <a:ext cx="6798299" cy="167580"/>
          </a:xfrm>
          <a:prstGeom prst="rect">
            <a:avLst/>
          </a:prstGeom>
          <a:noFill/>
          <a:ln/>
        </p:spPr>
        <p:txBody>
          <a:bodyPr wrap="none" lIns="0" tIns="0" rIns="0" bIns="0" rtlCol="0" anchor="t"/>
          <a:lstStyle/>
          <a:p>
            <a:pPr marL="0" indent="0" algn="l">
              <a:lnSpc>
                <a:spcPct val="100000"/>
              </a:lnSpc>
              <a:buNone/>
            </a:pPr>
            <a:r>
              <a:rPr lang="en-US" sz="1100" kern="100" spc="110" dirty="0">
                <a:solidFill>
                  <a:srgbClr val="16181C"/>
                </a:solidFill>
                <a:latin typeface="Spline Sans Mono" pitchFamily="34" charset="0"/>
                <a:ea typeface="Spline Sans Mono" pitchFamily="34" charset="-122"/>
                <a:cs typeface="Spline Sans Mono" pitchFamily="34" charset="-120"/>
              </a:rPr>
              <a:t>MOTOR MONITORING · PROTOTYPE SYSTEM</a:t>
            </a:r>
            <a:endParaRPr lang="en-US" sz="1100" dirty="0"/>
          </a:p>
        </p:txBody>
      </p:sp>
      <p:sp>
        <p:nvSpPr>
          <p:cNvPr id="6" name="Shape 2"/>
          <p:cNvSpPr/>
          <p:nvPr/>
        </p:nvSpPr>
        <p:spPr>
          <a:xfrm>
            <a:off x="431789" y="929580"/>
            <a:ext cx="150710" cy="38100"/>
          </a:xfrm>
          <a:prstGeom prst="roundRect">
            <a:avLst>
              <a:gd name="adj" fmla="val 49999"/>
            </a:avLst>
          </a:prstGeom>
          <a:solidFill>
            <a:srgbClr val="F4C542"/>
          </a:solidFill>
          <a:ln/>
        </p:spPr>
      </p:sp>
      <p:sp>
        <p:nvSpPr>
          <p:cNvPr id="7" name="Text 3"/>
          <p:cNvSpPr/>
          <p:nvPr/>
        </p:nvSpPr>
        <p:spPr>
          <a:xfrm>
            <a:off x="431789" y="1619619"/>
            <a:ext cx="5427328" cy="673596"/>
          </a:xfrm>
          <a:prstGeom prst="rect">
            <a:avLst/>
          </a:prstGeom>
          <a:noFill/>
          <a:ln/>
        </p:spPr>
        <p:txBody>
          <a:bodyPr wrap="none" lIns="0" tIns="0" rIns="0" bIns="0" rtlCol="0" anchor="t"/>
          <a:lstStyle/>
          <a:p>
            <a:pPr marL="0" indent="0" algn="l">
              <a:lnSpc>
                <a:spcPct val="85000"/>
              </a:lnSpc>
              <a:buNone/>
            </a:pPr>
            <a:r>
              <a:rPr lang="en-US" sz="5200" kern="100" spc="416" dirty="0">
                <a:solidFill>
                  <a:srgbClr val="16181C"/>
                </a:solidFill>
                <a:latin typeface="Sora SemiBold" pitchFamily="34" charset="0"/>
                <a:ea typeface="Sora SemiBold" pitchFamily="34" charset="-122"/>
                <a:cs typeface="Sora SemiBold" pitchFamily="34" charset="-120"/>
              </a:rPr>
              <a:t>JAMGUARD</a:t>
            </a:r>
            <a:endParaRPr lang="en-US" sz="5200" dirty="0"/>
          </a:p>
        </p:txBody>
      </p:sp>
      <p:sp>
        <p:nvSpPr>
          <p:cNvPr id="8" name="Text 4"/>
          <p:cNvSpPr/>
          <p:nvPr/>
        </p:nvSpPr>
        <p:spPr>
          <a:xfrm>
            <a:off x="431789" y="2346107"/>
            <a:ext cx="5117575" cy="662781"/>
          </a:xfrm>
          <a:prstGeom prst="rect">
            <a:avLst/>
          </a:prstGeom>
          <a:noFill/>
          <a:ln/>
        </p:spPr>
        <p:txBody>
          <a:bodyPr wrap="square" lIns="0" tIns="0" rIns="0" bIns="0" rtlCol="0" anchor="t">
            <a:normAutofit/>
          </a:bodyPr>
          <a:lstStyle/>
          <a:p>
            <a:pPr marL="0" indent="0" algn="l">
              <a:lnSpc>
                <a:spcPct val="121000"/>
              </a:lnSpc>
              <a:buNone/>
            </a:pPr>
            <a:r>
              <a:rPr lang="en-US" sz="1800" dirty="0">
                <a:solidFill>
                  <a:srgbClr val="16181C"/>
                </a:solidFill>
                <a:latin typeface="Public Sans" pitchFamily="34" charset="0"/>
                <a:ea typeface="Public Sans" pitchFamily="34" charset="-122"/>
                <a:cs typeface="Public Sans" pitchFamily="34" charset="-120"/>
              </a:rPr>
              <a:t>Smart Motor Monitoring and Automatic Protection System</a:t>
            </a:r>
            <a:endParaRPr lang="en-US" sz="1800" dirty="0"/>
          </a:p>
        </p:txBody>
      </p:sp>
      <p:sp>
        <p:nvSpPr>
          <p:cNvPr id="9" name="Text 5"/>
          <p:cNvSpPr/>
          <p:nvPr/>
        </p:nvSpPr>
        <p:spPr>
          <a:xfrm>
            <a:off x="431789" y="5923435"/>
            <a:ext cx="5231872" cy="414338"/>
          </a:xfrm>
          <a:prstGeom prst="rect">
            <a:avLst/>
          </a:prstGeom>
          <a:noFill/>
          <a:ln/>
        </p:spPr>
        <p:txBody>
          <a:bodyPr wrap="square" lIns="0" tIns="0" rIns="0" bIns="0" rtlCol="0" anchor="t">
            <a:normAutofit/>
          </a:bodyPr>
          <a:lstStyle/>
          <a:p>
            <a:pPr marL="0" indent="0" algn="l">
              <a:lnSpc>
                <a:spcPct val="113000"/>
              </a:lnSpc>
              <a:buNone/>
            </a:pPr>
            <a:r>
              <a:rPr lang="en-US" sz="1200" kern="100" spc="24" dirty="0">
                <a:solidFill>
                  <a:srgbClr val="16181C"/>
                </a:solidFill>
                <a:latin typeface="Spline Sans Mono" pitchFamily="34" charset="0"/>
                <a:ea typeface="Spline Sans Mono" pitchFamily="34" charset="-122"/>
                <a:cs typeface="Spline Sans Mono" pitchFamily="34" charset="-120"/>
              </a:rPr>
              <a:t>A prototype concept for noticing lost rotation and triggering a protective response.</a:t>
            </a:r>
            <a:endParaRPr lang="en-US" sz="1200" dirty="0"/>
          </a:p>
        </p:txBody>
      </p:sp>
      <p:sp>
        <p:nvSpPr>
          <p:cNvPr id="10" name="Text 6"/>
          <p:cNvSpPr/>
          <p:nvPr/>
        </p:nvSpPr>
        <p:spPr>
          <a:xfrm>
            <a:off x="455204" y="3561834"/>
            <a:ext cx="4781629" cy="1645444"/>
          </a:xfrm>
          <a:prstGeom prst="rect">
            <a:avLst/>
          </a:prstGeom>
          <a:noFill/>
          <a:ln/>
        </p:spPr>
        <p:txBody>
          <a:bodyPr wrap="square" lIns="0" tIns="0" rIns="0" bIns="0" rtlCol="0" anchor="t">
            <a:normAutofit/>
          </a:bodyPr>
          <a:lstStyle/>
          <a:p>
            <a:pPr marL="0" indent="0" algn="l">
              <a:lnSpc>
                <a:spcPct val="100000"/>
              </a:lnSpc>
              <a:buNone/>
            </a:pPr>
            <a:r>
              <a:rPr lang="en-US" sz="1800" dirty="0">
                <a:solidFill>
                  <a:srgbClr val="000000"/>
                </a:solidFill>
                <a:latin typeface="Carlito" pitchFamily="34" charset="0"/>
                <a:ea typeface="Carlito" pitchFamily="34" charset="-122"/>
                <a:cs typeface="Carlito" pitchFamily="34" charset="-120"/>
              </a:rPr>
              <a:t>SUBMITTED BY-</a:t>
            </a:r>
            <a:endParaRPr lang="en-US" sz="1800" dirty="0"/>
          </a:p>
          <a:p>
            <a:pPr marL="0" indent="0" algn="l">
              <a:lnSpc>
                <a:spcPct val="100000"/>
              </a:lnSpc>
              <a:buNone/>
            </a:pPr>
            <a:r>
              <a:rPr lang="en-US" sz="1800" dirty="0">
                <a:solidFill>
                  <a:srgbClr val="000000"/>
                </a:solidFill>
                <a:latin typeface="Carlito" pitchFamily="34" charset="0"/>
                <a:ea typeface="Carlito" pitchFamily="34" charset="-122"/>
                <a:cs typeface="Carlito" pitchFamily="34" charset="-120"/>
              </a:rPr>
              <a:t>PATNALA SUBHAOM KUMAR PATRO (26BEC0268)</a:t>
            </a:r>
            <a:endParaRPr lang="en-US" sz="1800" dirty="0"/>
          </a:p>
          <a:p>
            <a:pPr marL="0" indent="0" algn="l">
              <a:lnSpc>
                <a:spcPct val="100000"/>
              </a:lnSpc>
              <a:buNone/>
            </a:pPr>
            <a:r>
              <a:rPr lang="en-US" sz="1800" dirty="0">
                <a:solidFill>
                  <a:srgbClr val="000000"/>
                </a:solidFill>
                <a:latin typeface="Carlito" pitchFamily="34" charset="0"/>
                <a:ea typeface="Carlito" pitchFamily="34" charset="-122"/>
                <a:cs typeface="Carlito" pitchFamily="34" charset="-120"/>
              </a:rPr>
              <a:t>RUCHIR NILESH PATIL (26BEC0187)</a:t>
            </a:r>
            <a:endParaRPr lang="en-US" sz="1800" dirty="0"/>
          </a:p>
          <a:p>
            <a:pPr marL="0" indent="0" algn="l">
              <a:lnSpc>
                <a:spcPct val="100000"/>
              </a:lnSpc>
              <a:buNone/>
            </a:pPr>
            <a:r>
              <a:rPr lang="en-US" sz="1800" dirty="0">
                <a:solidFill>
                  <a:srgbClr val="000000"/>
                </a:solidFill>
                <a:latin typeface="Carlito" pitchFamily="34" charset="0"/>
                <a:ea typeface="Carlito" pitchFamily="34" charset="-122"/>
                <a:cs typeface="Carlito" pitchFamily="34" charset="-120"/>
              </a:rPr>
              <a:t>AARAV GHIYA (26BEC0169)</a:t>
            </a:r>
            <a:endParaRPr lang="en-US" sz="1800" dirty="0"/>
          </a:p>
          <a:p>
            <a:pPr marL="0" indent="0" algn="l">
              <a:lnSpc>
                <a:spcPct val="100000"/>
              </a:lnSpc>
              <a:buNone/>
            </a:pPr>
            <a:r>
              <a:rPr lang="en-US" sz="1800" dirty="0">
                <a:solidFill>
                  <a:srgbClr val="000000"/>
                </a:solidFill>
                <a:latin typeface="Carlito" pitchFamily="34" charset="0"/>
                <a:ea typeface="Carlito" pitchFamily="34" charset="-122"/>
                <a:cs typeface="Carlito" pitchFamily="34" charset="-120"/>
              </a:rPr>
              <a:t>ATHARV SAXENA (26BEC0387) </a:t>
            </a:r>
            <a:endParaRPr lang="en-US" sz="1800" dirty="0"/>
          </a:p>
        </p:txBody>
      </p:sp>
      <p:sp>
        <p:nvSpPr>
          <p:cNvPr id="11" name="Shape 7"/>
          <p:cNvSpPr/>
          <p:nvPr/>
        </p:nvSpPr>
        <p:spPr>
          <a:xfrm>
            <a:off x="6095451" y="0"/>
            <a:ext cx="6095451" cy="6858000"/>
          </a:xfrm>
          <a:prstGeom prst="rect">
            <a:avLst/>
          </a:prstGeom>
          <a:solidFill>
            <a:srgbClr val="17211F">
              <a:alpha val="48000"/>
            </a:srgbClr>
          </a:solidFill>
          <a:ln/>
        </p:spPr>
      </p:sp>
      <p:sp>
        <p:nvSpPr>
          <p:cNvPr id="12" name="Text 8"/>
          <p:cNvSpPr/>
          <p:nvPr/>
        </p:nvSpPr>
        <p:spPr>
          <a:xfrm>
            <a:off x="6628837" y="546239"/>
            <a:ext cx="5505610" cy="391120"/>
          </a:xfrm>
          <a:prstGeom prst="rect">
            <a:avLst/>
          </a:prstGeom>
          <a:noFill/>
          <a:ln/>
        </p:spPr>
        <p:txBody>
          <a:bodyPr wrap="none" lIns="0" tIns="0" rIns="0" bIns="0" rtlCol="0" anchor="t"/>
          <a:lstStyle/>
          <a:p>
            <a:pPr marL="0" indent="0" algn="l">
              <a:lnSpc>
                <a:spcPct val="92000"/>
              </a:lnSpc>
              <a:buNone/>
            </a:pPr>
            <a:r>
              <a:rPr lang="en-US" sz="2800" kern="100" spc="-28" dirty="0">
                <a:solidFill>
                  <a:srgbClr val="1F7135"/>
                </a:solidFill>
                <a:latin typeface="Sora SemiBold" pitchFamily="34" charset="0"/>
                <a:ea typeface="Sora SemiBold" pitchFamily="34" charset="-122"/>
                <a:cs typeface="Sora SemiBold" pitchFamily="34" charset="-120"/>
              </a:rPr>
              <a:t>From motion to protection</a:t>
            </a:r>
            <a:endParaRPr lang="en-US" sz="2800" dirty="0"/>
          </a:p>
        </p:txBody>
      </p:sp>
      <p:sp>
        <p:nvSpPr>
          <p:cNvPr id="13" name="Text 9"/>
          <p:cNvSpPr/>
          <p:nvPr/>
        </p:nvSpPr>
        <p:spPr>
          <a:xfrm>
            <a:off x="6628837" y="1089025"/>
            <a:ext cx="5028677" cy="3378101"/>
          </a:xfrm>
          <a:prstGeom prst="rect">
            <a:avLst/>
          </a:prstGeom>
          <a:noFill/>
          <a:ln/>
        </p:spPr>
        <p:txBody>
          <a:bodyPr wrap="square" lIns="0" tIns="0" rIns="0" bIns="0" rtlCol="0" anchor="t">
            <a:normAutofit/>
          </a:bodyPr>
          <a:lstStyle/>
          <a:p>
            <a:pPr marL="0" indent="0" algn="l">
              <a:lnSpc>
                <a:spcPct val="121000"/>
              </a:lnSpc>
              <a:spcAft>
                <a:spcPts val="1900"/>
              </a:spcAft>
              <a:buNone/>
            </a:pPr>
            <a:r>
              <a:rPr lang="en-US" sz="1600" dirty="0">
                <a:solidFill>
                  <a:srgbClr val="FFFFFF"/>
                </a:solidFill>
                <a:latin typeface="Public Sans" pitchFamily="34" charset="0"/>
                <a:ea typeface="Public Sans" pitchFamily="34" charset="-122"/>
                <a:cs typeface="Public Sans" pitchFamily="34" charset="-120"/>
              </a:rPr>
              <a:t>JamGuard follows a simple chain: observe motor rotation, interpret whether motion is still present, and react when the expected movement disappears.</a:t>
            </a:r>
            <a:endParaRPr lang="en-US" sz="1600" dirty="0"/>
          </a:p>
          <a:p>
            <a:pPr marL="0" indent="0" algn="l">
              <a:lnSpc>
                <a:spcPct val="121000"/>
              </a:lnSpc>
              <a:spcAft>
                <a:spcPts val="1900"/>
              </a:spcAft>
              <a:buNone/>
            </a:pPr>
            <a:r>
              <a:rPr lang="en-US" sz="1600" b="1" dirty="0">
                <a:solidFill>
                  <a:srgbClr val="FFFFFF"/>
                </a:solidFill>
                <a:latin typeface="Public Sans Bold" pitchFamily="34" charset="0"/>
                <a:ea typeface="Public Sans Bold" pitchFamily="34" charset="-122"/>
                <a:cs typeface="Public Sans Bold" pitchFamily="34" charset="-120"/>
              </a:rPr>
              <a:t>1 · Sense —</a:t>
            </a:r>
            <a:r>
              <a:rPr lang="en-US" sz="1600" dirty="0">
                <a:solidFill>
                  <a:srgbClr val="FFFFFF"/>
                </a:solidFill>
                <a:latin typeface="Public Sans" pitchFamily="34" charset="0"/>
                <a:ea typeface="Public Sans" pitchFamily="34" charset="-122"/>
                <a:cs typeface="Public Sans" pitchFamily="34" charset="-120"/>
              </a:rPr>
              <a:t> Capture rotation as a stream of repeatable motion signals.</a:t>
            </a:r>
            <a:endParaRPr lang="en-US" sz="1600" dirty="0"/>
          </a:p>
          <a:p>
            <a:pPr marL="0" indent="0" algn="l">
              <a:lnSpc>
                <a:spcPct val="121000"/>
              </a:lnSpc>
              <a:spcAft>
                <a:spcPts val="1900"/>
              </a:spcAft>
              <a:buNone/>
            </a:pPr>
            <a:r>
              <a:rPr lang="en-US" sz="1600" b="1" dirty="0">
                <a:solidFill>
                  <a:srgbClr val="FFFFFF"/>
                </a:solidFill>
                <a:latin typeface="Public Sans Bold" pitchFamily="34" charset="0"/>
                <a:ea typeface="Public Sans Bold" pitchFamily="34" charset="-122"/>
                <a:cs typeface="Public Sans Bold" pitchFamily="34" charset="-120"/>
              </a:rPr>
              <a:t>2 · Decide —</a:t>
            </a:r>
            <a:r>
              <a:rPr lang="en-US" sz="1600" dirty="0">
                <a:solidFill>
                  <a:srgbClr val="FFFFFF"/>
                </a:solidFill>
                <a:latin typeface="Public Sans" pitchFamily="34" charset="0"/>
                <a:ea typeface="Public Sans" pitchFamily="34" charset="-122"/>
                <a:cs typeface="Public Sans" pitchFamily="34" charset="-120"/>
              </a:rPr>
              <a:t> Use the signal pattern to distinguish ongoing movement from a possible stoppage.</a:t>
            </a:r>
            <a:endParaRPr lang="en-US" sz="1600" dirty="0"/>
          </a:p>
          <a:p>
            <a:pPr marL="0" indent="0" algn="l">
              <a:lnSpc>
                <a:spcPct val="121000"/>
              </a:lnSpc>
              <a:buNone/>
            </a:pPr>
            <a:r>
              <a:rPr lang="en-US" sz="1600" b="1" dirty="0">
                <a:solidFill>
                  <a:srgbClr val="FFFFFF"/>
                </a:solidFill>
                <a:latin typeface="Public Sans Bold" pitchFamily="34" charset="0"/>
                <a:ea typeface="Public Sans Bold" pitchFamily="34" charset="-122"/>
                <a:cs typeface="Public Sans Bold" pitchFamily="34" charset="-120"/>
              </a:rPr>
              <a:t>3 · Protect —</a:t>
            </a:r>
            <a:r>
              <a:rPr lang="en-US" sz="1600" dirty="0">
                <a:solidFill>
                  <a:srgbClr val="FFFFFF"/>
                </a:solidFill>
                <a:latin typeface="Public Sans" pitchFamily="34" charset="0"/>
                <a:ea typeface="Public Sans" pitchFamily="34" charset="-122"/>
                <a:cs typeface="Public Sans" pitchFamily="34" charset="-120"/>
              </a:rPr>
              <a:t> Make the loss of motion visible and support an automatic protective response.</a:t>
            </a:r>
            <a:endParaRPr lang="en-US" sz="1600" dirty="0"/>
          </a:p>
        </p:txBody>
      </p:sp>
      <p:sp>
        <p:nvSpPr>
          <p:cNvPr id="14" name="Shape 10"/>
          <p:cNvSpPr/>
          <p:nvPr/>
        </p:nvSpPr>
        <p:spPr>
          <a:xfrm>
            <a:off x="6628837" y="4672905"/>
            <a:ext cx="5028677" cy="414338"/>
          </a:xfrm>
          <a:prstGeom prst="roundRect">
            <a:avLst>
              <a:gd name="adj" fmla="val 9931"/>
            </a:avLst>
          </a:prstGeom>
          <a:solidFill>
            <a:srgbClr val="17211F">
              <a:alpha val="68000"/>
            </a:srgbClr>
          </a:solidFill>
          <a:ln/>
        </p:spPr>
      </p:sp>
      <p:sp>
        <p:nvSpPr>
          <p:cNvPr id="15" name="Text 11"/>
          <p:cNvSpPr/>
          <p:nvPr/>
        </p:nvSpPr>
        <p:spPr>
          <a:xfrm>
            <a:off x="6628837" y="4652641"/>
            <a:ext cx="5028677" cy="414338"/>
          </a:xfrm>
          <a:prstGeom prst="rect">
            <a:avLst/>
          </a:prstGeom>
          <a:noFill/>
          <a:ln/>
        </p:spPr>
        <p:txBody>
          <a:bodyPr wrap="square" lIns="0" tIns="0" rIns="0" bIns="0" rtlCol="0" anchor="t">
            <a:normAutofit/>
          </a:bodyPr>
          <a:lstStyle/>
          <a:p>
            <a:pPr marL="0" indent="0" algn="l">
              <a:lnSpc>
                <a:spcPct val="113000"/>
              </a:lnSpc>
              <a:buNone/>
            </a:pPr>
            <a:r>
              <a:rPr lang="en-US" sz="1200" kern="100" spc="24" dirty="0">
                <a:solidFill>
                  <a:srgbClr val="FFFFFF"/>
                </a:solidFill>
                <a:latin typeface="Spline Sans Mono" pitchFamily="34" charset="0"/>
                <a:ea typeface="Spline Sans Mono" pitchFamily="34" charset="-122"/>
                <a:cs typeface="Spline Sans Mono" pitchFamily="34" charset="-120"/>
              </a:rPr>
              <a:t>The project demonstrates an adaptable monitoring principle, not a finished industrial deployment.</a:t>
            </a:r>
            <a:endParaRPr lang="en-US" sz="1200" dirty="0"/>
          </a:p>
        </p:txBody>
      </p:sp>
      <p:sp>
        <p:nvSpPr>
          <p:cNvPr id="16" name="Shape 12"/>
          <p:cNvSpPr/>
          <p:nvPr/>
        </p:nvSpPr>
        <p:spPr>
          <a:xfrm>
            <a:off x="11065789" y="6456759"/>
            <a:ext cx="1068262" cy="391120"/>
          </a:xfrm>
          <a:prstGeom prst="rect">
            <a:avLst/>
          </a:prstGeom>
          <a:solidFill>
            <a:srgbClr val="17211F"/>
          </a:solidFill>
          <a:ln w="12700">
            <a:solidFill>
              <a:srgbClr val="17211F"/>
            </a:solidFill>
            <a:prstDash val="solid"/>
          </a:ln>
        </p:spPr>
      </p:sp>
      <p:sp>
        <p:nvSpPr>
          <p:cNvPr id="17" name="TextBox 16">
            <a:extLst>
              <a:ext uri="{FF2B5EF4-FFF2-40B4-BE49-F238E27FC236}">
                <a16:creationId xmlns:a16="http://schemas.microsoft.com/office/drawing/2014/main" id="{E55B6052-FCAA-E3FF-E8DC-9D84BC24A3CA}"/>
              </a:ext>
            </a:extLst>
          </p:cNvPr>
          <p:cNvSpPr txBox="1"/>
          <p:nvPr/>
        </p:nvSpPr>
        <p:spPr>
          <a:xfrm>
            <a:off x="363894" y="5207278"/>
            <a:ext cx="4058816" cy="369332"/>
          </a:xfrm>
          <a:prstGeom prst="rect">
            <a:avLst/>
          </a:prstGeom>
          <a:noFill/>
        </p:spPr>
        <p:txBody>
          <a:bodyPr wrap="square" rtlCol="0">
            <a:spAutoFit/>
          </a:bodyPr>
          <a:lstStyle/>
          <a:p>
            <a:r>
              <a:rPr lang="en-US" dirty="0"/>
              <a:t>GUIDED BY– Dr. KVN KAVITHA </a:t>
            </a:r>
            <a:endParaRPr lang="en-IN"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1076504" y="6558955"/>
            <a:ext cx="1071833" cy="255984"/>
          </a:xfrm>
          <a:prstGeom prst="rect">
            <a:avLst/>
          </a:prstGeom>
        </p:spPr>
      </p:pic>
      <p:pic>
        <p:nvPicPr>
          <p:cNvPr id="3" name="Image 1" descr="preencoded.png"/>
          <p:cNvPicPr>
            <a:picLocks noChangeAspect="1"/>
          </p:cNvPicPr>
          <p:nvPr/>
        </p:nvPicPr>
        <p:blipFill>
          <a:blip r:embed="rId4"/>
          <a:stretch>
            <a:fillRect/>
          </a:stretch>
        </p:blipFill>
        <p:spPr>
          <a:xfrm>
            <a:off x="11076206" y="6558855"/>
            <a:ext cx="1071833" cy="255984"/>
          </a:xfrm>
          <a:prstGeom prst="rect">
            <a:avLst/>
          </a:prstGeom>
        </p:spPr>
      </p:pic>
      <p:sp>
        <p:nvSpPr>
          <p:cNvPr id="4" name="Shape 0"/>
          <p:cNvSpPr/>
          <p:nvPr/>
        </p:nvSpPr>
        <p:spPr>
          <a:xfrm>
            <a:off x="10860213" y="6316663"/>
            <a:ext cx="1250125" cy="457200"/>
          </a:xfrm>
          <a:prstGeom prst="rect">
            <a:avLst/>
          </a:prstGeom>
          <a:solidFill>
            <a:srgbClr val="17211F"/>
          </a:solidFill>
          <a:ln w="12700">
            <a:solidFill>
              <a:srgbClr val="17211F"/>
            </a:solidFill>
            <a:prstDash val="solid"/>
          </a:ln>
        </p:spPr>
      </p:sp>
      <p:sp>
        <p:nvSpPr>
          <p:cNvPr id="5" name="Shape 1"/>
          <p:cNvSpPr/>
          <p:nvPr/>
        </p:nvSpPr>
        <p:spPr>
          <a:xfrm>
            <a:off x="0" y="0"/>
            <a:ext cx="4876281" cy="6858000"/>
          </a:xfrm>
          <a:prstGeom prst="rect">
            <a:avLst/>
          </a:prstGeom>
          <a:solidFill>
            <a:srgbClr val="17211F"/>
          </a:solidFill>
          <a:ln/>
        </p:spPr>
      </p:sp>
      <p:sp>
        <p:nvSpPr>
          <p:cNvPr id="6" name="Text 2"/>
          <p:cNvSpPr/>
          <p:nvPr/>
        </p:nvSpPr>
        <p:spPr>
          <a:xfrm>
            <a:off x="431789" y="533400"/>
            <a:ext cx="5549364" cy="167580"/>
          </a:xfrm>
          <a:prstGeom prst="rect">
            <a:avLst/>
          </a:prstGeom>
          <a:noFill/>
          <a:ln/>
        </p:spPr>
        <p:txBody>
          <a:bodyPr wrap="none" lIns="0" tIns="0" rIns="0" bIns="0" rtlCol="0" anchor="t"/>
          <a:lstStyle/>
          <a:p>
            <a:pPr marL="0" indent="0" algn="l">
              <a:lnSpc>
                <a:spcPct val="100000"/>
              </a:lnSpc>
              <a:buNone/>
            </a:pPr>
            <a:r>
              <a:rPr lang="en-US" sz="1100" kern="100" spc="110" dirty="0">
                <a:solidFill>
                  <a:srgbClr val="BF9000"/>
                </a:solidFill>
                <a:latin typeface="Spline Sans Mono" pitchFamily="34" charset="0"/>
                <a:ea typeface="Spline Sans Mono" pitchFamily="34" charset="-122"/>
                <a:cs typeface="Spline Sans Mono" pitchFamily="34" charset="-120"/>
              </a:rPr>
              <a:t>THE FAILURE MODE</a:t>
            </a:r>
            <a:endParaRPr lang="en-US" sz="1100" dirty="0"/>
          </a:p>
        </p:txBody>
      </p:sp>
      <p:sp>
        <p:nvSpPr>
          <p:cNvPr id="7" name="Text 3"/>
          <p:cNvSpPr/>
          <p:nvPr/>
        </p:nvSpPr>
        <p:spPr>
          <a:xfrm>
            <a:off x="431789" y="842248"/>
            <a:ext cx="3898505" cy="1554163"/>
          </a:xfrm>
          <a:prstGeom prst="rect">
            <a:avLst/>
          </a:prstGeom>
          <a:noFill/>
          <a:ln/>
        </p:spPr>
        <p:txBody>
          <a:bodyPr wrap="square" lIns="0" tIns="0" rIns="0" bIns="0" rtlCol="0" anchor="t">
            <a:normAutofit lnSpcReduction="10000"/>
          </a:bodyPr>
          <a:lstStyle/>
          <a:p>
            <a:pPr marL="0" indent="0" algn="l">
              <a:lnSpc>
                <a:spcPct val="75000"/>
              </a:lnSpc>
              <a:buNone/>
            </a:pPr>
            <a:r>
              <a:rPr lang="en-US" sz="3400" kern="100" spc="-34" dirty="0">
                <a:solidFill>
                  <a:srgbClr val="FFFFFF"/>
                </a:solidFill>
                <a:latin typeface="Sora SemiBold" pitchFamily="34" charset="0"/>
                <a:ea typeface="Sora SemiBold" pitchFamily="34" charset="-122"/>
                <a:cs typeface="Sora SemiBold" pitchFamily="34" charset="-120"/>
              </a:rPr>
              <a:t>When a motor stops, the machine can stop with it</a:t>
            </a:r>
            <a:endParaRPr lang="en-US" sz="3400" dirty="0"/>
          </a:p>
        </p:txBody>
      </p:sp>
      <p:sp>
        <p:nvSpPr>
          <p:cNvPr id="8" name="Shape 4"/>
          <p:cNvSpPr/>
          <p:nvPr/>
        </p:nvSpPr>
        <p:spPr>
          <a:xfrm>
            <a:off x="431789" y="3007221"/>
            <a:ext cx="150710" cy="38100"/>
          </a:xfrm>
          <a:prstGeom prst="roundRect">
            <a:avLst>
              <a:gd name="adj" fmla="val 49999"/>
            </a:avLst>
          </a:prstGeom>
          <a:solidFill>
            <a:srgbClr val="D99032"/>
          </a:solidFill>
          <a:ln/>
        </p:spPr>
      </p:sp>
      <p:sp>
        <p:nvSpPr>
          <p:cNvPr id="9" name="Text 5"/>
          <p:cNvSpPr/>
          <p:nvPr/>
        </p:nvSpPr>
        <p:spPr>
          <a:xfrm>
            <a:off x="431789" y="3286125"/>
            <a:ext cx="4012802" cy="883741"/>
          </a:xfrm>
          <a:prstGeom prst="rect">
            <a:avLst/>
          </a:prstGeom>
          <a:noFill/>
          <a:ln/>
        </p:spPr>
        <p:txBody>
          <a:bodyPr wrap="square" lIns="0" tIns="0" rIns="0" bIns="0" rtlCol="0" anchor="t">
            <a:normAutofit/>
          </a:bodyPr>
          <a:lstStyle/>
          <a:p>
            <a:pPr marL="0" indent="0" algn="l">
              <a:lnSpc>
                <a:spcPct val="121000"/>
              </a:lnSpc>
              <a:buNone/>
            </a:pPr>
            <a:r>
              <a:rPr lang="en-US" sz="1600" dirty="0">
                <a:solidFill>
                  <a:srgbClr val="FFFFFF"/>
                </a:solidFill>
                <a:latin typeface="Public Sans" pitchFamily="34" charset="0"/>
                <a:ea typeface="Public Sans" pitchFamily="34" charset="-122"/>
                <a:cs typeface="Public Sans" pitchFamily="34" charset="-120"/>
              </a:rPr>
              <a:t>Unexpected stoppages can interrupt conveying, feeding, positioning, or access-control tasks.</a:t>
            </a:r>
            <a:endParaRPr lang="en-US" sz="1600" dirty="0"/>
          </a:p>
        </p:txBody>
      </p:sp>
      <p:sp>
        <p:nvSpPr>
          <p:cNvPr id="10" name="Text 6"/>
          <p:cNvSpPr/>
          <p:nvPr/>
        </p:nvSpPr>
        <p:spPr>
          <a:xfrm>
            <a:off x="431789" y="4396359"/>
            <a:ext cx="4012802" cy="621506"/>
          </a:xfrm>
          <a:prstGeom prst="rect">
            <a:avLst/>
          </a:prstGeom>
          <a:noFill/>
          <a:ln/>
        </p:spPr>
        <p:txBody>
          <a:bodyPr wrap="square" lIns="0" tIns="0" rIns="0" bIns="0" rtlCol="0" anchor="t">
            <a:normAutofit/>
          </a:bodyPr>
          <a:lstStyle/>
          <a:p>
            <a:pPr marL="0" indent="0" algn="l">
              <a:lnSpc>
                <a:spcPct val="113000"/>
              </a:lnSpc>
              <a:buNone/>
            </a:pPr>
            <a:r>
              <a:rPr lang="en-US" sz="1200" kern="100" spc="24" dirty="0">
                <a:solidFill>
                  <a:srgbClr val="FFFFFF"/>
                </a:solidFill>
                <a:latin typeface="Spline Sans Mono" pitchFamily="34" charset="0"/>
                <a:ea typeface="Spline Sans Mono" pitchFamily="34" charset="-122"/>
                <a:cs typeface="Spline Sans Mono" pitchFamily="34" charset="-120"/>
              </a:rPr>
              <a:t>The earlier the loss of motion is noticed, the sooner a system can move into a safer response.</a:t>
            </a:r>
            <a:endParaRPr lang="en-US" sz="1200" dirty="0"/>
          </a:p>
        </p:txBody>
      </p:sp>
      <p:pic>
        <p:nvPicPr>
          <p:cNvPr id="11" name="Image 2" descr="preencoded.png"/>
          <p:cNvPicPr>
            <a:picLocks noChangeAspect="1"/>
          </p:cNvPicPr>
          <p:nvPr/>
        </p:nvPicPr>
        <p:blipFill>
          <a:blip r:embed="rId5"/>
          <a:stretch>
            <a:fillRect/>
          </a:stretch>
        </p:blipFill>
        <p:spPr>
          <a:xfrm>
            <a:off x="4054374" y="1218109"/>
            <a:ext cx="27284" cy="27285"/>
          </a:xfrm>
          <a:prstGeom prst="rect">
            <a:avLst/>
          </a:prstGeom>
        </p:spPr>
      </p:pic>
      <p:sp>
        <p:nvSpPr>
          <p:cNvPr id="12" name="Text 7"/>
          <p:cNvSpPr/>
          <p:nvPr/>
        </p:nvSpPr>
        <p:spPr>
          <a:xfrm>
            <a:off x="5358869" y="597039"/>
            <a:ext cx="6235147" cy="391120"/>
          </a:xfrm>
          <a:prstGeom prst="rect">
            <a:avLst/>
          </a:prstGeom>
          <a:noFill/>
          <a:ln/>
        </p:spPr>
        <p:txBody>
          <a:bodyPr wrap="none" lIns="0" tIns="0" rIns="0" bIns="0" rtlCol="0" anchor="t"/>
          <a:lstStyle/>
          <a:p>
            <a:pPr marL="0" indent="0" algn="l">
              <a:lnSpc>
                <a:spcPct val="92000"/>
              </a:lnSpc>
              <a:buNone/>
            </a:pPr>
            <a:r>
              <a:rPr lang="en-US" sz="2800" kern="100" spc="-28" dirty="0">
                <a:solidFill>
                  <a:srgbClr val="FFFFFF"/>
                </a:solidFill>
                <a:latin typeface="Sora SemiBold" pitchFamily="34" charset="0"/>
                <a:ea typeface="Sora SemiBold" pitchFamily="34" charset="-122"/>
                <a:cs typeface="Sora SemiBold" pitchFamily="34" charset="-120"/>
              </a:rPr>
              <a:t>What JamGuard adds</a:t>
            </a:r>
            <a:endParaRPr lang="en-US" sz="2800" dirty="0"/>
          </a:p>
        </p:txBody>
      </p:sp>
      <p:sp>
        <p:nvSpPr>
          <p:cNvPr id="13" name="Shape 8"/>
          <p:cNvSpPr/>
          <p:nvPr/>
        </p:nvSpPr>
        <p:spPr>
          <a:xfrm>
            <a:off x="5358869" y="1178520"/>
            <a:ext cx="3022227" cy="2136973"/>
          </a:xfrm>
          <a:prstGeom prst="roundRect">
            <a:avLst>
              <a:gd name="adj" fmla="val 770"/>
            </a:avLst>
          </a:prstGeom>
          <a:solidFill>
            <a:srgbClr val="17211F"/>
          </a:solidFill>
          <a:ln w="6350">
            <a:solidFill>
              <a:srgbClr val="D36B5D"/>
            </a:solidFill>
            <a:prstDash val="solid"/>
          </a:ln>
        </p:spPr>
      </p:sp>
      <p:sp>
        <p:nvSpPr>
          <p:cNvPr id="14" name="Text 9"/>
          <p:cNvSpPr/>
          <p:nvPr/>
        </p:nvSpPr>
        <p:spPr>
          <a:xfrm>
            <a:off x="5593813" y="1413470"/>
            <a:ext cx="2438041" cy="304800"/>
          </a:xfrm>
          <a:prstGeom prst="rect">
            <a:avLst/>
          </a:prstGeom>
          <a:noFill/>
          <a:ln/>
        </p:spPr>
        <p:txBody>
          <a:bodyPr wrap="none" lIns="0" tIns="0" rIns="0" bIns="0" rtlCol="0" anchor="t"/>
          <a:lstStyle/>
          <a:p>
            <a:pPr marL="0" indent="0" algn="l">
              <a:lnSpc>
                <a:spcPct val="100000"/>
              </a:lnSpc>
              <a:buNone/>
            </a:pPr>
            <a:r>
              <a:rPr lang="en-US" sz="2000" dirty="0">
                <a:solidFill>
                  <a:srgbClr val="547871"/>
                </a:solidFill>
                <a:latin typeface="Public Sans SemiBold" pitchFamily="34" charset="0"/>
                <a:ea typeface="Public Sans SemiBold" pitchFamily="34" charset="-122"/>
                <a:cs typeface="Public Sans SemiBold" pitchFamily="34" charset="-120"/>
              </a:rPr>
              <a:t>Visible evidence</a:t>
            </a:r>
            <a:endParaRPr lang="en-US" sz="2000" dirty="0"/>
          </a:p>
        </p:txBody>
      </p:sp>
      <p:sp>
        <p:nvSpPr>
          <p:cNvPr id="15" name="Text 10"/>
          <p:cNvSpPr/>
          <p:nvPr/>
        </p:nvSpPr>
        <p:spPr>
          <a:xfrm>
            <a:off x="5593813" y="1863725"/>
            <a:ext cx="2495190" cy="1178322"/>
          </a:xfrm>
          <a:prstGeom prst="rect">
            <a:avLst/>
          </a:prstGeom>
          <a:noFill/>
          <a:ln/>
        </p:spPr>
        <p:txBody>
          <a:bodyPr wrap="square" lIns="0" tIns="0" rIns="0" bIns="0" rtlCol="0" anchor="t">
            <a:normAutofit/>
          </a:bodyPr>
          <a:lstStyle/>
          <a:p>
            <a:pPr marL="0" indent="0" algn="l">
              <a:lnSpc>
                <a:spcPct val="121000"/>
              </a:lnSpc>
              <a:buNone/>
            </a:pPr>
            <a:r>
              <a:rPr lang="en-US" sz="1600" dirty="0">
                <a:solidFill>
                  <a:srgbClr val="87ABA4"/>
                </a:solidFill>
                <a:latin typeface="Public Sans" pitchFamily="34" charset="0"/>
                <a:ea typeface="Public Sans" pitchFamily="34" charset="-122"/>
                <a:cs typeface="Public Sans" pitchFamily="34" charset="-120"/>
              </a:rPr>
              <a:t>Rotation becomes a readable signal instead of an unseen mechanical assumption.</a:t>
            </a:r>
            <a:endParaRPr lang="en-US" sz="1600" dirty="0"/>
          </a:p>
        </p:txBody>
      </p:sp>
      <p:sp>
        <p:nvSpPr>
          <p:cNvPr id="16" name="Shape 11"/>
          <p:cNvSpPr/>
          <p:nvPr/>
        </p:nvSpPr>
        <p:spPr>
          <a:xfrm>
            <a:off x="8685987" y="1178520"/>
            <a:ext cx="3022227" cy="2136973"/>
          </a:xfrm>
          <a:prstGeom prst="roundRect">
            <a:avLst>
              <a:gd name="adj" fmla="val 770"/>
            </a:avLst>
          </a:prstGeom>
          <a:solidFill>
            <a:srgbClr val="17211F"/>
          </a:solidFill>
          <a:ln w="6350">
            <a:solidFill>
              <a:srgbClr val="D36B5D"/>
            </a:solidFill>
            <a:prstDash val="solid"/>
          </a:ln>
        </p:spPr>
      </p:sp>
      <p:sp>
        <p:nvSpPr>
          <p:cNvPr id="17" name="Text 12"/>
          <p:cNvSpPr/>
          <p:nvPr/>
        </p:nvSpPr>
        <p:spPr>
          <a:xfrm>
            <a:off x="8920932" y="1413470"/>
            <a:ext cx="2439530" cy="304800"/>
          </a:xfrm>
          <a:prstGeom prst="rect">
            <a:avLst/>
          </a:prstGeom>
          <a:noFill/>
          <a:ln/>
        </p:spPr>
        <p:txBody>
          <a:bodyPr wrap="none" lIns="0" tIns="0" rIns="0" bIns="0" rtlCol="0" anchor="t"/>
          <a:lstStyle/>
          <a:p>
            <a:pPr marL="0" indent="0" algn="l">
              <a:lnSpc>
                <a:spcPct val="100000"/>
              </a:lnSpc>
              <a:buNone/>
            </a:pPr>
            <a:r>
              <a:rPr lang="en-US" sz="2000" dirty="0">
                <a:solidFill>
                  <a:srgbClr val="547871"/>
                </a:solidFill>
                <a:latin typeface="Public Sans SemiBold" pitchFamily="34" charset="0"/>
                <a:ea typeface="Public Sans SemiBold" pitchFamily="34" charset="-122"/>
                <a:cs typeface="Public Sans SemiBold" pitchFamily="34" charset="-120"/>
              </a:rPr>
              <a:t>Fault awareness</a:t>
            </a:r>
            <a:endParaRPr lang="en-US" sz="2000" dirty="0"/>
          </a:p>
        </p:txBody>
      </p:sp>
      <p:sp>
        <p:nvSpPr>
          <p:cNvPr id="18" name="Text 13"/>
          <p:cNvSpPr/>
          <p:nvPr/>
        </p:nvSpPr>
        <p:spPr>
          <a:xfrm>
            <a:off x="8920932" y="1863725"/>
            <a:ext cx="2438041" cy="1178322"/>
          </a:xfrm>
          <a:prstGeom prst="rect">
            <a:avLst/>
          </a:prstGeom>
          <a:noFill/>
          <a:ln/>
        </p:spPr>
        <p:txBody>
          <a:bodyPr wrap="square" lIns="0" tIns="0" rIns="0" bIns="0" rtlCol="0" anchor="t">
            <a:normAutofit/>
          </a:bodyPr>
          <a:lstStyle/>
          <a:p>
            <a:pPr marL="0" indent="0" algn="l">
              <a:lnSpc>
                <a:spcPct val="121000"/>
              </a:lnSpc>
              <a:buNone/>
            </a:pPr>
            <a:r>
              <a:rPr lang="en-US" sz="1600" dirty="0">
                <a:solidFill>
                  <a:srgbClr val="87ABA4"/>
                </a:solidFill>
                <a:latin typeface="Public Sans" pitchFamily="34" charset="0"/>
                <a:ea typeface="Public Sans" pitchFamily="34" charset="-122"/>
                <a:cs typeface="Public Sans" pitchFamily="34" charset="-120"/>
              </a:rPr>
              <a:t>A missing or interrupted motion pattern can be surfaced as a possible fault condition.</a:t>
            </a:r>
            <a:endParaRPr lang="en-US" sz="1600" dirty="0"/>
          </a:p>
        </p:txBody>
      </p:sp>
      <p:sp>
        <p:nvSpPr>
          <p:cNvPr id="19" name="Shape 14"/>
          <p:cNvSpPr/>
          <p:nvPr/>
        </p:nvSpPr>
        <p:spPr>
          <a:xfrm>
            <a:off x="5358869" y="3620492"/>
            <a:ext cx="3022227" cy="2431752"/>
          </a:xfrm>
          <a:prstGeom prst="roundRect">
            <a:avLst>
              <a:gd name="adj" fmla="val 677"/>
            </a:avLst>
          </a:prstGeom>
          <a:solidFill>
            <a:srgbClr val="17211F"/>
          </a:solidFill>
          <a:ln w="6350">
            <a:solidFill>
              <a:srgbClr val="D36B5D"/>
            </a:solidFill>
            <a:prstDash val="solid"/>
          </a:ln>
        </p:spPr>
      </p:sp>
      <p:sp>
        <p:nvSpPr>
          <p:cNvPr id="20" name="Text 15"/>
          <p:cNvSpPr/>
          <p:nvPr/>
        </p:nvSpPr>
        <p:spPr>
          <a:xfrm>
            <a:off x="5593813" y="3855442"/>
            <a:ext cx="2738667" cy="304800"/>
          </a:xfrm>
          <a:prstGeom prst="rect">
            <a:avLst/>
          </a:prstGeom>
          <a:noFill/>
          <a:ln/>
        </p:spPr>
        <p:txBody>
          <a:bodyPr wrap="none" lIns="0" tIns="0" rIns="0" bIns="0" rtlCol="0" anchor="t"/>
          <a:lstStyle/>
          <a:p>
            <a:pPr marL="0" indent="0" algn="l">
              <a:lnSpc>
                <a:spcPct val="100000"/>
              </a:lnSpc>
              <a:buNone/>
            </a:pPr>
            <a:r>
              <a:rPr lang="en-US" sz="2000" dirty="0">
                <a:solidFill>
                  <a:srgbClr val="547871"/>
                </a:solidFill>
                <a:latin typeface="Public Sans SemiBold" pitchFamily="34" charset="0"/>
                <a:ea typeface="Public Sans SemiBold" pitchFamily="34" charset="-122"/>
                <a:cs typeface="Public Sans SemiBold" pitchFamily="34" charset="-120"/>
              </a:rPr>
              <a:t>Protective reaction</a:t>
            </a:r>
            <a:endParaRPr lang="en-US" sz="2000" dirty="0"/>
          </a:p>
        </p:txBody>
      </p:sp>
      <p:sp>
        <p:nvSpPr>
          <p:cNvPr id="21" name="Text 16"/>
          <p:cNvSpPr/>
          <p:nvPr/>
        </p:nvSpPr>
        <p:spPr>
          <a:xfrm>
            <a:off x="5593813" y="4305598"/>
            <a:ext cx="2495190" cy="1472902"/>
          </a:xfrm>
          <a:prstGeom prst="rect">
            <a:avLst/>
          </a:prstGeom>
          <a:noFill/>
          <a:ln/>
        </p:spPr>
        <p:txBody>
          <a:bodyPr wrap="square" lIns="0" tIns="0" rIns="0" bIns="0" rtlCol="0" anchor="t">
            <a:normAutofit/>
          </a:bodyPr>
          <a:lstStyle/>
          <a:p>
            <a:pPr marL="0" indent="0" algn="l">
              <a:lnSpc>
                <a:spcPct val="121000"/>
              </a:lnSpc>
              <a:buNone/>
            </a:pPr>
            <a:r>
              <a:rPr lang="en-US" sz="1600" dirty="0">
                <a:solidFill>
                  <a:srgbClr val="87ABA4"/>
                </a:solidFill>
                <a:latin typeface="Public Sans" pitchFamily="34" charset="0"/>
                <a:ea typeface="Public Sans" pitchFamily="34" charset="-122"/>
                <a:cs typeface="Public Sans" pitchFamily="34" charset="-120"/>
              </a:rPr>
              <a:t>The prototype links a detected loss of motion to a response path intended to prevent the machine from carrying on blindly.</a:t>
            </a:r>
            <a:endParaRPr lang="en-US" sz="1600" dirty="0"/>
          </a:p>
        </p:txBody>
      </p:sp>
      <p:sp>
        <p:nvSpPr>
          <p:cNvPr id="22" name="Shape 17"/>
          <p:cNvSpPr/>
          <p:nvPr/>
        </p:nvSpPr>
        <p:spPr>
          <a:xfrm>
            <a:off x="8685987" y="3620492"/>
            <a:ext cx="3022227" cy="2431752"/>
          </a:xfrm>
          <a:prstGeom prst="roundRect">
            <a:avLst>
              <a:gd name="adj" fmla="val 677"/>
            </a:avLst>
          </a:prstGeom>
          <a:solidFill>
            <a:srgbClr val="17211F"/>
          </a:solidFill>
          <a:ln w="6350">
            <a:solidFill>
              <a:srgbClr val="D36B5D"/>
            </a:solidFill>
            <a:prstDash val="solid"/>
          </a:ln>
        </p:spPr>
      </p:sp>
      <p:sp>
        <p:nvSpPr>
          <p:cNvPr id="23" name="Text 18"/>
          <p:cNvSpPr/>
          <p:nvPr/>
        </p:nvSpPr>
        <p:spPr>
          <a:xfrm>
            <a:off x="8920932" y="3855442"/>
            <a:ext cx="2725074" cy="304800"/>
          </a:xfrm>
          <a:prstGeom prst="rect">
            <a:avLst/>
          </a:prstGeom>
          <a:noFill/>
          <a:ln/>
        </p:spPr>
        <p:txBody>
          <a:bodyPr wrap="none" lIns="0" tIns="0" rIns="0" bIns="0" rtlCol="0" anchor="t"/>
          <a:lstStyle/>
          <a:p>
            <a:pPr marL="0" indent="0" algn="l">
              <a:lnSpc>
                <a:spcPct val="100000"/>
              </a:lnSpc>
              <a:buNone/>
            </a:pPr>
            <a:r>
              <a:rPr lang="en-US" sz="2000" dirty="0">
                <a:solidFill>
                  <a:srgbClr val="547871"/>
                </a:solidFill>
                <a:latin typeface="Public Sans SemiBold" pitchFamily="34" charset="0"/>
                <a:ea typeface="Public Sans SemiBold" pitchFamily="34" charset="-122"/>
                <a:cs typeface="Public Sans SemiBold" pitchFamily="34" charset="-120"/>
              </a:rPr>
              <a:t>Adaptable principle</a:t>
            </a:r>
            <a:endParaRPr lang="en-US" sz="2000" dirty="0"/>
          </a:p>
        </p:txBody>
      </p:sp>
      <p:sp>
        <p:nvSpPr>
          <p:cNvPr id="24" name="Text 19"/>
          <p:cNvSpPr/>
          <p:nvPr/>
        </p:nvSpPr>
        <p:spPr>
          <a:xfrm>
            <a:off x="8920932" y="4305598"/>
            <a:ext cx="2495190" cy="1178322"/>
          </a:xfrm>
          <a:prstGeom prst="rect">
            <a:avLst/>
          </a:prstGeom>
          <a:noFill/>
          <a:ln/>
        </p:spPr>
        <p:txBody>
          <a:bodyPr wrap="square" lIns="0" tIns="0" rIns="0" bIns="0" rtlCol="0" anchor="t">
            <a:normAutofit/>
          </a:bodyPr>
          <a:lstStyle/>
          <a:p>
            <a:pPr marL="0" indent="0" algn="l">
              <a:lnSpc>
                <a:spcPct val="121000"/>
              </a:lnSpc>
              <a:buNone/>
            </a:pPr>
            <a:r>
              <a:rPr lang="en-US" sz="1600" dirty="0">
                <a:solidFill>
                  <a:srgbClr val="87ABA4"/>
                </a:solidFill>
                <a:latin typeface="Public Sans" pitchFamily="34" charset="0"/>
                <a:ea typeface="Public Sans" pitchFamily="34" charset="-122"/>
                <a:cs typeface="Public Sans" pitchFamily="34" charset="-120"/>
              </a:rPr>
              <a:t>The same monitoring idea can be shaped around different small motor-driven systems.</a:t>
            </a:r>
            <a:endParaRPr lang="en-US" sz="16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1076504" y="6558955"/>
            <a:ext cx="1071833" cy="255984"/>
          </a:xfrm>
          <a:prstGeom prst="rect">
            <a:avLst/>
          </a:prstGeom>
        </p:spPr>
      </p:pic>
      <p:sp>
        <p:nvSpPr>
          <p:cNvPr id="3" name="Shape 0"/>
          <p:cNvSpPr/>
          <p:nvPr/>
        </p:nvSpPr>
        <p:spPr>
          <a:xfrm>
            <a:off x="10916071" y="6305748"/>
            <a:ext cx="1274631" cy="494506"/>
          </a:xfrm>
          <a:prstGeom prst="rect">
            <a:avLst/>
          </a:prstGeom>
          <a:solidFill>
            <a:srgbClr val="17211F"/>
          </a:solidFill>
          <a:ln w="12700">
            <a:solidFill>
              <a:srgbClr val="17211F"/>
            </a:solidFill>
            <a:prstDash val="solid"/>
          </a:ln>
        </p:spPr>
      </p:sp>
      <p:sp>
        <p:nvSpPr>
          <p:cNvPr id="4" name="Text 1"/>
          <p:cNvSpPr/>
          <p:nvPr/>
        </p:nvSpPr>
        <p:spPr>
          <a:xfrm>
            <a:off x="609585" y="609600"/>
            <a:ext cx="11582110" cy="167580"/>
          </a:xfrm>
          <a:prstGeom prst="rect">
            <a:avLst/>
          </a:prstGeom>
          <a:noFill/>
          <a:ln/>
        </p:spPr>
        <p:txBody>
          <a:bodyPr wrap="none" lIns="0" tIns="0" rIns="0" bIns="0" rtlCol="0" anchor="t"/>
          <a:lstStyle/>
          <a:p>
            <a:pPr marL="0" indent="0" algn="l">
              <a:lnSpc>
                <a:spcPct val="100000"/>
              </a:lnSpc>
              <a:buNone/>
            </a:pPr>
            <a:r>
              <a:rPr lang="en-US" sz="1100" kern="100" spc="110" dirty="0">
                <a:solidFill>
                  <a:srgbClr val="D99032"/>
                </a:solidFill>
                <a:latin typeface="Spline Sans Mono" pitchFamily="34" charset="0"/>
                <a:ea typeface="Spline Sans Mono" pitchFamily="34" charset="-122"/>
                <a:cs typeface="Spline Sans Mono" pitchFamily="34" charset="-120"/>
              </a:rPr>
              <a:t>THE RESPONSE LOOP</a:t>
            </a:r>
            <a:endParaRPr lang="en-US" sz="1100" dirty="0"/>
          </a:p>
        </p:txBody>
      </p:sp>
      <p:sp>
        <p:nvSpPr>
          <p:cNvPr id="5" name="Text 2"/>
          <p:cNvSpPr/>
          <p:nvPr/>
        </p:nvSpPr>
        <p:spPr>
          <a:xfrm>
            <a:off x="609585" y="918448"/>
            <a:ext cx="10857633" cy="777081"/>
          </a:xfrm>
          <a:prstGeom prst="rect">
            <a:avLst/>
          </a:prstGeom>
          <a:noFill/>
          <a:ln/>
        </p:spPr>
        <p:txBody>
          <a:bodyPr wrap="square" lIns="0" tIns="0" rIns="0" bIns="0" rtlCol="0" anchor="t">
            <a:normAutofit lnSpcReduction="10000"/>
          </a:bodyPr>
          <a:lstStyle/>
          <a:p>
            <a:pPr marL="0" indent="0" algn="l">
              <a:lnSpc>
                <a:spcPct val="75000"/>
              </a:lnSpc>
              <a:buNone/>
            </a:pPr>
            <a:r>
              <a:rPr lang="en-US" sz="3400" kern="100" spc="-34" dirty="0">
                <a:solidFill>
                  <a:srgbClr val="D99032"/>
                </a:solidFill>
                <a:latin typeface="Sora SemiBold" pitchFamily="34" charset="0"/>
                <a:ea typeface="Sora SemiBold" pitchFamily="34" charset="-122"/>
                <a:cs typeface="Sora SemiBold" pitchFamily="34" charset="-120"/>
              </a:rPr>
              <a:t>JamGuard watches rotation and reacts to loss of motion</a:t>
            </a:r>
            <a:endParaRPr lang="en-US" sz="3400" dirty="0"/>
          </a:p>
        </p:txBody>
      </p:sp>
      <p:sp>
        <p:nvSpPr>
          <p:cNvPr id="6" name="Text 3"/>
          <p:cNvSpPr/>
          <p:nvPr/>
        </p:nvSpPr>
        <p:spPr>
          <a:xfrm>
            <a:off x="609585" y="2082502"/>
            <a:ext cx="11582110" cy="294580"/>
          </a:xfrm>
          <a:prstGeom prst="rect">
            <a:avLst/>
          </a:prstGeom>
          <a:noFill/>
          <a:ln/>
        </p:spPr>
        <p:txBody>
          <a:bodyPr wrap="none" lIns="0" tIns="0" rIns="0" bIns="0" rtlCol="0" anchor="t"/>
          <a:lstStyle/>
          <a:p>
            <a:pPr marL="0" indent="0" algn="l">
              <a:lnSpc>
                <a:spcPct val="121000"/>
              </a:lnSpc>
              <a:buNone/>
            </a:pPr>
            <a:r>
              <a:rPr lang="en-US" sz="1600" dirty="0">
                <a:solidFill>
                  <a:srgbClr val="87ABA4"/>
                </a:solidFill>
                <a:latin typeface="Public Sans" pitchFamily="34" charset="0"/>
                <a:ea typeface="Public Sans" pitchFamily="34" charset="-122"/>
                <a:cs typeface="Public Sans" pitchFamily="34" charset="-120"/>
              </a:rPr>
              <a:t>One signal becomes one protective response.</a:t>
            </a:r>
            <a:endParaRPr lang="en-US" sz="1600" dirty="0"/>
          </a:p>
        </p:txBody>
      </p:sp>
      <p:sp>
        <p:nvSpPr>
          <p:cNvPr id="7" name="Text 4"/>
          <p:cNvSpPr/>
          <p:nvPr/>
        </p:nvSpPr>
        <p:spPr>
          <a:xfrm>
            <a:off x="609585" y="2643041"/>
            <a:ext cx="1927276" cy="203200"/>
          </a:xfrm>
          <a:prstGeom prst="rect">
            <a:avLst/>
          </a:prstGeom>
          <a:noFill/>
          <a:ln/>
        </p:spPr>
        <p:txBody>
          <a:bodyPr wrap="none" lIns="0" tIns="0" rIns="0" bIns="0" rtlCol="0" anchor="t"/>
          <a:lstStyle/>
          <a:p>
            <a:pPr marL="0" indent="0" algn="l">
              <a:lnSpc>
                <a:spcPct val="83000"/>
              </a:lnSpc>
              <a:buNone/>
            </a:pPr>
            <a:r>
              <a:rPr lang="en-US" sz="1600" dirty="0">
                <a:solidFill>
                  <a:srgbClr val="D99032"/>
                </a:solidFill>
                <a:latin typeface="Public Sans SemiBold" pitchFamily="34" charset="0"/>
                <a:ea typeface="Public Sans SemiBold" pitchFamily="34" charset="-122"/>
                <a:cs typeface="Public Sans SemiBold" pitchFamily="34" charset="-120"/>
              </a:rPr>
              <a:t>01</a:t>
            </a:r>
            <a:endParaRPr lang="en-US" sz="1600" dirty="0"/>
          </a:p>
        </p:txBody>
      </p:sp>
      <p:sp>
        <p:nvSpPr>
          <p:cNvPr id="8" name="Shape 5"/>
          <p:cNvSpPr/>
          <p:nvPr/>
        </p:nvSpPr>
        <p:spPr>
          <a:xfrm>
            <a:off x="609585" y="2890341"/>
            <a:ext cx="2514537" cy="19050"/>
          </a:xfrm>
          <a:prstGeom prst="rect">
            <a:avLst/>
          </a:prstGeom>
          <a:solidFill>
            <a:srgbClr val="D99032"/>
          </a:solidFill>
          <a:ln/>
        </p:spPr>
      </p:sp>
      <p:sp>
        <p:nvSpPr>
          <p:cNvPr id="9" name="Text 6"/>
          <p:cNvSpPr/>
          <p:nvPr/>
        </p:nvSpPr>
        <p:spPr>
          <a:xfrm>
            <a:off x="609585" y="3031232"/>
            <a:ext cx="2400240" cy="304800"/>
          </a:xfrm>
          <a:prstGeom prst="rect">
            <a:avLst/>
          </a:prstGeom>
          <a:noFill/>
          <a:ln/>
        </p:spPr>
        <p:txBody>
          <a:bodyPr wrap="none" lIns="0" tIns="0" rIns="0" bIns="0" rtlCol="0" anchor="t"/>
          <a:lstStyle/>
          <a:p>
            <a:pPr marL="0" indent="0" algn="l">
              <a:lnSpc>
                <a:spcPct val="100000"/>
              </a:lnSpc>
              <a:buNone/>
            </a:pPr>
            <a:r>
              <a:rPr lang="en-US" sz="2000" dirty="0">
                <a:solidFill>
                  <a:srgbClr val="547871"/>
                </a:solidFill>
                <a:latin typeface="Public Sans SemiBold" pitchFamily="34" charset="0"/>
                <a:ea typeface="Public Sans SemiBold" pitchFamily="34" charset="-122"/>
                <a:cs typeface="Public Sans SemiBold" pitchFamily="34" charset="-120"/>
              </a:rPr>
              <a:t>Measure</a:t>
            </a:r>
            <a:endParaRPr lang="en-US" sz="2000" dirty="0"/>
          </a:p>
        </p:txBody>
      </p:sp>
      <p:sp>
        <p:nvSpPr>
          <p:cNvPr id="10" name="Text 7"/>
          <p:cNvSpPr/>
          <p:nvPr/>
        </p:nvSpPr>
        <p:spPr>
          <a:xfrm>
            <a:off x="609585" y="3481487"/>
            <a:ext cx="2400240" cy="589161"/>
          </a:xfrm>
          <a:prstGeom prst="rect">
            <a:avLst/>
          </a:prstGeom>
          <a:noFill/>
          <a:ln/>
        </p:spPr>
        <p:txBody>
          <a:bodyPr wrap="square" lIns="0" tIns="0" rIns="0" bIns="0" rtlCol="0" anchor="t">
            <a:normAutofit/>
          </a:bodyPr>
          <a:lstStyle/>
          <a:p>
            <a:pPr marL="0" indent="0" algn="l">
              <a:lnSpc>
                <a:spcPct val="121000"/>
              </a:lnSpc>
              <a:buNone/>
            </a:pPr>
            <a:r>
              <a:rPr lang="en-US" sz="1600" dirty="0">
                <a:solidFill>
                  <a:srgbClr val="87ABA4"/>
                </a:solidFill>
                <a:latin typeface="Public Sans" pitchFamily="34" charset="0"/>
                <a:ea typeface="Public Sans" pitchFamily="34" charset="-122"/>
                <a:cs typeface="Public Sans" pitchFamily="34" charset="-120"/>
              </a:rPr>
              <a:t>Magnetic pulses track motor rotation.</a:t>
            </a:r>
            <a:endParaRPr lang="en-US" sz="1600" dirty="0"/>
          </a:p>
        </p:txBody>
      </p:sp>
      <p:sp>
        <p:nvSpPr>
          <p:cNvPr id="11" name="Text 8"/>
          <p:cNvSpPr/>
          <p:nvPr/>
        </p:nvSpPr>
        <p:spPr>
          <a:xfrm>
            <a:off x="3428617" y="2643041"/>
            <a:ext cx="1967657" cy="203200"/>
          </a:xfrm>
          <a:prstGeom prst="rect">
            <a:avLst/>
          </a:prstGeom>
          <a:noFill/>
          <a:ln/>
        </p:spPr>
        <p:txBody>
          <a:bodyPr wrap="none" lIns="0" tIns="0" rIns="0" bIns="0" rtlCol="0" anchor="t"/>
          <a:lstStyle/>
          <a:p>
            <a:pPr marL="0" indent="0" algn="l">
              <a:lnSpc>
                <a:spcPct val="83000"/>
              </a:lnSpc>
              <a:buNone/>
            </a:pPr>
            <a:r>
              <a:rPr lang="en-US" sz="1600" dirty="0">
                <a:solidFill>
                  <a:srgbClr val="D99032"/>
                </a:solidFill>
                <a:latin typeface="Public Sans SemiBold" pitchFamily="34" charset="0"/>
                <a:ea typeface="Public Sans SemiBold" pitchFamily="34" charset="-122"/>
                <a:cs typeface="Public Sans SemiBold" pitchFamily="34" charset="-120"/>
              </a:rPr>
              <a:t>02</a:t>
            </a:r>
            <a:endParaRPr lang="en-US" sz="1600" dirty="0"/>
          </a:p>
        </p:txBody>
      </p:sp>
      <p:sp>
        <p:nvSpPr>
          <p:cNvPr id="12" name="Shape 9"/>
          <p:cNvSpPr/>
          <p:nvPr/>
        </p:nvSpPr>
        <p:spPr>
          <a:xfrm>
            <a:off x="3428617" y="2890341"/>
            <a:ext cx="2514537" cy="19050"/>
          </a:xfrm>
          <a:prstGeom prst="rect">
            <a:avLst/>
          </a:prstGeom>
          <a:solidFill>
            <a:srgbClr val="D99032"/>
          </a:solidFill>
          <a:ln/>
        </p:spPr>
      </p:sp>
      <p:sp>
        <p:nvSpPr>
          <p:cNvPr id="13" name="Text 10"/>
          <p:cNvSpPr/>
          <p:nvPr/>
        </p:nvSpPr>
        <p:spPr>
          <a:xfrm>
            <a:off x="3428617" y="3031232"/>
            <a:ext cx="2400240" cy="304800"/>
          </a:xfrm>
          <a:prstGeom prst="rect">
            <a:avLst/>
          </a:prstGeom>
          <a:noFill/>
          <a:ln/>
        </p:spPr>
        <p:txBody>
          <a:bodyPr wrap="none" lIns="0" tIns="0" rIns="0" bIns="0" rtlCol="0" anchor="t"/>
          <a:lstStyle/>
          <a:p>
            <a:pPr marL="0" indent="0" algn="l">
              <a:lnSpc>
                <a:spcPct val="100000"/>
              </a:lnSpc>
              <a:buNone/>
            </a:pPr>
            <a:r>
              <a:rPr lang="en-US" sz="2000" dirty="0">
                <a:solidFill>
                  <a:srgbClr val="547871"/>
                </a:solidFill>
                <a:latin typeface="Public Sans SemiBold" pitchFamily="34" charset="0"/>
                <a:ea typeface="Public Sans SemiBold" pitchFamily="34" charset="-122"/>
                <a:cs typeface="Public Sans SemiBold" pitchFamily="34" charset="-120"/>
              </a:rPr>
              <a:t>Detect</a:t>
            </a:r>
            <a:endParaRPr lang="en-US" sz="2000" dirty="0"/>
          </a:p>
        </p:txBody>
      </p:sp>
      <p:sp>
        <p:nvSpPr>
          <p:cNvPr id="14" name="Text 11"/>
          <p:cNvSpPr/>
          <p:nvPr/>
        </p:nvSpPr>
        <p:spPr>
          <a:xfrm>
            <a:off x="3428617" y="3481487"/>
            <a:ext cx="2457389" cy="589161"/>
          </a:xfrm>
          <a:prstGeom prst="rect">
            <a:avLst/>
          </a:prstGeom>
          <a:noFill/>
          <a:ln/>
        </p:spPr>
        <p:txBody>
          <a:bodyPr wrap="square" lIns="0" tIns="0" rIns="0" bIns="0" rtlCol="0" anchor="t">
            <a:normAutofit/>
          </a:bodyPr>
          <a:lstStyle/>
          <a:p>
            <a:pPr marL="0" indent="0" algn="l">
              <a:lnSpc>
                <a:spcPct val="121000"/>
              </a:lnSpc>
              <a:buNone/>
            </a:pPr>
            <a:r>
              <a:rPr lang="en-US" sz="1600" dirty="0">
                <a:solidFill>
                  <a:srgbClr val="87ABA4"/>
                </a:solidFill>
                <a:latin typeface="Public Sans" pitchFamily="34" charset="0"/>
                <a:ea typeface="Public Sans" pitchFamily="34" charset="-122"/>
                <a:cs typeface="Public Sans" pitchFamily="34" charset="-120"/>
              </a:rPr>
              <a:t>Sustained loss of rotation becomes a fault.</a:t>
            </a:r>
            <a:endParaRPr lang="en-US" sz="1600" dirty="0"/>
          </a:p>
        </p:txBody>
      </p:sp>
      <p:sp>
        <p:nvSpPr>
          <p:cNvPr id="15" name="Text 12"/>
          <p:cNvSpPr/>
          <p:nvPr/>
        </p:nvSpPr>
        <p:spPr>
          <a:xfrm>
            <a:off x="6247847" y="2643041"/>
            <a:ext cx="1973213" cy="203200"/>
          </a:xfrm>
          <a:prstGeom prst="rect">
            <a:avLst/>
          </a:prstGeom>
          <a:noFill/>
          <a:ln/>
        </p:spPr>
        <p:txBody>
          <a:bodyPr wrap="none" lIns="0" tIns="0" rIns="0" bIns="0" rtlCol="0" anchor="t"/>
          <a:lstStyle/>
          <a:p>
            <a:pPr marL="0" indent="0" algn="l">
              <a:lnSpc>
                <a:spcPct val="83000"/>
              </a:lnSpc>
              <a:buNone/>
            </a:pPr>
            <a:r>
              <a:rPr lang="en-US" sz="1600" dirty="0">
                <a:solidFill>
                  <a:srgbClr val="D99032"/>
                </a:solidFill>
                <a:latin typeface="Public Sans SemiBold" pitchFamily="34" charset="0"/>
                <a:ea typeface="Public Sans SemiBold" pitchFamily="34" charset="-122"/>
                <a:cs typeface="Public Sans SemiBold" pitchFamily="34" charset="-120"/>
              </a:rPr>
              <a:t>03</a:t>
            </a:r>
            <a:endParaRPr lang="en-US" sz="1600" dirty="0"/>
          </a:p>
        </p:txBody>
      </p:sp>
      <p:sp>
        <p:nvSpPr>
          <p:cNvPr id="16" name="Shape 13"/>
          <p:cNvSpPr/>
          <p:nvPr/>
        </p:nvSpPr>
        <p:spPr>
          <a:xfrm>
            <a:off x="6247847" y="2890341"/>
            <a:ext cx="2514537" cy="19050"/>
          </a:xfrm>
          <a:prstGeom prst="rect">
            <a:avLst/>
          </a:prstGeom>
          <a:solidFill>
            <a:srgbClr val="D99032"/>
          </a:solidFill>
          <a:ln/>
        </p:spPr>
      </p:sp>
      <p:sp>
        <p:nvSpPr>
          <p:cNvPr id="17" name="Text 14"/>
          <p:cNvSpPr/>
          <p:nvPr/>
        </p:nvSpPr>
        <p:spPr>
          <a:xfrm>
            <a:off x="6247847" y="3031232"/>
            <a:ext cx="2400240" cy="304800"/>
          </a:xfrm>
          <a:prstGeom prst="rect">
            <a:avLst/>
          </a:prstGeom>
          <a:noFill/>
          <a:ln/>
        </p:spPr>
        <p:txBody>
          <a:bodyPr wrap="none" lIns="0" tIns="0" rIns="0" bIns="0" rtlCol="0" anchor="t"/>
          <a:lstStyle/>
          <a:p>
            <a:pPr marL="0" indent="0" algn="l">
              <a:lnSpc>
                <a:spcPct val="100000"/>
              </a:lnSpc>
              <a:buNone/>
            </a:pPr>
            <a:r>
              <a:rPr lang="en-US" sz="2000" dirty="0">
                <a:solidFill>
                  <a:srgbClr val="547871"/>
                </a:solidFill>
                <a:latin typeface="Public Sans SemiBold" pitchFamily="34" charset="0"/>
                <a:ea typeface="Public Sans SemiBold" pitchFamily="34" charset="-122"/>
                <a:cs typeface="Public Sans SemiBold" pitchFamily="34" charset="-120"/>
              </a:rPr>
              <a:t>Protect</a:t>
            </a:r>
            <a:endParaRPr lang="en-US" sz="2000" dirty="0"/>
          </a:p>
        </p:txBody>
      </p:sp>
      <p:sp>
        <p:nvSpPr>
          <p:cNvPr id="18" name="Text 15"/>
          <p:cNvSpPr/>
          <p:nvPr/>
        </p:nvSpPr>
        <p:spPr>
          <a:xfrm>
            <a:off x="6247847" y="3481487"/>
            <a:ext cx="2400240" cy="589161"/>
          </a:xfrm>
          <a:prstGeom prst="rect">
            <a:avLst/>
          </a:prstGeom>
          <a:noFill/>
          <a:ln/>
        </p:spPr>
        <p:txBody>
          <a:bodyPr wrap="square" lIns="0" tIns="0" rIns="0" bIns="0" rtlCol="0" anchor="t">
            <a:normAutofit/>
          </a:bodyPr>
          <a:lstStyle/>
          <a:p>
            <a:pPr marL="0" indent="0" algn="l">
              <a:lnSpc>
                <a:spcPct val="121000"/>
              </a:lnSpc>
              <a:buNone/>
            </a:pPr>
            <a:r>
              <a:rPr lang="en-US" sz="1600" dirty="0">
                <a:solidFill>
                  <a:srgbClr val="87ABA4"/>
                </a:solidFill>
                <a:latin typeface="Public Sans" pitchFamily="34" charset="0"/>
                <a:ea typeface="Public Sans" pitchFamily="34" charset="-122"/>
                <a:cs typeface="Public Sans" pitchFamily="34" charset="-120"/>
              </a:rPr>
              <a:t>The motor disables; LED and buzzer activate.</a:t>
            </a:r>
            <a:endParaRPr lang="en-US" sz="1600" dirty="0"/>
          </a:p>
        </p:txBody>
      </p:sp>
      <p:sp>
        <p:nvSpPr>
          <p:cNvPr id="19" name="Text 16"/>
          <p:cNvSpPr/>
          <p:nvPr/>
        </p:nvSpPr>
        <p:spPr>
          <a:xfrm>
            <a:off x="9066978" y="2643041"/>
            <a:ext cx="1972618" cy="203200"/>
          </a:xfrm>
          <a:prstGeom prst="rect">
            <a:avLst/>
          </a:prstGeom>
          <a:noFill/>
          <a:ln/>
        </p:spPr>
        <p:txBody>
          <a:bodyPr wrap="none" lIns="0" tIns="0" rIns="0" bIns="0" rtlCol="0" anchor="t"/>
          <a:lstStyle/>
          <a:p>
            <a:pPr marL="0" indent="0" algn="l">
              <a:lnSpc>
                <a:spcPct val="83000"/>
              </a:lnSpc>
              <a:buNone/>
            </a:pPr>
            <a:r>
              <a:rPr lang="en-US" sz="1600" dirty="0">
                <a:solidFill>
                  <a:srgbClr val="D99032"/>
                </a:solidFill>
                <a:latin typeface="Public Sans SemiBold" pitchFamily="34" charset="0"/>
                <a:ea typeface="Public Sans SemiBold" pitchFamily="34" charset="-122"/>
                <a:cs typeface="Public Sans SemiBold" pitchFamily="34" charset="-120"/>
              </a:rPr>
              <a:t>04</a:t>
            </a:r>
            <a:endParaRPr lang="en-US" sz="1600" dirty="0"/>
          </a:p>
        </p:txBody>
      </p:sp>
      <p:sp>
        <p:nvSpPr>
          <p:cNvPr id="20" name="Shape 17"/>
          <p:cNvSpPr/>
          <p:nvPr/>
        </p:nvSpPr>
        <p:spPr>
          <a:xfrm>
            <a:off x="9066978" y="2890341"/>
            <a:ext cx="2514537" cy="19050"/>
          </a:xfrm>
          <a:prstGeom prst="rect">
            <a:avLst/>
          </a:prstGeom>
          <a:solidFill>
            <a:srgbClr val="D99032"/>
          </a:solidFill>
          <a:ln/>
        </p:spPr>
      </p:sp>
      <p:sp>
        <p:nvSpPr>
          <p:cNvPr id="21" name="Text 18"/>
          <p:cNvSpPr/>
          <p:nvPr/>
        </p:nvSpPr>
        <p:spPr>
          <a:xfrm>
            <a:off x="9066978" y="3031232"/>
            <a:ext cx="2400240" cy="304800"/>
          </a:xfrm>
          <a:prstGeom prst="rect">
            <a:avLst/>
          </a:prstGeom>
          <a:noFill/>
          <a:ln/>
        </p:spPr>
        <p:txBody>
          <a:bodyPr wrap="none" lIns="0" tIns="0" rIns="0" bIns="0" rtlCol="0" anchor="t"/>
          <a:lstStyle/>
          <a:p>
            <a:pPr marL="0" indent="0" algn="l">
              <a:lnSpc>
                <a:spcPct val="100000"/>
              </a:lnSpc>
              <a:buNone/>
            </a:pPr>
            <a:r>
              <a:rPr lang="en-US" sz="2000" dirty="0">
                <a:solidFill>
                  <a:srgbClr val="547871"/>
                </a:solidFill>
                <a:latin typeface="Public Sans SemiBold" pitchFamily="34" charset="0"/>
                <a:ea typeface="Public Sans SemiBold" pitchFamily="34" charset="-122"/>
                <a:cs typeface="Public Sans SemiBold" pitchFamily="34" charset="-120"/>
              </a:rPr>
              <a:t>Report</a:t>
            </a:r>
            <a:endParaRPr lang="en-US" sz="2000" dirty="0"/>
          </a:p>
        </p:txBody>
      </p:sp>
      <p:sp>
        <p:nvSpPr>
          <p:cNvPr id="22" name="Text 19"/>
          <p:cNvSpPr/>
          <p:nvPr/>
        </p:nvSpPr>
        <p:spPr>
          <a:xfrm>
            <a:off x="9066978" y="3481487"/>
            <a:ext cx="2514537" cy="589161"/>
          </a:xfrm>
          <a:prstGeom prst="rect">
            <a:avLst/>
          </a:prstGeom>
          <a:noFill/>
          <a:ln/>
        </p:spPr>
        <p:txBody>
          <a:bodyPr wrap="square" lIns="0" tIns="0" rIns="0" bIns="0" rtlCol="0" anchor="t">
            <a:normAutofit/>
          </a:bodyPr>
          <a:lstStyle/>
          <a:p>
            <a:pPr marL="0" indent="0" algn="l">
              <a:lnSpc>
                <a:spcPct val="121000"/>
              </a:lnSpc>
              <a:buNone/>
            </a:pPr>
            <a:r>
              <a:rPr lang="en-US" sz="1600" dirty="0">
                <a:solidFill>
                  <a:srgbClr val="87ABA4"/>
                </a:solidFill>
                <a:latin typeface="Public Sans" pitchFamily="34" charset="0"/>
                <a:ea typeface="Public Sans" pitchFamily="34" charset="-122"/>
                <a:cs typeface="Public Sans" pitchFamily="34" charset="-120"/>
              </a:rPr>
              <a:t>RPM and status reach the local ESP32 dashboard.</a:t>
            </a:r>
            <a:endParaRPr lang="en-US" sz="1600" dirty="0"/>
          </a:p>
        </p:txBody>
      </p:sp>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1076504" y="6558955"/>
            <a:ext cx="1071833" cy="255984"/>
          </a:xfrm>
          <a:prstGeom prst="rect">
            <a:avLst/>
          </a:prstGeom>
        </p:spPr>
      </p:pic>
      <p:pic>
        <p:nvPicPr>
          <p:cNvPr id="3" name="Image 1" descr="preencoded.png"/>
          <p:cNvPicPr>
            <a:picLocks noChangeAspect="1"/>
          </p:cNvPicPr>
          <p:nvPr/>
        </p:nvPicPr>
        <p:blipFill>
          <a:blip r:embed="rId3"/>
          <a:stretch>
            <a:fillRect/>
          </a:stretch>
        </p:blipFill>
        <p:spPr>
          <a:xfrm>
            <a:off x="11076206" y="6558855"/>
            <a:ext cx="1071833" cy="255984"/>
          </a:xfrm>
          <a:prstGeom prst="rect">
            <a:avLst/>
          </a:prstGeom>
        </p:spPr>
      </p:pic>
      <p:sp>
        <p:nvSpPr>
          <p:cNvPr id="4" name="Text 0"/>
          <p:cNvSpPr/>
          <p:nvPr/>
        </p:nvSpPr>
        <p:spPr>
          <a:xfrm>
            <a:off x="11852177" y="6464300"/>
            <a:ext cx="339518" cy="184150"/>
          </a:xfrm>
          <a:prstGeom prst="rect">
            <a:avLst/>
          </a:prstGeom>
          <a:noFill/>
          <a:ln/>
        </p:spPr>
        <p:txBody>
          <a:bodyPr wrap="none" lIns="0" tIns="0" rIns="0" bIns="0" rtlCol="0" anchor="t"/>
          <a:lstStyle/>
          <a:p>
            <a:pPr marL="0" indent="0" algn="l">
              <a:lnSpc>
                <a:spcPct val="121000"/>
              </a:lnSpc>
              <a:buNone/>
            </a:pPr>
            <a:r>
              <a:rPr lang="en-US" sz="1000" dirty="0">
                <a:solidFill>
                  <a:srgbClr val="87ABA4"/>
                </a:solidFill>
                <a:latin typeface="Public Sans" pitchFamily="34" charset="0"/>
                <a:ea typeface="Public Sans" pitchFamily="34" charset="-122"/>
                <a:cs typeface="Public Sans" pitchFamily="34" charset="-120"/>
              </a:rPr>
              <a:t>04</a:t>
            </a:r>
            <a:endParaRPr lang="en-US" sz="1000" dirty="0"/>
          </a:p>
        </p:txBody>
      </p:sp>
      <p:sp>
        <p:nvSpPr>
          <p:cNvPr id="5" name="Shape 1"/>
          <p:cNvSpPr/>
          <p:nvPr/>
        </p:nvSpPr>
        <p:spPr>
          <a:xfrm>
            <a:off x="10981356" y="6502400"/>
            <a:ext cx="1138110" cy="290314"/>
          </a:xfrm>
          <a:prstGeom prst="rect">
            <a:avLst/>
          </a:prstGeom>
          <a:solidFill>
            <a:srgbClr val="17211F"/>
          </a:solidFill>
          <a:ln w="12700">
            <a:solidFill>
              <a:srgbClr val="17211F"/>
            </a:solidFill>
            <a:prstDash val="solid"/>
          </a:ln>
        </p:spPr>
      </p:sp>
      <p:sp>
        <p:nvSpPr>
          <p:cNvPr id="6" name="Text 2"/>
          <p:cNvSpPr/>
          <p:nvPr/>
        </p:nvSpPr>
        <p:spPr>
          <a:xfrm>
            <a:off x="406390" y="508000"/>
            <a:ext cx="5168473" cy="167580"/>
          </a:xfrm>
          <a:prstGeom prst="rect">
            <a:avLst/>
          </a:prstGeom>
          <a:noFill/>
          <a:ln/>
        </p:spPr>
        <p:txBody>
          <a:bodyPr wrap="none" lIns="0" tIns="0" rIns="0" bIns="0" rtlCol="0" anchor="t"/>
          <a:lstStyle/>
          <a:p>
            <a:pPr marL="0" indent="0" algn="l">
              <a:lnSpc>
                <a:spcPct val="100000"/>
              </a:lnSpc>
              <a:buNone/>
            </a:pPr>
            <a:r>
              <a:rPr lang="en-US" sz="1100" kern="100" spc="110" dirty="0">
                <a:solidFill>
                  <a:srgbClr val="D99032"/>
                </a:solidFill>
                <a:latin typeface="Spline Sans Mono" pitchFamily="34" charset="0"/>
                <a:ea typeface="Spline Sans Mono" pitchFamily="34" charset="-122"/>
                <a:cs typeface="Spline Sans Mono" pitchFamily="34" charset="-120"/>
              </a:rPr>
              <a:t>WHERE IT FITS</a:t>
            </a:r>
            <a:endParaRPr lang="en-US" sz="1100" dirty="0"/>
          </a:p>
        </p:txBody>
      </p:sp>
      <p:sp>
        <p:nvSpPr>
          <p:cNvPr id="7" name="Text 3"/>
          <p:cNvSpPr/>
          <p:nvPr/>
        </p:nvSpPr>
        <p:spPr>
          <a:xfrm>
            <a:off x="406390" y="816848"/>
            <a:ext cx="3542914" cy="1942703"/>
          </a:xfrm>
          <a:prstGeom prst="rect">
            <a:avLst/>
          </a:prstGeom>
          <a:noFill/>
          <a:ln/>
        </p:spPr>
        <p:txBody>
          <a:bodyPr wrap="square" lIns="0" tIns="0" rIns="0" bIns="0" rtlCol="0" anchor="t">
            <a:normAutofit lnSpcReduction="10000"/>
          </a:bodyPr>
          <a:lstStyle/>
          <a:p>
            <a:pPr marL="0" indent="0" algn="l">
              <a:lnSpc>
                <a:spcPct val="75000"/>
              </a:lnSpc>
              <a:buNone/>
            </a:pPr>
            <a:r>
              <a:rPr lang="en-US" sz="3400" kern="100" spc="-34" dirty="0">
                <a:solidFill>
                  <a:srgbClr val="D99032"/>
                </a:solidFill>
                <a:latin typeface="Sora SemiBold" pitchFamily="34" charset="0"/>
                <a:ea typeface="Sora SemiBold" pitchFamily="34" charset="-122"/>
                <a:cs typeface="Sora SemiBold" pitchFamily="34" charset="-120"/>
              </a:rPr>
              <a:t>The same protection principle fits many motor-driven systems</a:t>
            </a:r>
            <a:endParaRPr lang="en-US" sz="3400" dirty="0"/>
          </a:p>
        </p:txBody>
      </p:sp>
      <p:sp>
        <p:nvSpPr>
          <p:cNvPr id="8" name="Shape 4"/>
          <p:cNvSpPr/>
          <p:nvPr/>
        </p:nvSpPr>
        <p:spPr>
          <a:xfrm>
            <a:off x="406390" y="3456781"/>
            <a:ext cx="150710" cy="38100"/>
          </a:xfrm>
          <a:prstGeom prst="roundRect">
            <a:avLst>
              <a:gd name="adj" fmla="val 49999"/>
            </a:avLst>
          </a:prstGeom>
          <a:solidFill>
            <a:srgbClr val="D99032"/>
          </a:solidFill>
          <a:ln/>
        </p:spPr>
      </p:sp>
      <p:sp>
        <p:nvSpPr>
          <p:cNvPr id="9" name="Text 5"/>
          <p:cNvSpPr/>
          <p:nvPr/>
        </p:nvSpPr>
        <p:spPr>
          <a:xfrm>
            <a:off x="406390" y="3741261"/>
            <a:ext cx="3542914" cy="939105"/>
          </a:xfrm>
          <a:prstGeom prst="rect">
            <a:avLst/>
          </a:prstGeom>
          <a:noFill/>
          <a:ln/>
        </p:spPr>
        <p:txBody>
          <a:bodyPr wrap="square" lIns="0" tIns="0" rIns="0" bIns="0" rtlCol="0" anchor="t">
            <a:normAutofit/>
          </a:bodyPr>
          <a:lstStyle/>
          <a:p>
            <a:pPr marL="0" indent="0" algn="l">
              <a:lnSpc>
                <a:spcPct val="121000"/>
              </a:lnSpc>
              <a:buNone/>
            </a:pPr>
            <a:r>
              <a:rPr lang="en-US" sz="1700" dirty="0">
                <a:solidFill>
                  <a:srgbClr val="D99032"/>
                </a:solidFill>
                <a:latin typeface="Public Sans" pitchFamily="34" charset="0"/>
                <a:ea typeface="Public Sans" pitchFamily="34" charset="-122"/>
                <a:cs typeface="Public Sans" pitchFamily="34" charset="-120"/>
              </a:rPr>
              <a:t>JamGuard demonstrates an adaptable principle, not an industrial deployment claim.</a:t>
            </a:r>
            <a:endParaRPr lang="en-US" sz="1700" dirty="0"/>
          </a:p>
        </p:txBody>
      </p:sp>
      <p:sp>
        <p:nvSpPr>
          <p:cNvPr id="10" name="Shape 6"/>
          <p:cNvSpPr/>
          <p:nvPr/>
        </p:nvSpPr>
        <p:spPr>
          <a:xfrm>
            <a:off x="4850882" y="355600"/>
            <a:ext cx="3403217" cy="2997200"/>
          </a:xfrm>
          <a:prstGeom prst="rect">
            <a:avLst/>
          </a:prstGeom>
          <a:solidFill>
            <a:srgbClr val="F3EBDD"/>
          </a:solidFill>
          <a:ln/>
        </p:spPr>
      </p:sp>
      <p:pic>
        <p:nvPicPr>
          <p:cNvPr id="11" name="Image 2" descr="preencoded.png"/>
          <p:cNvPicPr>
            <a:picLocks noChangeAspect="1"/>
          </p:cNvPicPr>
          <p:nvPr/>
        </p:nvPicPr>
        <p:blipFill>
          <a:blip r:embed="rId4"/>
          <a:stretch>
            <a:fillRect/>
          </a:stretch>
        </p:blipFill>
        <p:spPr>
          <a:xfrm>
            <a:off x="5167679" y="796627"/>
            <a:ext cx="2718724" cy="1368028"/>
          </a:xfrm>
          <a:prstGeom prst="rect">
            <a:avLst/>
          </a:prstGeom>
        </p:spPr>
      </p:pic>
      <p:sp>
        <p:nvSpPr>
          <p:cNvPr id="12" name="Text 7"/>
          <p:cNvSpPr/>
          <p:nvPr/>
        </p:nvSpPr>
        <p:spPr>
          <a:xfrm>
            <a:off x="5460467" y="2530733"/>
            <a:ext cx="3289019" cy="243780"/>
          </a:xfrm>
          <a:prstGeom prst="rect">
            <a:avLst/>
          </a:prstGeom>
          <a:noFill/>
          <a:ln/>
        </p:spPr>
        <p:txBody>
          <a:bodyPr wrap="none" lIns="0" tIns="0" rIns="0" bIns="0" rtlCol="0" anchor="t"/>
          <a:lstStyle/>
          <a:p>
            <a:pPr marL="0" indent="0" algn="l">
              <a:lnSpc>
                <a:spcPct val="100000"/>
              </a:lnSpc>
              <a:buNone/>
            </a:pPr>
            <a:r>
              <a:rPr lang="en-US" sz="1600" dirty="0">
                <a:solidFill>
                  <a:srgbClr val="815318"/>
                </a:solidFill>
                <a:latin typeface="Public Sans SemiBold" pitchFamily="34" charset="0"/>
                <a:ea typeface="Public Sans SemiBold" pitchFamily="34" charset="-122"/>
                <a:cs typeface="Public Sans SemiBold" pitchFamily="34" charset="-120"/>
              </a:rPr>
              <a:t>Conveyor belts</a:t>
            </a:r>
            <a:endParaRPr lang="en-US" sz="1600" dirty="0"/>
          </a:p>
        </p:txBody>
      </p:sp>
      <p:sp>
        <p:nvSpPr>
          <p:cNvPr id="13" name="Shape 8"/>
          <p:cNvSpPr/>
          <p:nvPr/>
        </p:nvSpPr>
        <p:spPr>
          <a:xfrm>
            <a:off x="8406594" y="355600"/>
            <a:ext cx="3403217" cy="2997200"/>
          </a:xfrm>
          <a:prstGeom prst="rect">
            <a:avLst/>
          </a:prstGeom>
          <a:solidFill>
            <a:srgbClr val="F3EBDD"/>
          </a:solidFill>
          <a:ln/>
        </p:spPr>
      </p:sp>
      <p:pic>
        <p:nvPicPr>
          <p:cNvPr id="14" name="Image 3" descr="preencoded.png"/>
          <p:cNvPicPr>
            <a:picLocks noChangeAspect="1"/>
          </p:cNvPicPr>
          <p:nvPr/>
        </p:nvPicPr>
        <p:blipFill>
          <a:blip r:embed="rId5"/>
          <a:stretch>
            <a:fillRect/>
          </a:stretch>
        </p:blipFill>
        <p:spPr>
          <a:xfrm>
            <a:off x="8789172" y="815578"/>
            <a:ext cx="2681022" cy="1349077"/>
          </a:xfrm>
          <a:prstGeom prst="rect">
            <a:avLst/>
          </a:prstGeom>
        </p:spPr>
      </p:pic>
      <p:sp>
        <p:nvSpPr>
          <p:cNvPr id="15" name="Text 9"/>
          <p:cNvSpPr/>
          <p:nvPr/>
        </p:nvSpPr>
        <p:spPr>
          <a:xfrm>
            <a:off x="9016179" y="2530733"/>
            <a:ext cx="3175516" cy="243780"/>
          </a:xfrm>
          <a:prstGeom prst="rect">
            <a:avLst/>
          </a:prstGeom>
          <a:noFill/>
          <a:ln/>
        </p:spPr>
        <p:txBody>
          <a:bodyPr wrap="none" lIns="0" tIns="0" rIns="0" bIns="0" rtlCol="0" anchor="t"/>
          <a:lstStyle/>
          <a:p>
            <a:pPr marL="0" indent="0" algn="l">
              <a:lnSpc>
                <a:spcPct val="100000"/>
              </a:lnSpc>
              <a:buNone/>
            </a:pPr>
            <a:r>
              <a:rPr lang="en-US" sz="1600" dirty="0">
                <a:solidFill>
                  <a:srgbClr val="815318"/>
                </a:solidFill>
                <a:latin typeface="Public Sans SemiBold" pitchFamily="34" charset="0"/>
                <a:ea typeface="Public Sans SemiBold" pitchFamily="34" charset="-122"/>
                <a:cs typeface="Public Sans SemiBold" pitchFamily="34" charset="-120"/>
              </a:rPr>
              <a:t>Packaging machines</a:t>
            </a:r>
            <a:endParaRPr lang="en-US" sz="1600" dirty="0"/>
          </a:p>
        </p:txBody>
      </p:sp>
      <p:sp>
        <p:nvSpPr>
          <p:cNvPr id="16" name="Shape 10"/>
          <p:cNvSpPr/>
          <p:nvPr/>
        </p:nvSpPr>
        <p:spPr>
          <a:xfrm>
            <a:off x="4850882" y="3505200"/>
            <a:ext cx="3403217" cy="2997200"/>
          </a:xfrm>
          <a:prstGeom prst="rect">
            <a:avLst/>
          </a:prstGeom>
          <a:solidFill>
            <a:srgbClr val="F3EBDD"/>
          </a:solidFill>
          <a:ln/>
        </p:spPr>
      </p:sp>
      <p:pic>
        <p:nvPicPr>
          <p:cNvPr id="17" name="Image 4" descr="preencoded.png"/>
          <p:cNvPicPr>
            <a:picLocks noChangeAspect="1"/>
          </p:cNvPicPr>
          <p:nvPr/>
        </p:nvPicPr>
        <p:blipFill>
          <a:blip r:embed="rId6"/>
          <a:stretch>
            <a:fillRect/>
          </a:stretch>
        </p:blipFill>
        <p:spPr>
          <a:xfrm>
            <a:off x="5193079" y="3872210"/>
            <a:ext cx="2718724" cy="1231602"/>
          </a:xfrm>
          <a:prstGeom prst="rect">
            <a:avLst/>
          </a:prstGeom>
        </p:spPr>
      </p:pic>
      <p:sp>
        <p:nvSpPr>
          <p:cNvPr id="18" name="Text 11"/>
          <p:cNvSpPr/>
          <p:nvPr/>
        </p:nvSpPr>
        <p:spPr>
          <a:xfrm>
            <a:off x="5460467" y="5393853"/>
            <a:ext cx="2070048" cy="394097"/>
          </a:xfrm>
          <a:prstGeom prst="rect">
            <a:avLst/>
          </a:prstGeom>
          <a:noFill/>
          <a:ln/>
        </p:spPr>
        <p:txBody>
          <a:bodyPr wrap="square" lIns="0" tIns="0" rIns="0" bIns="0" rtlCol="0" anchor="t">
            <a:normAutofit lnSpcReduction="10000"/>
          </a:bodyPr>
          <a:lstStyle/>
          <a:p>
            <a:pPr marL="0" indent="0" algn="l">
              <a:lnSpc>
                <a:spcPct val="81000"/>
              </a:lnSpc>
              <a:buNone/>
            </a:pPr>
            <a:r>
              <a:rPr lang="en-US" sz="1600" dirty="0">
                <a:solidFill>
                  <a:srgbClr val="815318"/>
                </a:solidFill>
                <a:latin typeface="Public Sans SemiBold" pitchFamily="34" charset="0"/>
                <a:ea typeface="Public Sans SemiBold" pitchFamily="34" charset="-122"/>
                <a:cs typeface="Public Sans SemiBold" pitchFamily="34" charset="-120"/>
              </a:rPr>
              <a:t>Robotics and automated gates</a:t>
            </a:r>
            <a:endParaRPr lang="en-US" sz="1600" dirty="0"/>
          </a:p>
        </p:txBody>
      </p:sp>
      <p:sp>
        <p:nvSpPr>
          <p:cNvPr id="19" name="Shape 12"/>
          <p:cNvSpPr/>
          <p:nvPr/>
        </p:nvSpPr>
        <p:spPr>
          <a:xfrm>
            <a:off x="8406594" y="3505200"/>
            <a:ext cx="3403217" cy="2997200"/>
          </a:xfrm>
          <a:prstGeom prst="rect">
            <a:avLst/>
          </a:prstGeom>
          <a:solidFill>
            <a:srgbClr val="F3EBDD"/>
          </a:solidFill>
          <a:ln/>
        </p:spPr>
      </p:sp>
      <p:pic>
        <p:nvPicPr>
          <p:cNvPr id="20" name="Image 5" descr="preencoded.png"/>
          <p:cNvPicPr>
            <a:picLocks noChangeAspect="1"/>
          </p:cNvPicPr>
          <p:nvPr/>
        </p:nvPicPr>
        <p:blipFill>
          <a:blip r:embed="rId7"/>
          <a:stretch>
            <a:fillRect/>
          </a:stretch>
        </p:blipFill>
        <p:spPr>
          <a:xfrm>
            <a:off x="8808321" y="3872210"/>
            <a:ext cx="2661774" cy="1231007"/>
          </a:xfrm>
          <a:prstGeom prst="rect">
            <a:avLst/>
          </a:prstGeom>
        </p:spPr>
      </p:pic>
      <p:sp>
        <p:nvSpPr>
          <p:cNvPr id="21" name="Text 13"/>
          <p:cNvSpPr/>
          <p:nvPr/>
        </p:nvSpPr>
        <p:spPr>
          <a:xfrm>
            <a:off x="9016179" y="5393853"/>
            <a:ext cx="2070048" cy="394097"/>
          </a:xfrm>
          <a:prstGeom prst="rect">
            <a:avLst/>
          </a:prstGeom>
          <a:noFill/>
          <a:ln/>
        </p:spPr>
        <p:txBody>
          <a:bodyPr wrap="square" lIns="0" tIns="0" rIns="0" bIns="0" rtlCol="0" anchor="t">
            <a:normAutofit lnSpcReduction="10000"/>
          </a:bodyPr>
          <a:lstStyle/>
          <a:p>
            <a:pPr marL="0" indent="0" algn="l">
              <a:lnSpc>
                <a:spcPct val="81000"/>
              </a:lnSpc>
              <a:buNone/>
            </a:pPr>
            <a:r>
              <a:rPr lang="en-US" sz="1600" dirty="0">
                <a:solidFill>
                  <a:srgbClr val="815318"/>
                </a:solidFill>
                <a:latin typeface="Public Sans SemiBold" pitchFamily="34" charset="0"/>
                <a:ea typeface="Public Sans SemiBold" pitchFamily="34" charset="-122"/>
                <a:cs typeface="Public Sans SemiBold" pitchFamily="34" charset="-120"/>
              </a:rPr>
              <a:t>Small manufacturing systems</a:t>
            </a:r>
            <a:endParaRPr lang="en-US" sz="16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1076504" y="6558955"/>
            <a:ext cx="1071833" cy="255984"/>
          </a:xfrm>
          <a:prstGeom prst="rect">
            <a:avLst/>
          </a:prstGeom>
        </p:spPr>
      </p:pic>
      <p:pic>
        <p:nvPicPr>
          <p:cNvPr id="3" name="Image 1" descr="preencoded.png"/>
          <p:cNvPicPr>
            <a:picLocks noChangeAspect="1"/>
          </p:cNvPicPr>
          <p:nvPr/>
        </p:nvPicPr>
        <p:blipFill>
          <a:blip r:embed="rId4"/>
          <a:stretch>
            <a:fillRect/>
          </a:stretch>
        </p:blipFill>
        <p:spPr>
          <a:xfrm>
            <a:off x="11076206" y="6558855"/>
            <a:ext cx="1071833" cy="255984"/>
          </a:xfrm>
          <a:prstGeom prst="rect">
            <a:avLst/>
          </a:prstGeom>
        </p:spPr>
      </p:pic>
      <p:sp>
        <p:nvSpPr>
          <p:cNvPr id="4" name="Shape 0"/>
          <p:cNvSpPr/>
          <p:nvPr/>
        </p:nvSpPr>
        <p:spPr>
          <a:xfrm>
            <a:off x="10934724" y="6461125"/>
            <a:ext cx="1184841" cy="312738"/>
          </a:xfrm>
          <a:prstGeom prst="rect">
            <a:avLst/>
          </a:prstGeom>
          <a:solidFill>
            <a:srgbClr val="17211F"/>
          </a:solidFill>
          <a:ln w="12700">
            <a:solidFill>
              <a:srgbClr val="17211F"/>
            </a:solidFill>
            <a:prstDash val="solid"/>
          </a:ln>
        </p:spPr>
      </p:sp>
      <p:sp>
        <p:nvSpPr>
          <p:cNvPr id="5" name="Text 1"/>
          <p:cNvSpPr/>
          <p:nvPr/>
        </p:nvSpPr>
        <p:spPr>
          <a:xfrm>
            <a:off x="355591" y="355600"/>
            <a:ext cx="4812882" cy="167580"/>
          </a:xfrm>
          <a:prstGeom prst="rect">
            <a:avLst/>
          </a:prstGeom>
          <a:noFill/>
          <a:ln/>
        </p:spPr>
        <p:txBody>
          <a:bodyPr wrap="none" lIns="0" tIns="0" rIns="0" bIns="0" rtlCol="0" anchor="t"/>
          <a:lstStyle/>
          <a:p>
            <a:pPr marL="0" indent="0" algn="l">
              <a:lnSpc>
                <a:spcPct val="100000"/>
              </a:lnSpc>
              <a:buNone/>
            </a:pPr>
            <a:r>
              <a:rPr lang="en-US" sz="1100" kern="100" spc="110" dirty="0">
                <a:solidFill>
                  <a:srgbClr val="D99032"/>
                </a:solidFill>
                <a:latin typeface="Spline Sans Mono" pitchFamily="34" charset="0"/>
                <a:ea typeface="Spline Sans Mono" pitchFamily="34" charset="-122"/>
                <a:cs typeface="Spline Sans Mono" pitchFamily="34" charset="-120"/>
              </a:rPr>
              <a:t>THE PROTOTYPE STACK</a:t>
            </a:r>
            <a:endParaRPr lang="en-US" sz="1100" dirty="0"/>
          </a:p>
        </p:txBody>
      </p:sp>
      <p:sp>
        <p:nvSpPr>
          <p:cNvPr id="6" name="Text 2"/>
          <p:cNvSpPr/>
          <p:nvPr/>
        </p:nvSpPr>
        <p:spPr>
          <a:xfrm>
            <a:off x="355591" y="664448"/>
            <a:ext cx="3238121" cy="1554163"/>
          </a:xfrm>
          <a:prstGeom prst="rect">
            <a:avLst/>
          </a:prstGeom>
          <a:noFill/>
          <a:ln/>
        </p:spPr>
        <p:txBody>
          <a:bodyPr wrap="square" lIns="0" tIns="0" rIns="0" bIns="0" rtlCol="0" anchor="t">
            <a:normAutofit lnSpcReduction="10000"/>
          </a:bodyPr>
          <a:lstStyle/>
          <a:p>
            <a:pPr marL="0" indent="0" algn="l">
              <a:lnSpc>
                <a:spcPct val="75000"/>
              </a:lnSpc>
              <a:buNone/>
            </a:pPr>
            <a:r>
              <a:rPr lang="en-US" sz="3400" kern="100" spc="-34" dirty="0">
                <a:solidFill>
                  <a:srgbClr val="D99032"/>
                </a:solidFill>
                <a:latin typeface="Sora SemiBold" pitchFamily="34" charset="0"/>
                <a:ea typeface="Sora SemiBold" pitchFamily="34" charset="-122"/>
                <a:cs typeface="Sora SemiBold" pitchFamily="34" charset="-120"/>
              </a:rPr>
              <a:t>Each component has one clear job</a:t>
            </a:r>
            <a:endParaRPr lang="en-US" sz="3400" dirty="0"/>
          </a:p>
        </p:txBody>
      </p:sp>
      <p:pic>
        <p:nvPicPr>
          <p:cNvPr id="7" name="Image 2" descr="preencoded.png"/>
          <p:cNvPicPr>
            <a:picLocks noChangeAspect="1"/>
          </p:cNvPicPr>
          <p:nvPr/>
        </p:nvPicPr>
        <p:blipFill>
          <a:blip r:embed="rId5"/>
          <a:stretch>
            <a:fillRect/>
          </a:stretch>
        </p:blipFill>
        <p:spPr>
          <a:xfrm>
            <a:off x="355591" y="2753221"/>
            <a:ext cx="3047626" cy="1727200"/>
          </a:xfrm>
          <a:prstGeom prst="rect">
            <a:avLst/>
          </a:prstGeom>
        </p:spPr>
      </p:pic>
      <p:pic>
        <p:nvPicPr>
          <p:cNvPr id="8" name="Image 3" descr="preencoded.png"/>
          <p:cNvPicPr>
            <a:picLocks noChangeAspect="1"/>
          </p:cNvPicPr>
          <p:nvPr/>
        </p:nvPicPr>
        <p:blipFill>
          <a:blip r:embed="rId6"/>
          <a:stretch>
            <a:fillRect/>
          </a:stretch>
        </p:blipFill>
        <p:spPr>
          <a:xfrm>
            <a:off x="5028677" y="965200"/>
            <a:ext cx="406390" cy="406400"/>
          </a:xfrm>
          <a:prstGeom prst="rect">
            <a:avLst/>
          </a:prstGeom>
        </p:spPr>
      </p:pic>
      <p:sp>
        <p:nvSpPr>
          <p:cNvPr id="9" name="Text 3"/>
          <p:cNvSpPr/>
          <p:nvPr/>
        </p:nvSpPr>
        <p:spPr>
          <a:xfrm>
            <a:off x="5028677" y="1631613"/>
            <a:ext cx="3441415" cy="243780"/>
          </a:xfrm>
          <a:prstGeom prst="rect">
            <a:avLst/>
          </a:prstGeom>
          <a:noFill/>
          <a:ln/>
        </p:spPr>
        <p:txBody>
          <a:bodyPr wrap="none" lIns="0" tIns="0" rIns="0" bIns="0" rtlCol="0" anchor="t"/>
          <a:lstStyle/>
          <a:p>
            <a:pPr marL="0" indent="0" algn="l">
              <a:lnSpc>
                <a:spcPct val="100000"/>
              </a:lnSpc>
              <a:buNone/>
            </a:pPr>
            <a:r>
              <a:rPr lang="en-US" sz="1600" dirty="0">
                <a:solidFill>
                  <a:srgbClr val="547871"/>
                </a:solidFill>
                <a:latin typeface="Public Sans SemiBold" pitchFamily="34" charset="0"/>
                <a:ea typeface="Public Sans SemiBold" pitchFamily="34" charset="-122"/>
                <a:cs typeface="Public Sans SemiBold" pitchFamily="34" charset="-120"/>
              </a:rPr>
              <a:t>Arduino Uno</a:t>
            </a:r>
            <a:endParaRPr lang="en-US" sz="1600" dirty="0"/>
          </a:p>
        </p:txBody>
      </p:sp>
      <p:sp>
        <p:nvSpPr>
          <p:cNvPr id="10" name="Text 4"/>
          <p:cNvSpPr/>
          <p:nvPr/>
        </p:nvSpPr>
        <p:spPr>
          <a:xfrm>
            <a:off x="5028677" y="1989534"/>
            <a:ext cx="2222444" cy="883741"/>
          </a:xfrm>
          <a:prstGeom prst="rect">
            <a:avLst/>
          </a:prstGeom>
          <a:noFill/>
          <a:ln/>
        </p:spPr>
        <p:txBody>
          <a:bodyPr wrap="square" lIns="0" tIns="0" rIns="0" bIns="0" rtlCol="0" anchor="t">
            <a:normAutofit/>
          </a:bodyPr>
          <a:lstStyle/>
          <a:p>
            <a:pPr marL="0" indent="0" algn="l">
              <a:lnSpc>
                <a:spcPct val="121000"/>
              </a:lnSpc>
              <a:buNone/>
            </a:pPr>
            <a:r>
              <a:rPr lang="en-US" sz="1600" dirty="0">
                <a:solidFill>
                  <a:srgbClr val="87ABA4"/>
                </a:solidFill>
                <a:latin typeface="Public Sans" pitchFamily="34" charset="0"/>
                <a:ea typeface="Public Sans" pitchFamily="34" charset="-122"/>
                <a:cs typeface="Public Sans" pitchFamily="34" charset="-120"/>
              </a:rPr>
              <a:t>Sensing, RPM calculation, control logic.</a:t>
            </a:r>
            <a:endParaRPr lang="en-US" sz="1600" dirty="0"/>
          </a:p>
        </p:txBody>
      </p:sp>
      <p:pic>
        <p:nvPicPr>
          <p:cNvPr id="11" name="Image 4" descr="preencoded.png"/>
          <p:cNvPicPr>
            <a:picLocks noChangeAspect="1"/>
          </p:cNvPicPr>
          <p:nvPr/>
        </p:nvPicPr>
        <p:blipFill>
          <a:blip r:embed="rId7"/>
          <a:stretch>
            <a:fillRect/>
          </a:stretch>
        </p:blipFill>
        <p:spPr>
          <a:xfrm>
            <a:off x="5028677" y="3140273"/>
            <a:ext cx="406390" cy="406400"/>
          </a:xfrm>
          <a:prstGeom prst="rect">
            <a:avLst/>
          </a:prstGeom>
        </p:spPr>
      </p:pic>
      <p:sp>
        <p:nvSpPr>
          <p:cNvPr id="12" name="Text 5"/>
          <p:cNvSpPr/>
          <p:nvPr/>
        </p:nvSpPr>
        <p:spPr>
          <a:xfrm>
            <a:off x="5028677" y="3684810"/>
            <a:ext cx="882628" cy="788194"/>
          </a:xfrm>
          <a:prstGeom prst="rect">
            <a:avLst/>
          </a:prstGeom>
          <a:noFill/>
          <a:ln/>
        </p:spPr>
        <p:txBody>
          <a:bodyPr wrap="square" lIns="0" tIns="0" rIns="0" bIns="0" rtlCol="0" anchor="t">
            <a:normAutofit lnSpcReduction="10000"/>
          </a:bodyPr>
          <a:lstStyle/>
          <a:p>
            <a:pPr marL="0" indent="0" algn="l">
              <a:lnSpc>
                <a:spcPct val="81000"/>
              </a:lnSpc>
              <a:buNone/>
            </a:pPr>
            <a:r>
              <a:rPr lang="en-US" sz="1600" dirty="0">
                <a:solidFill>
                  <a:srgbClr val="547871"/>
                </a:solidFill>
                <a:latin typeface="Public Sans SemiBold" pitchFamily="34" charset="0"/>
                <a:ea typeface="Public Sans SemiBold" pitchFamily="34" charset="-122"/>
                <a:cs typeface="Public Sans SemiBold" pitchFamily="34" charset="-120"/>
              </a:rPr>
              <a:t>Hall sensor + 5 mm magnet</a:t>
            </a:r>
            <a:endParaRPr lang="en-US" sz="1600" dirty="0"/>
          </a:p>
        </p:txBody>
      </p:sp>
      <p:sp>
        <p:nvSpPr>
          <p:cNvPr id="13" name="Text 6"/>
          <p:cNvSpPr/>
          <p:nvPr/>
        </p:nvSpPr>
        <p:spPr>
          <a:xfrm>
            <a:off x="5028677" y="4822627"/>
            <a:ext cx="939776" cy="828675"/>
          </a:xfrm>
          <a:prstGeom prst="rect">
            <a:avLst/>
          </a:prstGeom>
          <a:noFill/>
          <a:ln/>
        </p:spPr>
        <p:txBody>
          <a:bodyPr wrap="square" lIns="0" tIns="0" rIns="0" bIns="0" rtlCol="0" anchor="t">
            <a:normAutofit/>
          </a:bodyPr>
          <a:lstStyle/>
          <a:p>
            <a:pPr marL="0" indent="0" algn="l">
              <a:lnSpc>
                <a:spcPct val="121000"/>
              </a:lnSpc>
              <a:buNone/>
            </a:pPr>
            <a:r>
              <a:rPr lang="en-US" sz="1500" dirty="0">
                <a:solidFill>
                  <a:srgbClr val="87ABA4"/>
                </a:solidFill>
                <a:latin typeface="Public Sans" pitchFamily="34" charset="0"/>
                <a:ea typeface="Public Sans" pitchFamily="34" charset="-122"/>
                <a:cs typeface="Public Sans" pitchFamily="34" charset="-120"/>
              </a:rPr>
              <a:t>Rotation pulse detection.</a:t>
            </a:r>
            <a:endParaRPr lang="en-US" sz="1500" dirty="0"/>
          </a:p>
        </p:txBody>
      </p:sp>
      <p:pic>
        <p:nvPicPr>
          <p:cNvPr id="14" name="Image 5" descr="preencoded.png"/>
          <p:cNvPicPr>
            <a:picLocks noChangeAspect="1"/>
          </p:cNvPicPr>
          <p:nvPr/>
        </p:nvPicPr>
        <p:blipFill>
          <a:blip r:embed="rId8"/>
          <a:stretch>
            <a:fillRect/>
          </a:stretch>
        </p:blipFill>
        <p:spPr>
          <a:xfrm>
            <a:off x="6425642" y="3140273"/>
            <a:ext cx="406390" cy="406400"/>
          </a:xfrm>
          <a:prstGeom prst="rect">
            <a:avLst/>
          </a:prstGeom>
        </p:spPr>
      </p:pic>
      <p:sp>
        <p:nvSpPr>
          <p:cNvPr id="15" name="Text 7"/>
          <p:cNvSpPr/>
          <p:nvPr/>
        </p:nvSpPr>
        <p:spPr>
          <a:xfrm>
            <a:off x="6425642" y="3684810"/>
            <a:ext cx="825479" cy="985242"/>
          </a:xfrm>
          <a:prstGeom prst="rect">
            <a:avLst/>
          </a:prstGeom>
          <a:noFill/>
          <a:ln/>
        </p:spPr>
        <p:txBody>
          <a:bodyPr wrap="square" lIns="0" tIns="0" rIns="0" bIns="0" rtlCol="0" anchor="t">
            <a:normAutofit lnSpcReduction="10000"/>
          </a:bodyPr>
          <a:lstStyle/>
          <a:p>
            <a:pPr marL="0" indent="0" algn="l">
              <a:lnSpc>
                <a:spcPct val="81000"/>
              </a:lnSpc>
              <a:buNone/>
            </a:pPr>
            <a:r>
              <a:rPr lang="en-US" sz="1600" dirty="0">
                <a:solidFill>
                  <a:srgbClr val="547871"/>
                </a:solidFill>
                <a:latin typeface="Public Sans SemiBold" pitchFamily="34" charset="0"/>
                <a:ea typeface="Public Sans SemiBold" pitchFamily="34" charset="-122"/>
                <a:cs typeface="Public Sans SemiBold" pitchFamily="34" charset="-120"/>
              </a:rPr>
              <a:t>LED, buzzer, resistor, reset button</a:t>
            </a:r>
            <a:endParaRPr lang="en-US" sz="1600" dirty="0"/>
          </a:p>
        </p:txBody>
      </p:sp>
      <p:sp>
        <p:nvSpPr>
          <p:cNvPr id="16" name="Text 8"/>
          <p:cNvSpPr/>
          <p:nvPr/>
        </p:nvSpPr>
        <p:spPr>
          <a:xfrm>
            <a:off x="6425642" y="5060355"/>
            <a:ext cx="825479" cy="1178322"/>
          </a:xfrm>
          <a:prstGeom prst="rect">
            <a:avLst/>
          </a:prstGeom>
          <a:noFill/>
          <a:ln/>
        </p:spPr>
        <p:txBody>
          <a:bodyPr wrap="square" lIns="0" tIns="0" rIns="0" bIns="0" rtlCol="0" anchor="t">
            <a:normAutofit/>
          </a:bodyPr>
          <a:lstStyle/>
          <a:p>
            <a:pPr marL="0" indent="0" algn="l">
              <a:lnSpc>
                <a:spcPct val="121000"/>
              </a:lnSpc>
              <a:buNone/>
            </a:pPr>
            <a:r>
              <a:rPr lang="en-US" sz="1600" dirty="0">
                <a:solidFill>
                  <a:srgbClr val="87ABA4"/>
                </a:solidFill>
                <a:latin typeface="Public Sans" pitchFamily="34" charset="0"/>
                <a:ea typeface="Public Sans" pitchFamily="34" charset="-122"/>
                <a:cs typeface="Public Sans" pitchFamily="34" charset="-120"/>
              </a:rPr>
              <a:t>Alerts and manual restart.</a:t>
            </a:r>
            <a:endParaRPr lang="en-US" sz="1600" dirty="0"/>
          </a:p>
        </p:txBody>
      </p:sp>
      <p:pic>
        <p:nvPicPr>
          <p:cNvPr id="17" name="Image 6" descr="preencoded.png"/>
          <p:cNvPicPr>
            <a:picLocks noChangeAspect="1"/>
          </p:cNvPicPr>
          <p:nvPr/>
        </p:nvPicPr>
        <p:blipFill>
          <a:blip r:embed="rId9"/>
          <a:stretch>
            <a:fillRect/>
          </a:stretch>
        </p:blipFill>
        <p:spPr>
          <a:xfrm>
            <a:off x="8889182" y="965200"/>
            <a:ext cx="406390" cy="324941"/>
          </a:xfrm>
          <a:prstGeom prst="rect">
            <a:avLst/>
          </a:prstGeom>
        </p:spPr>
      </p:pic>
      <p:sp>
        <p:nvSpPr>
          <p:cNvPr id="18" name="Text 9"/>
          <p:cNvSpPr/>
          <p:nvPr/>
        </p:nvSpPr>
        <p:spPr>
          <a:xfrm>
            <a:off x="8889182" y="1550154"/>
            <a:ext cx="3302513" cy="243780"/>
          </a:xfrm>
          <a:prstGeom prst="rect">
            <a:avLst/>
          </a:prstGeom>
          <a:noFill/>
          <a:ln/>
        </p:spPr>
        <p:txBody>
          <a:bodyPr wrap="none" lIns="0" tIns="0" rIns="0" bIns="0" rtlCol="0" anchor="t"/>
          <a:lstStyle/>
          <a:p>
            <a:pPr marL="0" indent="0" algn="l">
              <a:lnSpc>
                <a:spcPct val="100000"/>
              </a:lnSpc>
              <a:buNone/>
            </a:pPr>
            <a:r>
              <a:rPr lang="en-US" sz="1600" dirty="0">
                <a:solidFill>
                  <a:srgbClr val="547871"/>
                </a:solidFill>
                <a:latin typeface="Public Sans SemiBold" pitchFamily="34" charset="0"/>
                <a:ea typeface="Public Sans SemiBold" pitchFamily="34" charset="-122"/>
                <a:cs typeface="Public Sans SemiBold" pitchFamily="34" charset="-120"/>
              </a:rPr>
              <a:t>ESP32</a:t>
            </a:r>
            <a:endParaRPr lang="en-US" sz="1600" dirty="0"/>
          </a:p>
        </p:txBody>
      </p:sp>
      <p:sp>
        <p:nvSpPr>
          <p:cNvPr id="19" name="Text 10"/>
          <p:cNvSpPr/>
          <p:nvPr/>
        </p:nvSpPr>
        <p:spPr>
          <a:xfrm>
            <a:off x="8889182" y="1908175"/>
            <a:ext cx="2336742" cy="589161"/>
          </a:xfrm>
          <a:prstGeom prst="rect">
            <a:avLst/>
          </a:prstGeom>
          <a:noFill/>
          <a:ln/>
        </p:spPr>
        <p:txBody>
          <a:bodyPr wrap="square" lIns="0" tIns="0" rIns="0" bIns="0" rtlCol="0" anchor="t">
            <a:normAutofit/>
          </a:bodyPr>
          <a:lstStyle/>
          <a:p>
            <a:pPr marL="0" indent="0" algn="l">
              <a:lnSpc>
                <a:spcPct val="121000"/>
              </a:lnSpc>
              <a:buNone/>
            </a:pPr>
            <a:r>
              <a:rPr lang="en-US" sz="1600" dirty="0">
                <a:solidFill>
                  <a:srgbClr val="87ABA4"/>
                </a:solidFill>
                <a:latin typeface="Public Sans" pitchFamily="34" charset="0"/>
                <a:ea typeface="Public Sans" pitchFamily="34" charset="-122"/>
                <a:cs typeface="Public Sans" pitchFamily="34" charset="-120"/>
              </a:rPr>
              <a:t>Serial data, Wi-Fi access point, local webpage.</a:t>
            </a:r>
            <a:endParaRPr lang="en-US" sz="1600" dirty="0"/>
          </a:p>
        </p:txBody>
      </p:sp>
      <p:pic>
        <p:nvPicPr>
          <p:cNvPr id="20" name="Image 7" descr="preencoded.png"/>
          <p:cNvPicPr>
            <a:picLocks noChangeAspect="1"/>
          </p:cNvPicPr>
          <p:nvPr/>
        </p:nvPicPr>
        <p:blipFill>
          <a:blip r:embed="rId10"/>
          <a:stretch>
            <a:fillRect/>
          </a:stretch>
        </p:blipFill>
        <p:spPr>
          <a:xfrm>
            <a:off x="8889182" y="2764532"/>
            <a:ext cx="406390" cy="406400"/>
          </a:xfrm>
          <a:prstGeom prst="rect">
            <a:avLst/>
          </a:prstGeom>
        </p:spPr>
      </p:pic>
      <p:sp>
        <p:nvSpPr>
          <p:cNvPr id="21" name="Text 11"/>
          <p:cNvSpPr/>
          <p:nvPr/>
        </p:nvSpPr>
        <p:spPr>
          <a:xfrm>
            <a:off x="8889182" y="3308771"/>
            <a:ext cx="939776" cy="394097"/>
          </a:xfrm>
          <a:prstGeom prst="rect">
            <a:avLst/>
          </a:prstGeom>
          <a:noFill/>
          <a:ln/>
        </p:spPr>
        <p:txBody>
          <a:bodyPr wrap="square" lIns="0" tIns="0" rIns="0" bIns="0" rtlCol="0" anchor="t">
            <a:normAutofit lnSpcReduction="10000"/>
          </a:bodyPr>
          <a:lstStyle/>
          <a:p>
            <a:pPr marL="0" indent="0" algn="l">
              <a:lnSpc>
                <a:spcPct val="81000"/>
              </a:lnSpc>
              <a:buNone/>
            </a:pPr>
            <a:r>
              <a:rPr lang="en-US" sz="1600" dirty="0">
                <a:solidFill>
                  <a:srgbClr val="547871"/>
                </a:solidFill>
                <a:latin typeface="Public Sans SemiBold" pitchFamily="34" charset="0"/>
                <a:ea typeface="Public Sans SemiBold" pitchFamily="34" charset="-122"/>
                <a:cs typeface="Public Sans SemiBold" pitchFamily="34" charset="-120"/>
              </a:rPr>
              <a:t>DC motor + L298N</a:t>
            </a:r>
            <a:endParaRPr lang="en-US" sz="1600" dirty="0"/>
          </a:p>
        </p:txBody>
      </p:sp>
      <p:sp>
        <p:nvSpPr>
          <p:cNvPr id="22" name="Text 12"/>
          <p:cNvSpPr/>
          <p:nvPr/>
        </p:nvSpPr>
        <p:spPr>
          <a:xfrm>
            <a:off x="8889182" y="3953173"/>
            <a:ext cx="939776" cy="1472902"/>
          </a:xfrm>
          <a:prstGeom prst="rect">
            <a:avLst/>
          </a:prstGeom>
          <a:noFill/>
          <a:ln/>
        </p:spPr>
        <p:txBody>
          <a:bodyPr wrap="square" lIns="0" tIns="0" rIns="0" bIns="0" rtlCol="0" anchor="t">
            <a:normAutofit/>
          </a:bodyPr>
          <a:lstStyle/>
          <a:p>
            <a:pPr marL="0" indent="0" algn="l">
              <a:lnSpc>
                <a:spcPct val="121000"/>
              </a:lnSpc>
              <a:buNone/>
            </a:pPr>
            <a:r>
              <a:rPr lang="en-US" sz="1600" dirty="0">
                <a:solidFill>
                  <a:srgbClr val="87ABA4"/>
                </a:solidFill>
                <a:latin typeface="Public Sans" pitchFamily="34" charset="0"/>
                <a:ea typeface="Public Sans" pitchFamily="34" charset="-122"/>
                <a:cs typeface="Public Sans" pitchFamily="34" charset="-120"/>
              </a:rPr>
              <a:t>Monitored motor and driver stage.</a:t>
            </a:r>
            <a:endParaRPr lang="en-US" sz="1600" dirty="0"/>
          </a:p>
        </p:txBody>
      </p:sp>
      <p:pic>
        <p:nvPicPr>
          <p:cNvPr id="23" name="Image 8" descr="preencoded.png"/>
          <p:cNvPicPr>
            <a:picLocks noChangeAspect="1"/>
          </p:cNvPicPr>
          <p:nvPr/>
        </p:nvPicPr>
        <p:blipFill>
          <a:blip r:embed="rId11"/>
          <a:stretch>
            <a:fillRect/>
          </a:stretch>
        </p:blipFill>
        <p:spPr>
          <a:xfrm>
            <a:off x="10286147" y="2764532"/>
            <a:ext cx="406390" cy="406400"/>
          </a:xfrm>
          <a:prstGeom prst="rect">
            <a:avLst/>
          </a:prstGeom>
        </p:spPr>
      </p:pic>
      <p:sp>
        <p:nvSpPr>
          <p:cNvPr id="24" name="Text 13"/>
          <p:cNvSpPr/>
          <p:nvPr/>
        </p:nvSpPr>
        <p:spPr>
          <a:xfrm>
            <a:off x="10286147" y="3308771"/>
            <a:ext cx="939776" cy="1182291"/>
          </a:xfrm>
          <a:prstGeom prst="rect">
            <a:avLst/>
          </a:prstGeom>
          <a:noFill/>
          <a:ln/>
        </p:spPr>
        <p:txBody>
          <a:bodyPr wrap="square" lIns="0" tIns="0" rIns="0" bIns="0" rtlCol="0" anchor="t">
            <a:normAutofit lnSpcReduction="10000"/>
          </a:bodyPr>
          <a:lstStyle/>
          <a:p>
            <a:pPr marL="0" indent="0" algn="l">
              <a:lnSpc>
                <a:spcPct val="81000"/>
              </a:lnSpc>
              <a:buNone/>
            </a:pPr>
            <a:r>
              <a:rPr lang="en-US" sz="1600" dirty="0">
                <a:solidFill>
                  <a:srgbClr val="547871"/>
                </a:solidFill>
                <a:latin typeface="Public Sans SemiBold" pitchFamily="34" charset="0"/>
                <a:ea typeface="Public Sans SemiBold" pitchFamily="34" charset="-122"/>
                <a:cs typeface="Public Sans SemiBold" pitchFamily="34" charset="-120"/>
              </a:rPr>
              <a:t>Breadboard, jumper wires,motor supply</a:t>
            </a:r>
            <a:endParaRPr lang="en-US" sz="1600" dirty="0"/>
          </a:p>
        </p:txBody>
      </p:sp>
      <p:sp>
        <p:nvSpPr>
          <p:cNvPr id="25" name="Text 14"/>
          <p:cNvSpPr/>
          <p:nvPr/>
        </p:nvSpPr>
        <p:spPr>
          <a:xfrm>
            <a:off x="10286147" y="4934248"/>
            <a:ext cx="939776" cy="1104900"/>
          </a:xfrm>
          <a:prstGeom prst="rect">
            <a:avLst/>
          </a:prstGeom>
          <a:noFill/>
          <a:ln/>
        </p:spPr>
        <p:txBody>
          <a:bodyPr wrap="square" lIns="0" tIns="0" rIns="0" bIns="0" rtlCol="0" anchor="t">
            <a:normAutofit/>
          </a:bodyPr>
          <a:lstStyle/>
          <a:p>
            <a:pPr marL="0" indent="0" algn="l">
              <a:lnSpc>
                <a:spcPct val="121000"/>
              </a:lnSpc>
              <a:buNone/>
            </a:pPr>
            <a:r>
              <a:rPr lang="en-US" sz="1500" dirty="0">
                <a:solidFill>
                  <a:srgbClr val="87ABA4"/>
                </a:solidFill>
                <a:latin typeface="Public Sans" pitchFamily="34" charset="0"/>
                <a:ea typeface="Public Sans" pitchFamily="34" charset="-122"/>
                <a:cs typeface="Public Sans" pitchFamily="34" charset="-120"/>
              </a:rPr>
              <a:t>Prototype connections and power.</a:t>
            </a:r>
            <a:endParaRPr lang="en-US" sz="1500" dirty="0"/>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1076504" y="6558955"/>
            <a:ext cx="1071833" cy="255984"/>
          </a:xfrm>
          <a:prstGeom prst="rect">
            <a:avLst/>
          </a:prstGeom>
        </p:spPr>
      </p:pic>
      <p:pic>
        <p:nvPicPr>
          <p:cNvPr id="3" name="Image 1" descr="preencoded.png"/>
          <p:cNvPicPr>
            <a:picLocks noChangeAspect="1"/>
          </p:cNvPicPr>
          <p:nvPr/>
        </p:nvPicPr>
        <p:blipFill>
          <a:blip r:embed="rId4"/>
          <a:stretch>
            <a:fillRect/>
          </a:stretch>
        </p:blipFill>
        <p:spPr>
          <a:xfrm>
            <a:off x="11076206" y="6558855"/>
            <a:ext cx="1071833" cy="255984"/>
          </a:xfrm>
          <a:prstGeom prst="rect">
            <a:avLst/>
          </a:prstGeom>
        </p:spPr>
      </p:pic>
      <p:sp>
        <p:nvSpPr>
          <p:cNvPr id="4" name="Shape 0"/>
          <p:cNvSpPr/>
          <p:nvPr/>
        </p:nvSpPr>
        <p:spPr>
          <a:xfrm>
            <a:off x="11037413" y="6427192"/>
            <a:ext cx="1089990" cy="356195"/>
          </a:xfrm>
          <a:prstGeom prst="rect">
            <a:avLst/>
          </a:prstGeom>
          <a:solidFill>
            <a:srgbClr val="17211F"/>
          </a:solidFill>
          <a:ln w="12700">
            <a:solidFill>
              <a:srgbClr val="17211F"/>
            </a:solidFill>
            <a:prstDash val="solid"/>
          </a:ln>
        </p:spPr>
      </p:sp>
      <p:sp>
        <p:nvSpPr>
          <p:cNvPr id="5" name="Text 1"/>
          <p:cNvSpPr/>
          <p:nvPr/>
        </p:nvSpPr>
        <p:spPr>
          <a:xfrm>
            <a:off x="380990" y="431800"/>
            <a:ext cx="4787483" cy="167580"/>
          </a:xfrm>
          <a:prstGeom prst="rect">
            <a:avLst/>
          </a:prstGeom>
          <a:noFill/>
          <a:ln/>
        </p:spPr>
        <p:txBody>
          <a:bodyPr wrap="none" lIns="0" tIns="0" rIns="0" bIns="0" rtlCol="0" anchor="t"/>
          <a:lstStyle/>
          <a:p>
            <a:pPr marL="0" indent="0" algn="l">
              <a:lnSpc>
                <a:spcPct val="100000"/>
              </a:lnSpc>
              <a:buNone/>
            </a:pPr>
            <a:r>
              <a:rPr lang="en-US" sz="1100" kern="100" spc="110" dirty="0">
                <a:solidFill>
                  <a:srgbClr val="D99032"/>
                </a:solidFill>
                <a:latin typeface="Spline Sans Mono" pitchFamily="34" charset="0"/>
                <a:ea typeface="Spline Sans Mono" pitchFamily="34" charset="-122"/>
                <a:cs typeface="Spline Sans Mono" pitchFamily="34" charset="-120"/>
              </a:rPr>
              <a:t>WORKING PRINCIPLE</a:t>
            </a:r>
            <a:endParaRPr lang="en-US" sz="1100" dirty="0"/>
          </a:p>
        </p:txBody>
      </p:sp>
      <p:sp>
        <p:nvSpPr>
          <p:cNvPr id="6" name="Text 2"/>
          <p:cNvSpPr/>
          <p:nvPr/>
        </p:nvSpPr>
        <p:spPr>
          <a:xfrm>
            <a:off x="380990" y="740648"/>
            <a:ext cx="3187323" cy="1942703"/>
          </a:xfrm>
          <a:prstGeom prst="rect">
            <a:avLst/>
          </a:prstGeom>
          <a:noFill/>
          <a:ln/>
        </p:spPr>
        <p:txBody>
          <a:bodyPr wrap="square" lIns="0" tIns="0" rIns="0" bIns="0" rtlCol="0" anchor="t">
            <a:normAutofit lnSpcReduction="10000"/>
          </a:bodyPr>
          <a:lstStyle/>
          <a:p>
            <a:pPr marL="0" indent="0" algn="l">
              <a:lnSpc>
                <a:spcPct val="75000"/>
              </a:lnSpc>
              <a:buNone/>
            </a:pPr>
            <a:r>
              <a:rPr lang="en-US" sz="3400" kern="100" spc="-34" dirty="0">
                <a:solidFill>
                  <a:srgbClr val="D99032"/>
                </a:solidFill>
                <a:latin typeface="Sora SemiBold" pitchFamily="34" charset="0"/>
                <a:ea typeface="Sora SemiBold" pitchFamily="34" charset="-122"/>
                <a:cs typeface="Sora SemiBold" pitchFamily="34" charset="-120"/>
              </a:rPr>
              <a:t>From magnetic pulse to automatic protection</a:t>
            </a:r>
            <a:endParaRPr lang="en-US" sz="3400" dirty="0"/>
          </a:p>
        </p:txBody>
      </p:sp>
      <p:sp>
        <p:nvSpPr>
          <p:cNvPr id="7" name="Text 3"/>
          <p:cNvSpPr/>
          <p:nvPr/>
        </p:nvSpPr>
        <p:spPr>
          <a:xfrm>
            <a:off x="380990" y="2819777"/>
            <a:ext cx="3301620" cy="662781"/>
          </a:xfrm>
          <a:prstGeom prst="rect">
            <a:avLst/>
          </a:prstGeom>
          <a:noFill/>
          <a:ln/>
        </p:spPr>
        <p:txBody>
          <a:bodyPr wrap="square" lIns="0" tIns="0" rIns="0" bIns="0" rtlCol="0" anchor="t">
            <a:normAutofit/>
          </a:bodyPr>
          <a:lstStyle/>
          <a:p>
            <a:pPr marL="0" indent="0" algn="l">
              <a:lnSpc>
                <a:spcPct val="121000"/>
              </a:lnSpc>
              <a:buNone/>
            </a:pPr>
            <a:r>
              <a:rPr lang="en-US" sz="1800" dirty="0">
                <a:solidFill>
                  <a:srgbClr val="87ABA4"/>
                </a:solidFill>
                <a:latin typeface="Public Sans" pitchFamily="34" charset="0"/>
                <a:ea typeface="Public Sans" pitchFamily="34" charset="-122"/>
                <a:cs typeface="Public Sans" pitchFamily="34" charset="-120"/>
              </a:rPr>
              <a:t>Each stage leaves evidence for the next stage to use.</a:t>
            </a:r>
            <a:endParaRPr lang="en-US" sz="1800" dirty="0"/>
          </a:p>
        </p:txBody>
      </p:sp>
      <p:sp>
        <p:nvSpPr>
          <p:cNvPr id="8" name="Text 4"/>
          <p:cNvSpPr/>
          <p:nvPr/>
        </p:nvSpPr>
        <p:spPr>
          <a:xfrm>
            <a:off x="380990" y="5974235"/>
            <a:ext cx="3301620" cy="414338"/>
          </a:xfrm>
          <a:prstGeom prst="rect">
            <a:avLst/>
          </a:prstGeom>
          <a:noFill/>
          <a:ln/>
        </p:spPr>
        <p:txBody>
          <a:bodyPr wrap="square" lIns="0" tIns="0" rIns="0" bIns="0" rtlCol="0" anchor="t">
            <a:normAutofit/>
          </a:bodyPr>
          <a:lstStyle/>
          <a:p>
            <a:pPr marL="0" indent="0" algn="l">
              <a:lnSpc>
                <a:spcPct val="113000"/>
              </a:lnSpc>
              <a:buNone/>
            </a:pPr>
            <a:r>
              <a:rPr lang="en-US" sz="1200" kern="100" spc="24" dirty="0">
                <a:solidFill>
                  <a:srgbClr val="939F99"/>
                </a:solidFill>
                <a:latin typeface="Spline Sans Mono" pitchFamily="34" charset="0"/>
                <a:ea typeface="Spline Sans Mono" pitchFamily="34" charset="-122"/>
                <a:cs typeface="Spline Sans Mono" pitchFamily="34" charset="-120"/>
              </a:rPr>
              <a:t>Pulse detection → decision → protection → dashboard update</a:t>
            </a:r>
            <a:endParaRPr lang="en-US" sz="1200" dirty="0"/>
          </a:p>
        </p:txBody>
      </p:sp>
      <p:pic>
        <p:nvPicPr>
          <p:cNvPr id="9" name="Image 2" descr="preencoded.png"/>
          <p:cNvPicPr>
            <a:picLocks noChangeAspect="1"/>
          </p:cNvPicPr>
          <p:nvPr/>
        </p:nvPicPr>
        <p:blipFill>
          <a:blip r:embed="rId5"/>
          <a:stretch>
            <a:fillRect/>
          </a:stretch>
        </p:blipFill>
        <p:spPr>
          <a:xfrm>
            <a:off x="4555713" y="2227659"/>
            <a:ext cx="7143373" cy="2925266"/>
          </a:xfrm>
          <a:prstGeom prst="rect">
            <a:avLst/>
          </a:prstGeom>
        </p:spPr>
      </p:pic>
      <p:sp>
        <p:nvSpPr>
          <p:cNvPr id="10" name="Text 5"/>
          <p:cNvSpPr/>
          <p:nvPr/>
        </p:nvSpPr>
        <p:spPr>
          <a:xfrm>
            <a:off x="4920036" y="2483360"/>
            <a:ext cx="5183157" cy="190500"/>
          </a:xfrm>
          <a:prstGeom prst="rect">
            <a:avLst/>
          </a:prstGeom>
          <a:noFill/>
          <a:ln/>
        </p:spPr>
        <p:txBody>
          <a:bodyPr wrap="none" lIns="0" tIns="0" rIns="0" bIns="0" rtlCol="0" anchor="t"/>
          <a:lstStyle/>
          <a:p>
            <a:pPr marL="0" indent="0" algn="l">
              <a:lnSpc>
                <a:spcPct val="100000"/>
              </a:lnSpc>
              <a:buNone/>
            </a:pPr>
            <a:r>
              <a:rPr lang="en-US" sz="1250" kern="100" spc="-12" dirty="0">
                <a:solidFill>
                  <a:srgbClr val="000000"/>
                </a:solidFill>
                <a:latin typeface="Sora SemiBold" pitchFamily="34" charset="0"/>
                <a:ea typeface="Sora SemiBold" pitchFamily="34" charset="-122"/>
                <a:cs typeface="Sora SemiBold" pitchFamily="34" charset="-120"/>
              </a:rPr>
              <a:t>Magnet Passes Sensor</a:t>
            </a:r>
            <a:endParaRPr lang="en-US" sz="1250" dirty="0"/>
          </a:p>
        </p:txBody>
      </p:sp>
      <p:sp>
        <p:nvSpPr>
          <p:cNvPr id="11" name="Text 6"/>
          <p:cNvSpPr/>
          <p:nvPr/>
        </p:nvSpPr>
        <p:spPr>
          <a:xfrm>
            <a:off x="4920036" y="3225120"/>
            <a:ext cx="5183157" cy="190500"/>
          </a:xfrm>
          <a:prstGeom prst="rect">
            <a:avLst/>
          </a:prstGeom>
          <a:noFill/>
          <a:ln/>
        </p:spPr>
        <p:txBody>
          <a:bodyPr wrap="none" lIns="0" tIns="0" rIns="0" bIns="0" rtlCol="0" anchor="t"/>
          <a:lstStyle/>
          <a:p>
            <a:pPr marL="0" indent="0" algn="l">
              <a:lnSpc>
                <a:spcPct val="100000"/>
              </a:lnSpc>
              <a:buNone/>
            </a:pPr>
            <a:r>
              <a:rPr lang="en-US" sz="1250" kern="100" spc="-12" dirty="0">
                <a:solidFill>
                  <a:srgbClr val="000000"/>
                </a:solidFill>
                <a:latin typeface="Sora SemiBold" pitchFamily="34" charset="0"/>
                <a:ea typeface="Sora SemiBold" pitchFamily="34" charset="-122"/>
                <a:cs typeface="Sora SemiBold" pitchFamily="34" charset="-120"/>
              </a:rPr>
              <a:t>Sensor Produces Pulses</a:t>
            </a:r>
            <a:endParaRPr lang="en-US" sz="1250" dirty="0"/>
          </a:p>
        </p:txBody>
      </p:sp>
      <p:sp>
        <p:nvSpPr>
          <p:cNvPr id="12" name="Text 7"/>
          <p:cNvSpPr/>
          <p:nvPr/>
        </p:nvSpPr>
        <p:spPr>
          <a:xfrm>
            <a:off x="4920036" y="3959338"/>
            <a:ext cx="5183157" cy="190500"/>
          </a:xfrm>
          <a:prstGeom prst="rect">
            <a:avLst/>
          </a:prstGeom>
          <a:noFill/>
          <a:ln/>
        </p:spPr>
        <p:txBody>
          <a:bodyPr wrap="none" lIns="0" tIns="0" rIns="0" bIns="0" rtlCol="0" anchor="t"/>
          <a:lstStyle/>
          <a:p>
            <a:pPr marL="0" indent="0" algn="l">
              <a:lnSpc>
                <a:spcPct val="100000"/>
              </a:lnSpc>
              <a:buNone/>
            </a:pPr>
            <a:r>
              <a:rPr lang="en-US" sz="1250" kern="100" spc="-12" dirty="0">
                <a:solidFill>
                  <a:srgbClr val="000000"/>
                </a:solidFill>
                <a:latin typeface="Sora SemiBold" pitchFamily="34" charset="0"/>
                <a:ea typeface="Sora SemiBold" pitchFamily="34" charset="-122"/>
                <a:cs typeface="Sora SemiBold" pitchFamily="34" charset="-120"/>
              </a:rPr>
              <a:t>Arduino Calculates RPM</a:t>
            </a:r>
            <a:endParaRPr lang="en-US" sz="1250" dirty="0"/>
          </a:p>
        </p:txBody>
      </p:sp>
      <p:sp>
        <p:nvSpPr>
          <p:cNvPr id="13" name="Text 8"/>
          <p:cNvSpPr/>
          <p:nvPr/>
        </p:nvSpPr>
        <p:spPr>
          <a:xfrm>
            <a:off x="4920036" y="4693557"/>
            <a:ext cx="5183157" cy="190500"/>
          </a:xfrm>
          <a:prstGeom prst="rect">
            <a:avLst/>
          </a:prstGeom>
          <a:noFill/>
          <a:ln/>
        </p:spPr>
        <p:txBody>
          <a:bodyPr wrap="none" lIns="0" tIns="0" rIns="0" bIns="0" rtlCol="0" anchor="t"/>
          <a:lstStyle/>
          <a:p>
            <a:pPr marL="0" indent="0" algn="l">
              <a:lnSpc>
                <a:spcPct val="100000"/>
              </a:lnSpc>
              <a:buNone/>
            </a:pPr>
            <a:r>
              <a:rPr lang="en-US" sz="1250" kern="100" spc="-12" dirty="0">
                <a:solidFill>
                  <a:srgbClr val="000000"/>
                </a:solidFill>
                <a:latin typeface="Sora SemiBold" pitchFamily="34" charset="0"/>
                <a:ea typeface="Sora SemiBold" pitchFamily="34" charset="-122"/>
                <a:cs typeface="Sora SemiBold" pitchFamily="34" charset="-120"/>
              </a:rPr>
              <a:t>Detect Missing Pulses</a:t>
            </a:r>
            <a:endParaRPr lang="en-US" sz="1250" dirty="0"/>
          </a:p>
        </p:txBody>
      </p:sp>
      <p:sp>
        <p:nvSpPr>
          <p:cNvPr id="14" name="Shape 9"/>
          <p:cNvSpPr/>
          <p:nvPr/>
        </p:nvSpPr>
        <p:spPr>
          <a:xfrm>
            <a:off x="4057251" y="0"/>
            <a:ext cx="12700" cy="6858000"/>
          </a:xfrm>
          <a:prstGeom prst="rect">
            <a:avLst/>
          </a:prstGeom>
          <a:solidFill>
            <a:srgbClr val="4E8F83"/>
          </a:solidFill>
          <a:ln/>
        </p:spPr>
      </p:sp>
    </p:spTree>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06390" y="2377380"/>
            <a:ext cx="6298646" cy="1843484"/>
          </a:xfrm>
          <a:prstGeom prst="roundRect">
            <a:avLst>
              <a:gd name="adj" fmla="val 893"/>
            </a:avLst>
          </a:prstGeom>
          <a:solidFill>
            <a:srgbClr val="6C4514"/>
          </a:solidFill>
          <a:ln/>
        </p:spPr>
      </p:sp>
      <p:sp>
        <p:nvSpPr>
          <p:cNvPr id="3" name="Shape 1"/>
          <p:cNvSpPr/>
          <p:nvPr/>
        </p:nvSpPr>
        <p:spPr>
          <a:xfrm>
            <a:off x="7517815" y="1708745"/>
            <a:ext cx="4266796" cy="1462980"/>
          </a:xfrm>
          <a:prstGeom prst="roundRect">
            <a:avLst>
              <a:gd name="adj" fmla="val 1125"/>
            </a:avLst>
          </a:prstGeom>
          <a:solidFill>
            <a:srgbClr val="26332F"/>
          </a:solidFill>
          <a:ln/>
        </p:spPr>
      </p:sp>
      <p:sp>
        <p:nvSpPr>
          <p:cNvPr id="4" name="Shape 2"/>
          <p:cNvSpPr/>
          <p:nvPr/>
        </p:nvSpPr>
        <p:spPr>
          <a:xfrm>
            <a:off x="7517815" y="3476823"/>
            <a:ext cx="4266796" cy="1330523"/>
          </a:xfrm>
          <a:prstGeom prst="roundRect">
            <a:avLst>
              <a:gd name="adj" fmla="val 1237"/>
            </a:avLst>
          </a:prstGeom>
          <a:solidFill>
            <a:srgbClr val="26332F"/>
          </a:solidFill>
          <a:ln/>
        </p:spPr>
      </p:sp>
      <p:sp>
        <p:nvSpPr>
          <p:cNvPr id="5" name="Text 3"/>
          <p:cNvSpPr/>
          <p:nvPr/>
        </p:nvSpPr>
        <p:spPr>
          <a:xfrm>
            <a:off x="406390" y="540345"/>
            <a:ext cx="6653741" cy="144760"/>
          </a:xfrm>
          <a:prstGeom prst="rect">
            <a:avLst/>
          </a:prstGeom>
          <a:noFill/>
          <a:ln/>
        </p:spPr>
        <p:txBody>
          <a:bodyPr wrap="none" lIns="0" tIns="0" rIns="0" bIns="0" rtlCol="0" anchor="t"/>
          <a:lstStyle/>
          <a:p>
            <a:pPr marL="0" indent="0" algn="l">
              <a:lnSpc>
                <a:spcPct val="100000"/>
              </a:lnSpc>
              <a:buNone/>
            </a:pPr>
            <a:r>
              <a:rPr lang="en-US" sz="950" kern="100" spc="94" dirty="0">
                <a:solidFill>
                  <a:srgbClr val="D99032"/>
                </a:solidFill>
                <a:latin typeface="Spline Sans Mono" pitchFamily="34" charset="0"/>
                <a:ea typeface="Spline Sans Mono" pitchFamily="34" charset="-122"/>
                <a:cs typeface="Spline Sans Mono" pitchFamily="34" charset="-120"/>
              </a:rPr>
              <a:t>THE READOUT</a:t>
            </a:r>
            <a:endParaRPr lang="en-US" sz="950" dirty="0"/>
          </a:p>
        </p:txBody>
      </p:sp>
      <p:sp>
        <p:nvSpPr>
          <p:cNvPr id="6" name="Text 4"/>
          <p:cNvSpPr/>
          <p:nvPr/>
        </p:nvSpPr>
        <p:spPr>
          <a:xfrm>
            <a:off x="406390" y="795869"/>
            <a:ext cx="6184249" cy="648097"/>
          </a:xfrm>
          <a:prstGeom prst="rect">
            <a:avLst/>
          </a:prstGeom>
          <a:noFill/>
          <a:ln/>
        </p:spPr>
        <p:txBody>
          <a:bodyPr wrap="square" lIns="0" tIns="0" rIns="0" bIns="0" rtlCol="0" anchor="t">
            <a:normAutofit lnSpcReduction="10000"/>
          </a:bodyPr>
          <a:lstStyle/>
          <a:p>
            <a:pPr marL="0" indent="0" algn="l">
              <a:lnSpc>
                <a:spcPct val="73000"/>
              </a:lnSpc>
              <a:buNone/>
            </a:pPr>
            <a:r>
              <a:rPr lang="en-US" sz="2900" kern="100" spc="-29" dirty="0">
                <a:solidFill>
                  <a:srgbClr val="D99032"/>
                </a:solidFill>
                <a:latin typeface="Sora SemiBold" pitchFamily="34" charset="0"/>
                <a:ea typeface="Sora SemiBold" pitchFamily="34" charset="-122"/>
                <a:cs typeface="Sora SemiBold" pitchFamily="34" charset="-120"/>
              </a:rPr>
              <a:t>From pulse stream to a trustworthy motor state</a:t>
            </a:r>
            <a:endParaRPr lang="en-US" sz="2900" dirty="0"/>
          </a:p>
        </p:txBody>
      </p:sp>
      <p:sp>
        <p:nvSpPr>
          <p:cNvPr id="7" name="Text 5"/>
          <p:cNvSpPr/>
          <p:nvPr/>
        </p:nvSpPr>
        <p:spPr>
          <a:xfrm>
            <a:off x="406390" y="1706674"/>
            <a:ext cx="6184249" cy="459383"/>
          </a:xfrm>
          <a:prstGeom prst="rect">
            <a:avLst/>
          </a:prstGeom>
          <a:noFill/>
          <a:ln/>
        </p:spPr>
        <p:txBody>
          <a:bodyPr wrap="square" lIns="0" tIns="0" rIns="0" bIns="0" rtlCol="0" anchor="t">
            <a:normAutofit/>
          </a:bodyPr>
          <a:lstStyle/>
          <a:p>
            <a:pPr marL="0" indent="0" algn="l">
              <a:lnSpc>
                <a:spcPct val="112000"/>
              </a:lnSpc>
              <a:buNone/>
            </a:pPr>
            <a:r>
              <a:rPr lang="en-US" sz="1350" dirty="0">
                <a:solidFill>
                  <a:srgbClr val="87ABA4"/>
                </a:solidFill>
                <a:latin typeface="Public Sans" pitchFamily="34" charset="0"/>
                <a:ea typeface="Public Sans" pitchFamily="34" charset="-122"/>
                <a:cs typeface="Public Sans" pitchFamily="34" charset="-120"/>
              </a:rPr>
              <a:t>RPM is one useful summary, but JamGuard first checks whether the pulse evidence is consistent enough to trust.</a:t>
            </a:r>
            <a:endParaRPr lang="en-US" sz="1350" dirty="0"/>
          </a:p>
        </p:txBody>
      </p:sp>
      <p:pic>
        <p:nvPicPr>
          <p:cNvPr id="8" name="Image 0" descr="preencoded.png"/>
          <p:cNvPicPr>
            <a:picLocks noChangeAspect="1"/>
          </p:cNvPicPr>
          <p:nvPr/>
        </p:nvPicPr>
        <p:blipFill>
          <a:blip r:embed="rId3"/>
          <a:stretch>
            <a:fillRect/>
          </a:stretch>
        </p:blipFill>
        <p:spPr>
          <a:xfrm>
            <a:off x="579721" y="2619871"/>
            <a:ext cx="216490" cy="173335"/>
          </a:xfrm>
          <a:prstGeom prst="rect">
            <a:avLst/>
          </a:prstGeom>
        </p:spPr>
      </p:pic>
      <p:sp>
        <p:nvSpPr>
          <p:cNvPr id="9" name="Text 6"/>
          <p:cNvSpPr/>
          <p:nvPr/>
        </p:nvSpPr>
        <p:spPr>
          <a:xfrm>
            <a:off x="969541" y="2601119"/>
            <a:ext cx="6090589" cy="144760"/>
          </a:xfrm>
          <a:prstGeom prst="rect">
            <a:avLst/>
          </a:prstGeom>
          <a:noFill/>
          <a:ln/>
        </p:spPr>
        <p:txBody>
          <a:bodyPr wrap="none" lIns="0" tIns="0" rIns="0" bIns="0" rtlCol="0" anchor="t"/>
          <a:lstStyle/>
          <a:p>
            <a:pPr marL="0" indent="0" algn="l">
              <a:lnSpc>
                <a:spcPct val="100000"/>
              </a:lnSpc>
              <a:buNone/>
            </a:pPr>
            <a:r>
              <a:rPr lang="en-US" sz="950" kern="100" spc="94" dirty="0">
                <a:solidFill>
                  <a:srgbClr val="F3EBDD"/>
                </a:solidFill>
                <a:latin typeface="Spline Sans Mono" pitchFamily="34" charset="0"/>
                <a:ea typeface="Spline Sans Mono" pitchFamily="34" charset="-122"/>
                <a:cs typeface="Spline Sans Mono" pitchFamily="34" charset="-120"/>
              </a:rPr>
              <a:t>ILLUSTRATIVE CALCULATION</a:t>
            </a:r>
            <a:endParaRPr lang="en-US" sz="950" dirty="0"/>
          </a:p>
        </p:txBody>
      </p:sp>
      <p:pic>
        <p:nvPicPr>
          <p:cNvPr id="10" name="Image 1" descr="preencoded.png"/>
          <p:cNvPicPr>
            <a:picLocks noChangeAspect="1"/>
          </p:cNvPicPr>
          <p:nvPr/>
        </p:nvPicPr>
        <p:blipFill>
          <a:blip r:embed="rId4"/>
          <a:stretch>
            <a:fillRect/>
          </a:stretch>
        </p:blipFill>
        <p:spPr>
          <a:xfrm>
            <a:off x="969541" y="2844899"/>
            <a:ext cx="5561766" cy="302121"/>
          </a:xfrm>
          <a:prstGeom prst="rect">
            <a:avLst/>
          </a:prstGeom>
        </p:spPr>
      </p:pic>
      <p:sp>
        <p:nvSpPr>
          <p:cNvPr id="11" name="Text 7"/>
          <p:cNvSpPr/>
          <p:nvPr/>
        </p:nvSpPr>
        <p:spPr>
          <a:xfrm>
            <a:off x="969541" y="3216386"/>
            <a:ext cx="5447668" cy="459383"/>
          </a:xfrm>
          <a:prstGeom prst="rect">
            <a:avLst/>
          </a:prstGeom>
          <a:noFill/>
          <a:ln/>
        </p:spPr>
        <p:txBody>
          <a:bodyPr wrap="square" lIns="0" tIns="0" rIns="0" bIns="0" rtlCol="0" anchor="t">
            <a:normAutofit/>
          </a:bodyPr>
          <a:lstStyle/>
          <a:p>
            <a:pPr marL="0" indent="0" algn="l">
              <a:lnSpc>
                <a:spcPct val="112000"/>
              </a:lnSpc>
              <a:buNone/>
            </a:pPr>
            <a:r>
              <a:rPr lang="en-US" sz="1350" b="1" dirty="0">
                <a:solidFill>
                  <a:srgbClr val="FFFFFF"/>
                </a:solidFill>
                <a:latin typeface="Public Sans Bold" pitchFamily="34" charset="0"/>
                <a:ea typeface="Public Sans Bold" pitchFamily="34" charset="-122"/>
                <a:cs typeface="Public Sans Bold" pitchFamily="34" charset="-120"/>
              </a:rPr>
              <a:t>Worked example —</a:t>
            </a:r>
            <a:r>
              <a:rPr lang="en-US" sz="1350" dirty="0">
                <a:solidFill>
                  <a:srgbClr val="FFFFFF"/>
                </a:solidFill>
                <a:latin typeface="Public Sans" pitchFamily="34" charset="0"/>
                <a:ea typeface="Public Sans" pitchFamily="34" charset="-122"/>
                <a:cs typeface="Public Sans" pitchFamily="34" charset="-120"/>
              </a:rPr>
              <a:t> 8 pulses/second × 60 ÷ 1 pulse/revolution = 480 RPM.</a:t>
            </a:r>
            <a:endParaRPr lang="en-US" sz="1350" dirty="0"/>
          </a:p>
        </p:txBody>
      </p:sp>
      <p:sp>
        <p:nvSpPr>
          <p:cNvPr id="12" name="Text 8"/>
          <p:cNvSpPr/>
          <p:nvPr/>
        </p:nvSpPr>
        <p:spPr>
          <a:xfrm>
            <a:off x="969541" y="3841433"/>
            <a:ext cx="6090589" cy="172641"/>
          </a:xfrm>
          <a:prstGeom prst="rect">
            <a:avLst/>
          </a:prstGeom>
          <a:noFill/>
          <a:ln/>
        </p:spPr>
        <p:txBody>
          <a:bodyPr wrap="none" lIns="0" tIns="0" rIns="0" bIns="0" rtlCol="0" anchor="t"/>
          <a:lstStyle/>
          <a:p>
            <a:pPr marL="0" indent="0" algn="l">
              <a:lnSpc>
                <a:spcPct val="113000"/>
              </a:lnSpc>
              <a:buNone/>
            </a:pPr>
            <a:r>
              <a:rPr lang="en-US" sz="1000" kern="100" spc="20" dirty="0">
                <a:solidFill>
                  <a:srgbClr val="F3EBDD"/>
                </a:solidFill>
                <a:latin typeface="Spline Sans Mono" pitchFamily="34" charset="0"/>
                <a:ea typeface="Spline Sans Mono" pitchFamily="34" charset="-122"/>
                <a:cs typeface="Spline Sans Mono" pitchFamily="34" charset="-120"/>
              </a:rPr>
              <a:t>Illustration only; not a measured project result.</a:t>
            </a:r>
            <a:endParaRPr lang="en-US" sz="1000" dirty="0"/>
          </a:p>
        </p:txBody>
      </p:sp>
      <p:sp>
        <p:nvSpPr>
          <p:cNvPr id="13" name="Text 9"/>
          <p:cNvSpPr/>
          <p:nvPr/>
        </p:nvSpPr>
        <p:spPr>
          <a:xfrm>
            <a:off x="406390" y="4335859"/>
            <a:ext cx="6298348" cy="1695648"/>
          </a:xfrm>
          <a:prstGeom prst="rect">
            <a:avLst/>
          </a:prstGeom>
          <a:noFill/>
          <a:ln/>
        </p:spPr>
        <p:txBody>
          <a:bodyPr wrap="square" lIns="0" tIns="0" rIns="0" bIns="0" rtlCol="0" anchor="t">
            <a:normAutofit/>
          </a:bodyPr>
          <a:lstStyle/>
          <a:p>
            <a:pPr marL="0" indent="0" algn="l">
              <a:lnSpc>
                <a:spcPct val="112000"/>
              </a:lnSpc>
              <a:spcAft>
                <a:spcPts val="1200"/>
              </a:spcAft>
              <a:buNone/>
            </a:pPr>
            <a:r>
              <a:rPr lang="en-US" sz="1350" b="1" dirty="0">
                <a:solidFill>
                  <a:srgbClr val="87ABA4"/>
                </a:solidFill>
                <a:latin typeface="Public Sans Bold" pitchFamily="34" charset="0"/>
                <a:ea typeface="Public Sans Bold" pitchFamily="34" charset="-122"/>
                <a:cs typeface="Public Sans Bold" pitchFamily="34" charset="-120"/>
              </a:rPr>
              <a:t>1 · Observe —</a:t>
            </a:r>
            <a:r>
              <a:rPr lang="en-US" sz="1350" dirty="0">
                <a:solidFill>
                  <a:srgbClr val="87ABA4"/>
                </a:solidFill>
                <a:latin typeface="Public Sans" pitchFamily="34" charset="0"/>
                <a:ea typeface="Public Sans" pitchFamily="34" charset="-122"/>
                <a:cs typeface="Public Sans" pitchFamily="34" charset="-120"/>
              </a:rPr>
              <a:t> The Hall sensor produces an event whenever the magnet passes its field.</a:t>
            </a:r>
            <a:endParaRPr lang="en-US" sz="1350" dirty="0"/>
          </a:p>
          <a:p>
            <a:pPr marL="0" indent="0" algn="l">
              <a:lnSpc>
                <a:spcPct val="112000"/>
              </a:lnSpc>
              <a:spcAft>
                <a:spcPts val="1200"/>
              </a:spcAft>
              <a:buNone/>
            </a:pPr>
            <a:r>
              <a:rPr lang="en-US" sz="1350" b="1" dirty="0">
                <a:solidFill>
                  <a:srgbClr val="87ABA4"/>
                </a:solidFill>
                <a:latin typeface="Public Sans Bold" pitchFamily="34" charset="0"/>
                <a:ea typeface="Public Sans Bold" pitchFamily="34" charset="-122"/>
                <a:cs typeface="Public Sans Bold" pitchFamily="34" charset="-120"/>
              </a:rPr>
              <a:t>2 · Validate —</a:t>
            </a:r>
            <a:r>
              <a:rPr lang="en-US" sz="1350" dirty="0">
                <a:solidFill>
                  <a:srgbClr val="87ABA4"/>
                </a:solidFill>
                <a:latin typeface="Public Sans" pitchFamily="34" charset="0"/>
                <a:ea typeface="Public Sans" pitchFamily="34" charset="-122"/>
                <a:cs typeface="Public Sans" pitchFamily="34" charset="-120"/>
              </a:rPr>
              <a:t> The controller watches pulse timing across a short window, rejecting gaps or bursts that do not form a stable rotation pattern.</a:t>
            </a:r>
            <a:endParaRPr lang="en-US" sz="1350" dirty="0"/>
          </a:p>
          <a:p>
            <a:pPr marL="0" indent="0" algn="l">
              <a:lnSpc>
                <a:spcPct val="112000"/>
              </a:lnSpc>
              <a:buNone/>
            </a:pPr>
            <a:r>
              <a:rPr lang="en-US" sz="1350" b="1" dirty="0">
                <a:solidFill>
                  <a:srgbClr val="87ABA4"/>
                </a:solidFill>
                <a:latin typeface="Public Sans Bold" pitchFamily="34" charset="0"/>
                <a:ea typeface="Public Sans Bold" pitchFamily="34" charset="-122"/>
                <a:cs typeface="Public Sans Bold" pitchFamily="34" charset="-120"/>
              </a:rPr>
              <a:t>3 · Decide —</a:t>
            </a:r>
            <a:r>
              <a:rPr lang="en-US" sz="1350" dirty="0">
                <a:solidFill>
                  <a:srgbClr val="87ABA4"/>
                </a:solidFill>
                <a:latin typeface="Public Sans" pitchFamily="34" charset="0"/>
                <a:ea typeface="Public Sans" pitchFamily="34" charset="-122"/>
                <a:cs typeface="Public Sans" pitchFamily="34" charset="-120"/>
              </a:rPr>
              <a:t> If expected pulses disappear for long enough, JamGuard flags a possible stoppage and hands the state to the protection logic.</a:t>
            </a:r>
            <a:endParaRPr lang="en-US" sz="1350" dirty="0"/>
          </a:p>
        </p:txBody>
      </p:sp>
      <p:sp>
        <p:nvSpPr>
          <p:cNvPr id="14" name="Text 10"/>
          <p:cNvSpPr/>
          <p:nvPr/>
        </p:nvSpPr>
        <p:spPr>
          <a:xfrm>
            <a:off x="406390" y="6260088"/>
            <a:ext cx="6298348" cy="345281"/>
          </a:xfrm>
          <a:prstGeom prst="rect">
            <a:avLst/>
          </a:prstGeom>
          <a:noFill/>
          <a:ln/>
        </p:spPr>
        <p:txBody>
          <a:bodyPr wrap="square" lIns="0" tIns="0" rIns="0" bIns="0" rtlCol="0" anchor="t">
            <a:normAutofit/>
          </a:bodyPr>
          <a:lstStyle/>
          <a:p>
            <a:pPr marL="0" indent="0" algn="l">
              <a:lnSpc>
                <a:spcPct val="113000"/>
              </a:lnSpc>
              <a:buNone/>
            </a:pPr>
            <a:r>
              <a:rPr lang="en-US" sz="1000" kern="100" spc="20" dirty="0">
                <a:solidFill>
                  <a:srgbClr val="939F99"/>
                </a:solidFill>
                <a:latin typeface="Spline Sans Mono" pitchFamily="34" charset="0"/>
                <a:ea typeface="Spline Sans Mono" pitchFamily="34" charset="-122"/>
                <a:cs typeface="Spline Sans Mono" pitchFamily="34" charset="-120"/>
              </a:rPr>
              <a:t>This interpretation step separates a momentary irregularity from a sustained loss of motion; it does not claim a tested threshold or deployment result.</a:t>
            </a:r>
            <a:endParaRPr lang="en-US" sz="1000" dirty="0"/>
          </a:p>
        </p:txBody>
      </p:sp>
      <p:sp>
        <p:nvSpPr>
          <p:cNvPr id="15" name="Text 11"/>
          <p:cNvSpPr/>
          <p:nvPr/>
        </p:nvSpPr>
        <p:spPr>
          <a:xfrm>
            <a:off x="7644514" y="1842691"/>
            <a:ext cx="4503922" cy="144760"/>
          </a:xfrm>
          <a:prstGeom prst="rect">
            <a:avLst/>
          </a:prstGeom>
          <a:noFill/>
          <a:ln/>
        </p:spPr>
        <p:txBody>
          <a:bodyPr wrap="none" lIns="0" tIns="0" rIns="0" bIns="0" rtlCol="0" anchor="t"/>
          <a:lstStyle/>
          <a:p>
            <a:pPr marL="0" indent="0" algn="l">
              <a:lnSpc>
                <a:spcPct val="100000"/>
              </a:lnSpc>
              <a:buNone/>
            </a:pPr>
            <a:r>
              <a:rPr lang="en-US" sz="950" kern="100" spc="94" dirty="0">
                <a:solidFill>
                  <a:srgbClr val="87ABA4"/>
                </a:solidFill>
                <a:latin typeface="Spline Sans Mono" pitchFamily="34" charset="0"/>
                <a:ea typeface="Spline Sans Mono" pitchFamily="34" charset="-122"/>
                <a:cs typeface="Spline Sans Mono" pitchFamily="34" charset="-120"/>
              </a:rPr>
              <a:t>EVIDENCE</a:t>
            </a:r>
            <a:endParaRPr lang="en-US" sz="950" dirty="0"/>
          </a:p>
        </p:txBody>
      </p:sp>
      <p:sp>
        <p:nvSpPr>
          <p:cNvPr id="16" name="Text 12"/>
          <p:cNvSpPr/>
          <p:nvPr/>
        </p:nvSpPr>
        <p:spPr>
          <a:xfrm>
            <a:off x="7644514" y="2201517"/>
            <a:ext cx="3898604" cy="576362"/>
          </a:xfrm>
          <a:prstGeom prst="rect">
            <a:avLst/>
          </a:prstGeom>
          <a:noFill/>
          <a:ln/>
        </p:spPr>
        <p:txBody>
          <a:bodyPr wrap="none" lIns="0" tIns="0" rIns="0" bIns="0" rtlCol="0" anchor="t"/>
          <a:lstStyle/>
          <a:p>
            <a:pPr marL="0" indent="0" algn="l">
              <a:lnSpc>
                <a:spcPct val="85000"/>
              </a:lnSpc>
              <a:buNone/>
            </a:pPr>
            <a:r>
              <a:rPr lang="en-US" sz="4450" kern="100" spc="355" dirty="0">
                <a:solidFill>
                  <a:srgbClr val="87ABA4"/>
                </a:solidFill>
                <a:latin typeface="Sora SemiBold" pitchFamily="34" charset="0"/>
                <a:ea typeface="Sora SemiBold" pitchFamily="34" charset="-122"/>
                <a:cs typeface="Sora SemiBold" pitchFamily="34" charset="-120"/>
              </a:rPr>
              <a:t>PULSE</a:t>
            </a:r>
            <a:endParaRPr lang="en-US" sz="4450" dirty="0"/>
          </a:p>
        </p:txBody>
      </p:sp>
      <p:sp>
        <p:nvSpPr>
          <p:cNvPr id="17" name="Text 13"/>
          <p:cNvSpPr/>
          <p:nvPr/>
        </p:nvSpPr>
        <p:spPr>
          <a:xfrm>
            <a:off x="7644514" y="2824571"/>
            <a:ext cx="4503922" cy="229691"/>
          </a:xfrm>
          <a:prstGeom prst="rect">
            <a:avLst/>
          </a:prstGeom>
          <a:noFill/>
          <a:ln/>
        </p:spPr>
        <p:txBody>
          <a:bodyPr wrap="none" lIns="0" tIns="0" rIns="0" bIns="0" rtlCol="0" anchor="t"/>
          <a:lstStyle/>
          <a:p>
            <a:pPr marL="0" indent="0" algn="l">
              <a:lnSpc>
                <a:spcPct val="112000"/>
              </a:lnSpc>
              <a:buNone/>
            </a:pPr>
            <a:r>
              <a:rPr lang="en-US" sz="1350" dirty="0">
                <a:solidFill>
                  <a:srgbClr val="87ABA4"/>
                </a:solidFill>
                <a:latin typeface="Public Sans" pitchFamily="34" charset="0"/>
                <a:ea typeface="Public Sans" pitchFamily="34" charset="-122"/>
                <a:cs typeface="Public Sans" pitchFamily="34" charset="-120"/>
              </a:rPr>
              <a:t>arrival pattern</a:t>
            </a:r>
            <a:endParaRPr lang="en-US" sz="1350" dirty="0"/>
          </a:p>
        </p:txBody>
      </p:sp>
      <p:sp>
        <p:nvSpPr>
          <p:cNvPr id="18" name="Text 14"/>
          <p:cNvSpPr/>
          <p:nvPr/>
        </p:nvSpPr>
        <p:spPr>
          <a:xfrm>
            <a:off x="7644514" y="3610769"/>
            <a:ext cx="4503922" cy="144760"/>
          </a:xfrm>
          <a:prstGeom prst="rect">
            <a:avLst/>
          </a:prstGeom>
          <a:noFill/>
          <a:ln/>
        </p:spPr>
        <p:txBody>
          <a:bodyPr wrap="none" lIns="0" tIns="0" rIns="0" bIns="0" rtlCol="0" anchor="t"/>
          <a:lstStyle/>
          <a:p>
            <a:pPr marL="0" indent="0" algn="l">
              <a:lnSpc>
                <a:spcPct val="100000"/>
              </a:lnSpc>
              <a:buNone/>
            </a:pPr>
            <a:r>
              <a:rPr lang="en-US" sz="950" kern="100" spc="94" dirty="0">
                <a:solidFill>
                  <a:srgbClr val="87ABA4"/>
                </a:solidFill>
                <a:latin typeface="Spline Sans Mono" pitchFamily="34" charset="0"/>
                <a:ea typeface="Spline Sans Mono" pitchFamily="34" charset="-122"/>
                <a:cs typeface="Spline Sans Mono" pitchFamily="34" charset="-120"/>
              </a:rPr>
              <a:t>DECISION</a:t>
            </a:r>
            <a:endParaRPr lang="en-US" sz="950" dirty="0"/>
          </a:p>
        </p:txBody>
      </p:sp>
      <p:sp>
        <p:nvSpPr>
          <p:cNvPr id="19" name="Text 15"/>
          <p:cNvSpPr/>
          <p:nvPr/>
        </p:nvSpPr>
        <p:spPr>
          <a:xfrm>
            <a:off x="7644514" y="3932658"/>
            <a:ext cx="3898604" cy="440432"/>
          </a:xfrm>
          <a:prstGeom prst="rect">
            <a:avLst/>
          </a:prstGeom>
          <a:noFill/>
          <a:ln/>
        </p:spPr>
        <p:txBody>
          <a:bodyPr wrap="none" lIns="0" tIns="0" rIns="0" bIns="0" rtlCol="0" anchor="t"/>
          <a:lstStyle/>
          <a:p>
            <a:pPr marL="0" indent="0" algn="l">
              <a:lnSpc>
                <a:spcPct val="85000"/>
              </a:lnSpc>
              <a:buNone/>
            </a:pPr>
            <a:r>
              <a:rPr lang="en-US" sz="3400" kern="100" spc="273" dirty="0">
                <a:solidFill>
                  <a:srgbClr val="87ABA4"/>
                </a:solidFill>
                <a:latin typeface="Sora SemiBold" pitchFamily="34" charset="0"/>
                <a:ea typeface="Sora SemiBold" pitchFamily="34" charset="-122"/>
                <a:cs typeface="Sora SemiBold" pitchFamily="34" charset="-120"/>
              </a:rPr>
              <a:t>VALID</a:t>
            </a:r>
            <a:endParaRPr lang="en-US" sz="3400" dirty="0"/>
          </a:p>
        </p:txBody>
      </p:sp>
      <p:sp>
        <p:nvSpPr>
          <p:cNvPr id="20" name="Text 16"/>
          <p:cNvSpPr/>
          <p:nvPr/>
        </p:nvSpPr>
        <p:spPr>
          <a:xfrm>
            <a:off x="7644514" y="4459895"/>
            <a:ext cx="4503922" cy="229691"/>
          </a:xfrm>
          <a:prstGeom prst="rect">
            <a:avLst/>
          </a:prstGeom>
          <a:noFill/>
          <a:ln/>
        </p:spPr>
        <p:txBody>
          <a:bodyPr wrap="none" lIns="0" tIns="0" rIns="0" bIns="0" rtlCol="0" anchor="t"/>
          <a:lstStyle/>
          <a:p>
            <a:pPr marL="0" indent="0" algn="l">
              <a:lnSpc>
                <a:spcPct val="112000"/>
              </a:lnSpc>
              <a:buNone/>
            </a:pPr>
            <a:r>
              <a:rPr lang="en-US" sz="1350" dirty="0">
                <a:solidFill>
                  <a:srgbClr val="87ABA4"/>
                </a:solidFill>
                <a:latin typeface="Public Sans" pitchFamily="34" charset="0"/>
                <a:ea typeface="Public Sans" pitchFamily="34" charset="-122"/>
                <a:cs typeface="Public Sans" pitchFamily="34" charset="-120"/>
              </a:rPr>
              <a:t>or possible fault</a:t>
            </a:r>
            <a:endParaRPr lang="en-US" sz="1350" dirty="0"/>
          </a:p>
        </p:txBody>
      </p:sp>
      <p:sp>
        <p:nvSpPr>
          <p:cNvPr id="21" name="Text 17"/>
          <p:cNvSpPr/>
          <p:nvPr/>
        </p:nvSpPr>
        <p:spPr>
          <a:xfrm>
            <a:off x="7517617" y="4986119"/>
            <a:ext cx="4630820" cy="172641"/>
          </a:xfrm>
          <a:prstGeom prst="rect">
            <a:avLst/>
          </a:prstGeom>
          <a:noFill/>
          <a:ln/>
        </p:spPr>
        <p:txBody>
          <a:bodyPr wrap="none" lIns="0" tIns="0" rIns="0" bIns="0" rtlCol="0" anchor="t"/>
          <a:lstStyle/>
          <a:p>
            <a:pPr marL="0" indent="0" algn="l">
              <a:lnSpc>
                <a:spcPct val="113000"/>
              </a:lnSpc>
              <a:buNone/>
            </a:pPr>
            <a:r>
              <a:rPr lang="en-US" sz="1000" kern="100" spc="20" dirty="0">
                <a:solidFill>
                  <a:srgbClr val="939F99"/>
                </a:solidFill>
                <a:latin typeface="Spline Sans Mono" pitchFamily="34" charset="0"/>
                <a:ea typeface="Spline Sans Mono" pitchFamily="34" charset="-122"/>
                <a:cs typeface="Spline Sans Mono" pitchFamily="34" charset="-120"/>
              </a:rPr>
              <a:t>Sensor events become a monitored motor state</a:t>
            </a:r>
            <a:endParaRPr lang="en-US" sz="1000" dirty="0"/>
          </a:p>
        </p:txBody>
      </p:sp>
      <p:pic>
        <p:nvPicPr>
          <p:cNvPr id="22" name="Image 2" descr="preencoded.png"/>
          <p:cNvPicPr>
            <a:picLocks noChangeAspect="1"/>
          </p:cNvPicPr>
          <p:nvPr/>
        </p:nvPicPr>
        <p:blipFill>
          <a:blip r:embed="rId5"/>
          <a:stretch>
            <a:fillRect/>
          </a:stretch>
        </p:blipFill>
        <p:spPr>
          <a:xfrm>
            <a:off x="11076603" y="6559054"/>
            <a:ext cx="1071833" cy="255984"/>
          </a:xfrm>
          <a:prstGeom prst="rect">
            <a:avLst/>
          </a:prstGeom>
        </p:spPr>
      </p:pic>
      <p:sp>
        <p:nvSpPr>
          <p:cNvPr id="23" name="Shape 18"/>
          <p:cNvSpPr/>
          <p:nvPr/>
        </p:nvSpPr>
        <p:spPr>
          <a:xfrm>
            <a:off x="11065392" y="6460827"/>
            <a:ext cx="1054173" cy="350738"/>
          </a:xfrm>
          <a:prstGeom prst="rect">
            <a:avLst/>
          </a:prstGeom>
          <a:solidFill>
            <a:srgbClr val="17211F"/>
          </a:solidFill>
          <a:ln w="12700">
            <a:solidFill>
              <a:srgbClr val="17211F"/>
            </a:solidFill>
            <a:prstDash val="solid"/>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1076504" y="6558955"/>
            <a:ext cx="1071833" cy="255984"/>
          </a:xfrm>
          <a:prstGeom prst="rect">
            <a:avLst/>
          </a:prstGeom>
        </p:spPr>
      </p:pic>
      <p:pic>
        <p:nvPicPr>
          <p:cNvPr id="3" name="Image 1" descr="preencoded.png"/>
          <p:cNvPicPr>
            <a:picLocks noChangeAspect="1"/>
          </p:cNvPicPr>
          <p:nvPr/>
        </p:nvPicPr>
        <p:blipFill>
          <a:blip r:embed="rId4"/>
          <a:stretch>
            <a:fillRect/>
          </a:stretch>
        </p:blipFill>
        <p:spPr>
          <a:xfrm>
            <a:off x="11076206" y="6558855"/>
            <a:ext cx="1071833" cy="255984"/>
          </a:xfrm>
          <a:prstGeom prst="rect">
            <a:avLst/>
          </a:prstGeom>
        </p:spPr>
      </p:pic>
      <p:sp>
        <p:nvSpPr>
          <p:cNvPr id="4" name="Text 0"/>
          <p:cNvSpPr/>
          <p:nvPr/>
        </p:nvSpPr>
        <p:spPr>
          <a:xfrm>
            <a:off x="355591" y="406400"/>
            <a:ext cx="5219272" cy="167580"/>
          </a:xfrm>
          <a:prstGeom prst="rect">
            <a:avLst/>
          </a:prstGeom>
          <a:noFill/>
          <a:ln/>
        </p:spPr>
        <p:txBody>
          <a:bodyPr wrap="none" lIns="0" tIns="0" rIns="0" bIns="0" rtlCol="0" anchor="t"/>
          <a:lstStyle/>
          <a:p>
            <a:pPr marL="0" indent="0" algn="l">
              <a:lnSpc>
                <a:spcPct val="100000"/>
              </a:lnSpc>
              <a:buNone/>
            </a:pPr>
            <a:r>
              <a:rPr lang="en-US" sz="1100" kern="100" spc="110" dirty="0">
                <a:solidFill>
                  <a:srgbClr val="D99032"/>
                </a:solidFill>
                <a:latin typeface="Spline Sans Mono" pitchFamily="34" charset="0"/>
                <a:ea typeface="Spline Sans Mono" pitchFamily="34" charset="-122"/>
                <a:cs typeface="Spline Sans Mono" pitchFamily="34" charset="-120"/>
              </a:rPr>
              <a:t>PROPOSED HARDWARE PATH</a:t>
            </a:r>
            <a:endParaRPr lang="en-US" sz="1100" dirty="0"/>
          </a:p>
        </p:txBody>
      </p:sp>
      <p:sp>
        <p:nvSpPr>
          <p:cNvPr id="5" name="Text 1"/>
          <p:cNvSpPr/>
          <p:nvPr/>
        </p:nvSpPr>
        <p:spPr>
          <a:xfrm>
            <a:off x="355591" y="715248"/>
            <a:ext cx="3644511" cy="1942703"/>
          </a:xfrm>
          <a:prstGeom prst="rect">
            <a:avLst/>
          </a:prstGeom>
          <a:noFill/>
          <a:ln/>
        </p:spPr>
        <p:txBody>
          <a:bodyPr wrap="square" lIns="0" tIns="0" rIns="0" bIns="0" rtlCol="0" anchor="t">
            <a:normAutofit lnSpcReduction="10000"/>
          </a:bodyPr>
          <a:lstStyle/>
          <a:p>
            <a:pPr marL="0" indent="0" algn="l">
              <a:lnSpc>
                <a:spcPct val="75000"/>
              </a:lnSpc>
              <a:buNone/>
            </a:pPr>
            <a:r>
              <a:rPr lang="en-US" sz="3400" kern="100" spc="-34" dirty="0">
                <a:solidFill>
                  <a:srgbClr val="D99032"/>
                </a:solidFill>
                <a:latin typeface="Sora SemiBold" pitchFamily="34" charset="0"/>
                <a:ea typeface="Sora SemiBold" pitchFamily="34" charset="-122"/>
                <a:cs typeface="Sora SemiBold" pitchFamily="34" charset="-120"/>
              </a:rPr>
              <a:t>The proposed hardware path separates logic from motor power</a:t>
            </a:r>
            <a:endParaRPr lang="en-US" sz="3400" dirty="0"/>
          </a:p>
        </p:txBody>
      </p:sp>
      <p:sp>
        <p:nvSpPr>
          <p:cNvPr id="6" name="Text 2"/>
          <p:cNvSpPr/>
          <p:nvPr/>
        </p:nvSpPr>
        <p:spPr>
          <a:xfrm>
            <a:off x="355591" y="3271361"/>
            <a:ext cx="3758808" cy="626070"/>
          </a:xfrm>
          <a:prstGeom prst="rect">
            <a:avLst/>
          </a:prstGeom>
          <a:noFill/>
          <a:ln/>
        </p:spPr>
        <p:txBody>
          <a:bodyPr wrap="square" lIns="0" tIns="0" rIns="0" bIns="0" rtlCol="0" anchor="t">
            <a:normAutofit/>
          </a:bodyPr>
          <a:lstStyle/>
          <a:p>
            <a:pPr marL="0" indent="0" algn="l">
              <a:lnSpc>
                <a:spcPct val="121000"/>
              </a:lnSpc>
              <a:buNone/>
            </a:pPr>
            <a:r>
              <a:rPr lang="en-US" sz="1700" dirty="0">
                <a:solidFill>
                  <a:srgbClr val="87ABA4"/>
                </a:solidFill>
                <a:latin typeface="Public Sans" pitchFamily="34" charset="0"/>
                <a:ea typeface="Public Sans" pitchFamily="34" charset="-122"/>
                <a:cs typeface="Public Sans" pitchFamily="34" charset="-120"/>
              </a:rPr>
              <a:t>Signals move into the Arduino; motor current stays in the driver path.</a:t>
            </a:r>
            <a:endParaRPr lang="en-US" sz="1700" dirty="0"/>
          </a:p>
        </p:txBody>
      </p:sp>
      <p:sp>
        <p:nvSpPr>
          <p:cNvPr id="7" name="Shape 3"/>
          <p:cNvSpPr/>
          <p:nvPr/>
        </p:nvSpPr>
        <p:spPr>
          <a:xfrm>
            <a:off x="355591" y="4209752"/>
            <a:ext cx="1240501" cy="38100"/>
          </a:xfrm>
          <a:prstGeom prst="roundRect">
            <a:avLst>
              <a:gd name="adj" fmla="val 49999"/>
            </a:avLst>
          </a:prstGeom>
          <a:solidFill>
            <a:srgbClr val="D99032"/>
          </a:solidFill>
          <a:ln/>
        </p:spPr>
      </p:sp>
      <p:sp>
        <p:nvSpPr>
          <p:cNvPr id="8" name="Text 4"/>
          <p:cNvSpPr/>
          <p:nvPr/>
        </p:nvSpPr>
        <p:spPr>
          <a:xfrm>
            <a:off x="355591" y="4529312"/>
            <a:ext cx="5726267" cy="207169"/>
          </a:xfrm>
          <a:prstGeom prst="rect">
            <a:avLst/>
          </a:prstGeom>
          <a:noFill/>
          <a:ln/>
        </p:spPr>
        <p:txBody>
          <a:bodyPr wrap="none" lIns="0" tIns="0" rIns="0" bIns="0" rtlCol="0" anchor="t"/>
          <a:lstStyle/>
          <a:p>
            <a:pPr marL="0" indent="0" algn="l">
              <a:lnSpc>
                <a:spcPct val="113000"/>
              </a:lnSpc>
              <a:buNone/>
            </a:pPr>
            <a:r>
              <a:rPr lang="en-US" sz="1200" kern="100" spc="24" dirty="0">
                <a:solidFill>
                  <a:srgbClr val="939F99"/>
                </a:solidFill>
                <a:latin typeface="Spline Sans Mono" pitchFamily="34" charset="0"/>
                <a:ea typeface="Spline Sans Mono" pitchFamily="34" charset="-122"/>
                <a:cs typeface="Spline Sans Mono" pitchFamily="34" charset="-120"/>
              </a:rPr>
              <a:t>Proposed L298N-module configuration</a:t>
            </a:r>
            <a:endParaRPr lang="en-US" sz="1200" dirty="0"/>
          </a:p>
        </p:txBody>
      </p:sp>
      <p:sp>
        <p:nvSpPr>
          <p:cNvPr id="9" name="Shape 5"/>
          <p:cNvSpPr/>
          <p:nvPr/>
        </p:nvSpPr>
        <p:spPr>
          <a:xfrm>
            <a:off x="355591" y="4961632"/>
            <a:ext cx="1803355" cy="1624013"/>
          </a:xfrm>
          <a:prstGeom prst="roundRect">
            <a:avLst>
              <a:gd name="adj" fmla="val 1013"/>
            </a:avLst>
          </a:prstGeom>
          <a:noFill/>
          <a:ln w="25399">
            <a:solidFill>
              <a:srgbClr val="4F5957"/>
            </a:solidFill>
            <a:prstDash val="solid"/>
          </a:ln>
        </p:spPr>
      </p:sp>
      <p:sp>
        <p:nvSpPr>
          <p:cNvPr id="10" name="Text 6"/>
          <p:cNvSpPr/>
          <p:nvPr/>
        </p:nvSpPr>
        <p:spPr>
          <a:xfrm>
            <a:off x="533387" y="5139432"/>
            <a:ext cx="2730432" cy="167580"/>
          </a:xfrm>
          <a:prstGeom prst="rect">
            <a:avLst/>
          </a:prstGeom>
          <a:noFill/>
          <a:ln/>
        </p:spPr>
        <p:txBody>
          <a:bodyPr wrap="none" lIns="0" tIns="0" rIns="0" bIns="0" rtlCol="0" anchor="t"/>
          <a:lstStyle/>
          <a:p>
            <a:pPr marL="0" indent="0" algn="l">
              <a:lnSpc>
                <a:spcPct val="100000"/>
              </a:lnSpc>
              <a:buNone/>
            </a:pPr>
            <a:r>
              <a:rPr lang="en-US" sz="1100" kern="100" spc="110" dirty="0">
                <a:solidFill>
                  <a:srgbClr val="4E8F83"/>
                </a:solidFill>
                <a:latin typeface="Spline Sans Mono" pitchFamily="34" charset="0"/>
                <a:ea typeface="Spline Sans Mono" pitchFamily="34" charset="-122"/>
                <a:cs typeface="Spline Sans Mono" pitchFamily="34" charset="-120"/>
              </a:rPr>
              <a:t>SENSE</a:t>
            </a:r>
            <a:endParaRPr lang="en-US" sz="1100" dirty="0"/>
          </a:p>
        </p:txBody>
      </p:sp>
      <p:sp>
        <p:nvSpPr>
          <p:cNvPr id="11" name="Text 7"/>
          <p:cNvSpPr/>
          <p:nvPr/>
        </p:nvSpPr>
        <p:spPr>
          <a:xfrm>
            <a:off x="533387" y="5296892"/>
            <a:ext cx="1447764" cy="609600"/>
          </a:xfrm>
          <a:prstGeom prst="rect">
            <a:avLst/>
          </a:prstGeom>
          <a:noFill/>
          <a:ln/>
        </p:spPr>
        <p:txBody>
          <a:bodyPr wrap="square" lIns="0" tIns="0" rIns="0" bIns="0" rtlCol="0" anchor="t">
            <a:normAutofit/>
          </a:bodyPr>
          <a:lstStyle/>
          <a:p>
            <a:pPr marL="0" indent="0" algn="l">
              <a:lnSpc>
                <a:spcPct val="100000"/>
              </a:lnSpc>
              <a:buNone/>
            </a:pPr>
            <a:r>
              <a:rPr lang="en-US" sz="2000" dirty="0">
                <a:solidFill>
                  <a:srgbClr val="547871"/>
                </a:solidFill>
                <a:latin typeface="Public Sans SemiBold" pitchFamily="34" charset="0"/>
                <a:ea typeface="Public Sans SemiBold" pitchFamily="34" charset="-122"/>
                <a:cs typeface="Public Sans SemiBold" pitchFamily="34" charset="-120"/>
              </a:rPr>
              <a:t>Hall sensor + magnet</a:t>
            </a:r>
            <a:endParaRPr lang="en-US" sz="2000" dirty="0"/>
          </a:p>
        </p:txBody>
      </p:sp>
      <p:sp>
        <p:nvSpPr>
          <p:cNvPr id="12" name="Text 8"/>
          <p:cNvSpPr/>
          <p:nvPr/>
        </p:nvSpPr>
        <p:spPr>
          <a:xfrm>
            <a:off x="533387" y="6204323"/>
            <a:ext cx="2730432" cy="207169"/>
          </a:xfrm>
          <a:prstGeom prst="rect">
            <a:avLst/>
          </a:prstGeom>
          <a:noFill/>
          <a:ln/>
        </p:spPr>
        <p:txBody>
          <a:bodyPr wrap="none" lIns="0" tIns="0" rIns="0" bIns="0" rtlCol="0" anchor="t"/>
          <a:lstStyle/>
          <a:p>
            <a:pPr marL="0" indent="0" algn="l">
              <a:lnSpc>
                <a:spcPct val="113000"/>
              </a:lnSpc>
              <a:buNone/>
            </a:pPr>
            <a:r>
              <a:rPr lang="en-US" sz="1200" kern="100" spc="24" dirty="0">
                <a:solidFill>
                  <a:srgbClr val="939F99"/>
                </a:solidFill>
                <a:latin typeface="Spline Sans Mono" pitchFamily="34" charset="0"/>
                <a:ea typeface="Spline Sans Mono" pitchFamily="34" charset="-122"/>
                <a:cs typeface="Spline Sans Mono" pitchFamily="34" charset="-120"/>
              </a:rPr>
              <a:t>Pulse input</a:t>
            </a:r>
            <a:endParaRPr lang="en-US" sz="1200" dirty="0"/>
          </a:p>
        </p:txBody>
      </p:sp>
      <p:sp>
        <p:nvSpPr>
          <p:cNvPr id="13" name="Shape 9"/>
          <p:cNvSpPr/>
          <p:nvPr/>
        </p:nvSpPr>
        <p:spPr>
          <a:xfrm>
            <a:off x="2311342" y="4961632"/>
            <a:ext cx="1803355" cy="1624013"/>
          </a:xfrm>
          <a:prstGeom prst="roundRect">
            <a:avLst>
              <a:gd name="adj" fmla="val 1013"/>
            </a:avLst>
          </a:prstGeom>
          <a:noFill/>
          <a:ln w="25399">
            <a:solidFill>
              <a:srgbClr val="4F5957"/>
            </a:solidFill>
            <a:prstDash val="solid"/>
          </a:ln>
        </p:spPr>
      </p:sp>
      <p:sp>
        <p:nvSpPr>
          <p:cNvPr id="14" name="Text 10"/>
          <p:cNvSpPr/>
          <p:nvPr/>
        </p:nvSpPr>
        <p:spPr>
          <a:xfrm>
            <a:off x="2489138" y="5139432"/>
            <a:ext cx="2730432" cy="167580"/>
          </a:xfrm>
          <a:prstGeom prst="rect">
            <a:avLst/>
          </a:prstGeom>
          <a:noFill/>
          <a:ln/>
        </p:spPr>
        <p:txBody>
          <a:bodyPr wrap="none" lIns="0" tIns="0" rIns="0" bIns="0" rtlCol="0" anchor="t"/>
          <a:lstStyle/>
          <a:p>
            <a:pPr marL="0" indent="0" algn="l">
              <a:lnSpc>
                <a:spcPct val="100000"/>
              </a:lnSpc>
              <a:buNone/>
            </a:pPr>
            <a:r>
              <a:rPr lang="en-US" sz="1100" kern="100" spc="110" dirty="0">
                <a:solidFill>
                  <a:srgbClr val="4E8F83"/>
                </a:solidFill>
                <a:latin typeface="Spline Sans Mono" pitchFamily="34" charset="0"/>
                <a:ea typeface="Spline Sans Mono" pitchFamily="34" charset="-122"/>
                <a:cs typeface="Spline Sans Mono" pitchFamily="34" charset="-120"/>
              </a:rPr>
              <a:t>LOGIC</a:t>
            </a:r>
            <a:endParaRPr lang="en-US" sz="1100" dirty="0"/>
          </a:p>
        </p:txBody>
      </p:sp>
      <p:sp>
        <p:nvSpPr>
          <p:cNvPr id="15" name="Text 11"/>
          <p:cNvSpPr/>
          <p:nvPr/>
        </p:nvSpPr>
        <p:spPr>
          <a:xfrm>
            <a:off x="2489138" y="5408613"/>
            <a:ext cx="1333467" cy="304800"/>
          </a:xfrm>
          <a:prstGeom prst="rect">
            <a:avLst/>
          </a:prstGeom>
          <a:noFill/>
          <a:ln/>
        </p:spPr>
        <p:txBody>
          <a:bodyPr wrap="none" lIns="0" tIns="0" rIns="0" bIns="0" rtlCol="0" anchor="t"/>
          <a:lstStyle/>
          <a:p>
            <a:pPr marL="0" indent="0" algn="l">
              <a:lnSpc>
                <a:spcPct val="100000"/>
              </a:lnSpc>
              <a:buNone/>
            </a:pPr>
            <a:r>
              <a:rPr lang="en-US" sz="2000" dirty="0">
                <a:solidFill>
                  <a:srgbClr val="547871"/>
                </a:solidFill>
                <a:latin typeface="Public Sans SemiBold" pitchFamily="34" charset="0"/>
                <a:ea typeface="Public Sans SemiBold" pitchFamily="34" charset="-122"/>
                <a:cs typeface="Public Sans SemiBold" pitchFamily="34" charset="-120"/>
              </a:rPr>
              <a:t>Arduino</a:t>
            </a:r>
            <a:endParaRPr lang="en-US" sz="2000" dirty="0"/>
          </a:p>
        </p:txBody>
      </p:sp>
      <p:sp>
        <p:nvSpPr>
          <p:cNvPr id="16" name="Text 12"/>
          <p:cNvSpPr/>
          <p:nvPr/>
        </p:nvSpPr>
        <p:spPr>
          <a:xfrm>
            <a:off x="2489138" y="5856859"/>
            <a:ext cx="1447764" cy="414338"/>
          </a:xfrm>
          <a:prstGeom prst="rect">
            <a:avLst/>
          </a:prstGeom>
          <a:noFill/>
          <a:ln/>
        </p:spPr>
        <p:txBody>
          <a:bodyPr wrap="square" lIns="0" tIns="0" rIns="0" bIns="0" rtlCol="0" anchor="t">
            <a:normAutofit/>
          </a:bodyPr>
          <a:lstStyle/>
          <a:p>
            <a:pPr marL="0" indent="0" algn="l">
              <a:lnSpc>
                <a:spcPct val="113000"/>
              </a:lnSpc>
              <a:buNone/>
            </a:pPr>
            <a:r>
              <a:rPr lang="en-US" sz="1200" kern="100" spc="24" dirty="0">
                <a:solidFill>
                  <a:srgbClr val="939F99"/>
                </a:solidFill>
                <a:latin typeface="Spline Sans Mono" pitchFamily="34" charset="0"/>
                <a:ea typeface="Spline Sans Mono" pitchFamily="34" charset="-122"/>
                <a:cs typeface="Spline Sans Mono" pitchFamily="34" charset="-120"/>
              </a:rPr>
              <a:t>RPM, timeout, alarm</a:t>
            </a:r>
            <a:endParaRPr lang="en-US" sz="1200" dirty="0"/>
          </a:p>
        </p:txBody>
      </p:sp>
      <p:sp>
        <p:nvSpPr>
          <p:cNvPr id="17" name="Shape 13"/>
          <p:cNvSpPr/>
          <p:nvPr/>
        </p:nvSpPr>
        <p:spPr>
          <a:xfrm>
            <a:off x="4774684" y="279400"/>
            <a:ext cx="7111425" cy="1998067"/>
          </a:xfrm>
          <a:prstGeom prst="rect">
            <a:avLst/>
          </a:prstGeom>
          <a:noFill/>
          <a:ln w="25399">
            <a:solidFill>
              <a:srgbClr val="4F5957"/>
            </a:solidFill>
            <a:prstDash val="solid"/>
          </a:ln>
        </p:spPr>
      </p:sp>
      <p:sp>
        <p:nvSpPr>
          <p:cNvPr id="18" name="Text 14"/>
          <p:cNvSpPr/>
          <p:nvPr/>
        </p:nvSpPr>
        <p:spPr>
          <a:xfrm>
            <a:off x="4977879" y="482600"/>
            <a:ext cx="7213816" cy="167580"/>
          </a:xfrm>
          <a:prstGeom prst="rect">
            <a:avLst/>
          </a:prstGeom>
          <a:noFill/>
          <a:ln/>
        </p:spPr>
        <p:txBody>
          <a:bodyPr wrap="none" lIns="0" tIns="0" rIns="0" bIns="0" rtlCol="0" anchor="t"/>
          <a:lstStyle/>
          <a:p>
            <a:pPr marL="0" indent="0" algn="l">
              <a:lnSpc>
                <a:spcPct val="100000"/>
              </a:lnSpc>
              <a:buNone/>
            </a:pPr>
            <a:r>
              <a:rPr lang="en-US" sz="1100" kern="100" spc="110" dirty="0">
                <a:solidFill>
                  <a:srgbClr val="4E8F83"/>
                </a:solidFill>
                <a:latin typeface="Spline Sans Mono" pitchFamily="34" charset="0"/>
                <a:ea typeface="Spline Sans Mono" pitchFamily="34" charset="-122"/>
                <a:cs typeface="Spline Sans Mono" pitchFamily="34" charset="-120"/>
              </a:rPr>
              <a:t>SIGNAL PATH</a:t>
            </a:r>
            <a:endParaRPr lang="en-US" sz="1100" dirty="0"/>
          </a:p>
        </p:txBody>
      </p:sp>
      <p:sp>
        <p:nvSpPr>
          <p:cNvPr id="19" name="Text 15"/>
          <p:cNvSpPr/>
          <p:nvPr/>
        </p:nvSpPr>
        <p:spPr>
          <a:xfrm>
            <a:off x="4977879" y="878780"/>
            <a:ext cx="7213816" cy="294580"/>
          </a:xfrm>
          <a:prstGeom prst="rect">
            <a:avLst/>
          </a:prstGeom>
          <a:noFill/>
          <a:ln/>
        </p:spPr>
        <p:txBody>
          <a:bodyPr wrap="none" lIns="0" tIns="0" rIns="0" bIns="0" rtlCol="0" anchor="t"/>
          <a:lstStyle/>
          <a:p>
            <a:pPr marL="0" indent="0" algn="l">
              <a:lnSpc>
                <a:spcPct val="121000"/>
              </a:lnSpc>
              <a:buNone/>
            </a:pPr>
            <a:r>
              <a:rPr lang="en-US" sz="1600" b="1" dirty="0">
                <a:solidFill>
                  <a:srgbClr val="87ABA4"/>
                </a:solidFill>
                <a:latin typeface="Public Sans Bold" pitchFamily="34" charset="0"/>
                <a:ea typeface="Public Sans Bold" pitchFamily="34" charset="-122"/>
                <a:cs typeface="Public Sans Bold" pitchFamily="34" charset="-120"/>
              </a:rPr>
              <a:t>Hall sensor + magnet</a:t>
            </a:r>
            <a:r>
              <a:rPr lang="en-US" sz="1600" dirty="0">
                <a:solidFill>
                  <a:srgbClr val="87ABA4"/>
                </a:solidFill>
                <a:latin typeface="Public Sans" pitchFamily="34" charset="0"/>
                <a:ea typeface="Public Sans" pitchFamily="34" charset="-122"/>
                <a:cs typeface="Public Sans" pitchFamily="34" charset="-120"/>
              </a:rPr>
              <a:t>  →  </a:t>
            </a:r>
            <a:r>
              <a:rPr lang="en-US" sz="1600" b="1" dirty="0">
                <a:solidFill>
                  <a:srgbClr val="87ABA4"/>
                </a:solidFill>
                <a:latin typeface="Public Sans Bold" pitchFamily="34" charset="0"/>
                <a:ea typeface="Public Sans Bold" pitchFamily="34" charset="-122"/>
                <a:cs typeface="Public Sans Bold" pitchFamily="34" charset="-120"/>
              </a:rPr>
              <a:t>Arduino</a:t>
            </a:r>
            <a:r>
              <a:rPr lang="en-US" sz="1600" dirty="0">
                <a:solidFill>
                  <a:srgbClr val="87ABA4"/>
                </a:solidFill>
                <a:latin typeface="Public Sans" pitchFamily="34" charset="0"/>
                <a:ea typeface="Public Sans" pitchFamily="34" charset="-122"/>
                <a:cs typeface="Public Sans" pitchFamily="34" charset="-120"/>
              </a:rPr>
              <a:t>  →  </a:t>
            </a:r>
            <a:r>
              <a:rPr lang="en-US" sz="1600" b="1" dirty="0">
                <a:solidFill>
                  <a:srgbClr val="87ABA4"/>
                </a:solidFill>
                <a:latin typeface="Public Sans Bold" pitchFamily="34" charset="0"/>
                <a:ea typeface="Public Sans Bold" pitchFamily="34" charset="-122"/>
                <a:cs typeface="Public Sans Bold" pitchFamily="34" charset="-120"/>
              </a:rPr>
              <a:t>ESP32 dashboard</a:t>
            </a:r>
            <a:endParaRPr lang="en-US" sz="1600" dirty="0"/>
          </a:p>
        </p:txBody>
      </p:sp>
      <p:sp>
        <p:nvSpPr>
          <p:cNvPr id="20" name="Text 16"/>
          <p:cNvSpPr/>
          <p:nvPr/>
        </p:nvSpPr>
        <p:spPr>
          <a:xfrm>
            <a:off x="4977879" y="1404021"/>
            <a:ext cx="7213816" cy="207169"/>
          </a:xfrm>
          <a:prstGeom prst="rect">
            <a:avLst/>
          </a:prstGeom>
          <a:noFill/>
          <a:ln/>
        </p:spPr>
        <p:txBody>
          <a:bodyPr wrap="none" lIns="0" tIns="0" rIns="0" bIns="0" rtlCol="0" anchor="t"/>
          <a:lstStyle/>
          <a:p>
            <a:pPr marL="0" indent="0" algn="l">
              <a:lnSpc>
                <a:spcPct val="113000"/>
              </a:lnSpc>
              <a:buNone/>
            </a:pPr>
            <a:r>
              <a:rPr lang="en-US" sz="1200" kern="100" spc="24" dirty="0">
                <a:solidFill>
                  <a:srgbClr val="939F99"/>
                </a:solidFill>
                <a:latin typeface="Spline Sans Mono" pitchFamily="34" charset="0"/>
                <a:ea typeface="Spline Sans Mono" pitchFamily="34" charset="-122"/>
                <a:cs typeface="Spline Sans Mono" pitchFamily="34" charset="-120"/>
              </a:rPr>
              <a:t>Low-voltage pulse and status signals</a:t>
            </a:r>
            <a:endParaRPr lang="en-US" sz="1200" dirty="0"/>
          </a:p>
        </p:txBody>
      </p:sp>
      <p:sp>
        <p:nvSpPr>
          <p:cNvPr id="21" name="Shape 17"/>
          <p:cNvSpPr/>
          <p:nvPr/>
        </p:nvSpPr>
        <p:spPr>
          <a:xfrm>
            <a:off x="4774684" y="2429570"/>
            <a:ext cx="3479415" cy="1998166"/>
          </a:xfrm>
          <a:prstGeom prst="rect">
            <a:avLst/>
          </a:prstGeom>
          <a:solidFill>
            <a:srgbClr val="4E8F83"/>
          </a:solidFill>
          <a:ln/>
        </p:spPr>
      </p:sp>
      <p:sp>
        <p:nvSpPr>
          <p:cNvPr id="22" name="Text 18"/>
          <p:cNvSpPr/>
          <p:nvPr/>
        </p:nvSpPr>
        <p:spPr>
          <a:xfrm>
            <a:off x="4952479" y="2607370"/>
            <a:ext cx="4406492" cy="167580"/>
          </a:xfrm>
          <a:prstGeom prst="rect">
            <a:avLst/>
          </a:prstGeom>
          <a:noFill/>
          <a:ln/>
        </p:spPr>
        <p:txBody>
          <a:bodyPr wrap="none" lIns="0" tIns="0" rIns="0" bIns="0" rtlCol="0" anchor="t"/>
          <a:lstStyle/>
          <a:p>
            <a:pPr marL="0" indent="0" algn="l">
              <a:lnSpc>
                <a:spcPct val="100000"/>
              </a:lnSpc>
              <a:buNone/>
            </a:pPr>
            <a:r>
              <a:rPr lang="en-US" sz="1100" kern="100" spc="110" dirty="0">
                <a:solidFill>
                  <a:srgbClr val="FFFFFF"/>
                </a:solidFill>
                <a:latin typeface="Spline Sans Mono" pitchFamily="34" charset="0"/>
                <a:ea typeface="Spline Sans Mono" pitchFamily="34" charset="-122"/>
                <a:cs typeface="Spline Sans Mono" pitchFamily="34" charset="-120"/>
              </a:rPr>
              <a:t>MOTOR POWER</a:t>
            </a:r>
            <a:endParaRPr lang="en-US" sz="1100" dirty="0"/>
          </a:p>
        </p:txBody>
      </p:sp>
      <p:sp>
        <p:nvSpPr>
          <p:cNvPr id="23" name="Text 19"/>
          <p:cNvSpPr/>
          <p:nvPr/>
        </p:nvSpPr>
        <p:spPr>
          <a:xfrm>
            <a:off x="4952479" y="2876748"/>
            <a:ext cx="3009527" cy="304800"/>
          </a:xfrm>
          <a:prstGeom prst="rect">
            <a:avLst/>
          </a:prstGeom>
          <a:noFill/>
          <a:ln/>
        </p:spPr>
        <p:txBody>
          <a:bodyPr wrap="none" lIns="0" tIns="0" rIns="0" bIns="0" rtlCol="0" anchor="t"/>
          <a:lstStyle/>
          <a:p>
            <a:pPr marL="0" indent="0" algn="l">
              <a:lnSpc>
                <a:spcPct val="100000"/>
              </a:lnSpc>
              <a:buNone/>
            </a:pPr>
            <a:r>
              <a:rPr lang="en-US" sz="2000" dirty="0">
                <a:solidFill>
                  <a:srgbClr val="FFFFFF"/>
                </a:solidFill>
                <a:latin typeface="Public Sans SemiBold" pitchFamily="34" charset="0"/>
                <a:ea typeface="Public Sans SemiBold" pitchFamily="34" charset="-122"/>
                <a:cs typeface="Public Sans SemiBold" pitchFamily="34" charset="-120"/>
              </a:rPr>
              <a:t>L298N driver</a:t>
            </a:r>
            <a:endParaRPr lang="en-US" sz="2000" dirty="0"/>
          </a:p>
        </p:txBody>
      </p:sp>
      <p:sp>
        <p:nvSpPr>
          <p:cNvPr id="24" name="Text 20"/>
          <p:cNvSpPr/>
          <p:nvPr/>
        </p:nvSpPr>
        <p:spPr>
          <a:xfrm>
            <a:off x="4952479" y="3367659"/>
            <a:ext cx="4406492" cy="207169"/>
          </a:xfrm>
          <a:prstGeom prst="rect">
            <a:avLst/>
          </a:prstGeom>
          <a:noFill/>
          <a:ln/>
        </p:spPr>
        <p:txBody>
          <a:bodyPr wrap="none" lIns="0" tIns="0" rIns="0" bIns="0" rtlCol="0" anchor="t"/>
          <a:lstStyle/>
          <a:p>
            <a:pPr marL="0" indent="0" algn="l">
              <a:lnSpc>
                <a:spcPct val="113000"/>
              </a:lnSpc>
              <a:buNone/>
            </a:pPr>
            <a:r>
              <a:rPr lang="en-US" sz="1200" kern="100" spc="24" dirty="0">
                <a:solidFill>
                  <a:srgbClr val="FFFFFF"/>
                </a:solidFill>
                <a:latin typeface="Spline Sans Mono" pitchFamily="34" charset="0"/>
                <a:ea typeface="Spline Sans Mono" pitchFamily="34" charset="-122"/>
                <a:cs typeface="Spline Sans Mono" pitchFamily="34" charset="-120"/>
              </a:rPr>
              <a:t>Switches motor current</a:t>
            </a:r>
            <a:endParaRPr lang="en-US" sz="1200" dirty="0"/>
          </a:p>
        </p:txBody>
      </p:sp>
      <p:sp>
        <p:nvSpPr>
          <p:cNvPr id="25" name="Shape 21"/>
          <p:cNvSpPr/>
          <p:nvPr/>
        </p:nvSpPr>
        <p:spPr>
          <a:xfrm>
            <a:off x="8406594" y="2429570"/>
            <a:ext cx="3479415" cy="1998166"/>
          </a:xfrm>
          <a:prstGeom prst="rect">
            <a:avLst/>
          </a:prstGeom>
          <a:noFill/>
          <a:ln w="25399">
            <a:solidFill>
              <a:srgbClr val="4F5957"/>
            </a:solidFill>
            <a:prstDash val="solid"/>
          </a:ln>
        </p:spPr>
      </p:sp>
      <p:sp>
        <p:nvSpPr>
          <p:cNvPr id="26" name="Text 22"/>
          <p:cNvSpPr/>
          <p:nvPr/>
        </p:nvSpPr>
        <p:spPr>
          <a:xfrm>
            <a:off x="8609789" y="2632770"/>
            <a:ext cx="3581906" cy="167580"/>
          </a:xfrm>
          <a:prstGeom prst="rect">
            <a:avLst/>
          </a:prstGeom>
          <a:noFill/>
          <a:ln/>
        </p:spPr>
        <p:txBody>
          <a:bodyPr wrap="none" lIns="0" tIns="0" rIns="0" bIns="0" rtlCol="0" anchor="t"/>
          <a:lstStyle/>
          <a:p>
            <a:pPr marL="0" indent="0" algn="l">
              <a:lnSpc>
                <a:spcPct val="100000"/>
              </a:lnSpc>
              <a:buNone/>
            </a:pPr>
            <a:r>
              <a:rPr lang="en-US" sz="1100" kern="100" spc="110" dirty="0">
                <a:solidFill>
                  <a:srgbClr val="4E8F83"/>
                </a:solidFill>
                <a:latin typeface="Spline Sans Mono" pitchFamily="34" charset="0"/>
                <a:ea typeface="Spline Sans Mono" pitchFamily="34" charset="-122"/>
                <a:cs typeface="Spline Sans Mono" pitchFamily="34" charset="-120"/>
              </a:rPr>
              <a:t>OUTPUT</a:t>
            </a:r>
            <a:endParaRPr lang="en-US" sz="1100" dirty="0"/>
          </a:p>
        </p:txBody>
      </p:sp>
      <p:sp>
        <p:nvSpPr>
          <p:cNvPr id="27" name="Text 23"/>
          <p:cNvSpPr/>
          <p:nvPr/>
        </p:nvSpPr>
        <p:spPr>
          <a:xfrm>
            <a:off x="8609789" y="2902148"/>
            <a:ext cx="2958728" cy="304800"/>
          </a:xfrm>
          <a:prstGeom prst="rect">
            <a:avLst/>
          </a:prstGeom>
          <a:noFill/>
          <a:ln/>
        </p:spPr>
        <p:txBody>
          <a:bodyPr wrap="none" lIns="0" tIns="0" rIns="0" bIns="0" rtlCol="0" anchor="t"/>
          <a:lstStyle/>
          <a:p>
            <a:pPr marL="0" indent="0" algn="l">
              <a:lnSpc>
                <a:spcPct val="100000"/>
              </a:lnSpc>
              <a:buNone/>
            </a:pPr>
            <a:r>
              <a:rPr lang="en-US" sz="2000" dirty="0">
                <a:solidFill>
                  <a:srgbClr val="547871"/>
                </a:solidFill>
                <a:latin typeface="Public Sans SemiBold" pitchFamily="34" charset="0"/>
                <a:ea typeface="Public Sans SemiBold" pitchFamily="34" charset="-122"/>
                <a:cs typeface="Public Sans SemiBold" pitchFamily="34" charset="-120"/>
              </a:rPr>
              <a:t>DC motor</a:t>
            </a:r>
            <a:endParaRPr lang="en-US" sz="2000" dirty="0"/>
          </a:p>
        </p:txBody>
      </p:sp>
      <p:sp>
        <p:nvSpPr>
          <p:cNvPr id="28" name="Text 24"/>
          <p:cNvSpPr/>
          <p:nvPr/>
        </p:nvSpPr>
        <p:spPr>
          <a:xfrm>
            <a:off x="8609789" y="3393059"/>
            <a:ext cx="3581906" cy="207169"/>
          </a:xfrm>
          <a:prstGeom prst="rect">
            <a:avLst/>
          </a:prstGeom>
          <a:noFill/>
          <a:ln/>
        </p:spPr>
        <p:txBody>
          <a:bodyPr wrap="none" lIns="0" tIns="0" rIns="0" bIns="0" rtlCol="0" anchor="t"/>
          <a:lstStyle/>
          <a:p>
            <a:pPr marL="0" indent="0" algn="l">
              <a:lnSpc>
                <a:spcPct val="113000"/>
              </a:lnSpc>
              <a:buNone/>
            </a:pPr>
            <a:r>
              <a:rPr lang="en-US" sz="1200" kern="100" spc="24" dirty="0">
                <a:solidFill>
                  <a:srgbClr val="939F99"/>
                </a:solidFill>
                <a:latin typeface="Spline Sans Mono" pitchFamily="34" charset="0"/>
                <a:ea typeface="Spline Sans Mono" pitchFamily="34" charset="-122"/>
                <a:cs typeface="Spline Sans Mono" pitchFamily="34" charset="-120"/>
              </a:rPr>
              <a:t>Protected load</a:t>
            </a:r>
            <a:endParaRPr lang="en-US" sz="1200" dirty="0"/>
          </a:p>
        </p:txBody>
      </p:sp>
      <p:sp>
        <p:nvSpPr>
          <p:cNvPr id="29" name="Shape 25"/>
          <p:cNvSpPr/>
          <p:nvPr/>
        </p:nvSpPr>
        <p:spPr>
          <a:xfrm>
            <a:off x="4774684" y="4580334"/>
            <a:ext cx="7111425" cy="1998067"/>
          </a:xfrm>
          <a:prstGeom prst="rect">
            <a:avLst/>
          </a:prstGeom>
          <a:noFill/>
          <a:ln w="25399">
            <a:solidFill>
              <a:srgbClr val="4F5957"/>
            </a:solidFill>
            <a:prstDash val="solid"/>
          </a:ln>
        </p:spPr>
      </p:sp>
      <p:sp>
        <p:nvSpPr>
          <p:cNvPr id="30" name="Text 26"/>
          <p:cNvSpPr/>
          <p:nvPr/>
        </p:nvSpPr>
        <p:spPr>
          <a:xfrm>
            <a:off x="4977879" y="4783534"/>
            <a:ext cx="7213816" cy="167580"/>
          </a:xfrm>
          <a:prstGeom prst="rect">
            <a:avLst/>
          </a:prstGeom>
          <a:noFill/>
          <a:ln/>
        </p:spPr>
        <p:txBody>
          <a:bodyPr wrap="none" lIns="0" tIns="0" rIns="0" bIns="0" rtlCol="0" anchor="t"/>
          <a:lstStyle/>
          <a:p>
            <a:pPr marL="0" indent="0" algn="l">
              <a:lnSpc>
                <a:spcPct val="100000"/>
              </a:lnSpc>
              <a:buNone/>
            </a:pPr>
            <a:r>
              <a:rPr lang="en-US" sz="1100" kern="100" spc="110" dirty="0">
                <a:solidFill>
                  <a:srgbClr val="4E8F83"/>
                </a:solidFill>
                <a:latin typeface="Spline Sans Mono" pitchFamily="34" charset="0"/>
                <a:ea typeface="Spline Sans Mono" pitchFamily="34" charset="-122"/>
                <a:cs typeface="Spline Sans Mono" pitchFamily="34" charset="-120"/>
              </a:rPr>
              <a:t>POWER BOUNDARY</a:t>
            </a:r>
            <a:endParaRPr lang="en-US" sz="1100" dirty="0"/>
          </a:p>
        </p:txBody>
      </p:sp>
      <p:sp>
        <p:nvSpPr>
          <p:cNvPr id="31" name="Text 27"/>
          <p:cNvSpPr/>
          <p:nvPr/>
        </p:nvSpPr>
        <p:spPr>
          <a:xfrm>
            <a:off x="4977879" y="5179814"/>
            <a:ext cx="7213816" cy="294580"/>
          </a:xfrm>
          <a:prstGeom prst="rect">
            <a:avLst/>
          </a:prstGeom>
          <a:noFill/>
          <a:ln/>
        </p:spPr>
        <p:txBody>
          <a:bodyPr wrap="none" lIns="0" tIns="0" rIns="0" bIns="0" rtlCol="0" anchor="t"/>
          <a:lstStyle/>
          <a:p>
            <a:pPr marL="0" indent="0" algn="l">
              <a:lnSpc>
                <a:spcPct val="121000"/>
              </a:lnSpc>
              <a:buNone/>
            </a:pPr>
            <a:r>
              <a:rPr lang="en-US" sz="1600" b="1" dirty="0">
                <a:solidFill>
                  <a:srgbClr val="87ABA4"/>
                </a:solidFill>
                <a:latin typeface="Public Sans Bold" pitchFamily="34" charset="0"/>
                <a:ea typeface="Public Sans Bold" pitchFamily="34" charset="-122"/>
                <a:cs typeface="Public Sans Bold" pitchFamily="34" charset="-120"/>
              </a:rPr>
              <a:t>Motor supply</a:t>
            </a:r>
            <a:r>
              <a:rPr lang="en-US" sz="1600" dirty="0">
                <a:solidFill>
                  <a:srgbClr val="87ABA4"/>
                </a:solidFill>
                <a:latin typeface="Public Sans" pitchFamily="34" charset="0"/>
                <a:ea typeface="Public Sans" pitchFamily="34" charset="-122"/>
                <a:cs typeface="Public Sans" pitchFamily="34" charset="-120"/>
              </a:rPr>
              <a:t> → L298N → motor</a:t>
            </a:r>
            <a:endParaRPr lang="en-US" sz="1600" dirty="0"/>
          </a:p>
        </p:txBody>
      </p:sp>
      <p:sp>
        <p:nvSpPr>
          <p:cNvPr id="32" name="Text 28"/>
          <p:cNvSpPr/>
          <p:nvPr/>
        </p:nvSpPr>
        <p:spPr>
          <a:xfrm>
            <a:off x="4977879" y="5704955"/>
            <a:ext cx="7213816" cy="207169"/>
          </a:xfrm>
          <a:prstGeom prst="rect">
            <a:avLst/>
          </a:prstGeom>
          <a:noFill/>
          <a:ln/>
        </p:spPr>
        <p:txBody>
          <a:bodyPr wrap="none" lIns="0" tIns="0" rIns="0" bIns="0" rtlCol="0" anchor="t"/>
          <a:lstStyle/>
          <a:p>
            <a:pPr marL="0" indent="0" algn="l">
              <a:lnSpc>
                <a:spcPct val="113000"/>
              </a:lnSpc>
              <a:buNone/>
            </a:pPr>
            <a:r>
              <a:rPr lang="en-US" sz="1200" kern="100" spc="24" dirty="0">
                <a:solidFill>
                  <a:srgbClr val="939F99"/>
                </a:solidFill>
                <a:latin typeface="Spline Sans Mono" pitchFamily="34" charset="0"/>
                <a:ea typeface="Spline Sans Mono" pitchFamily="34" charset="-122"/>
                <a:cs typeface="Spline Sans Mono" pitchFamily="34" charset="-120"/>
              </a:rPr>
              <a:t>Keep motor current out of the Arduino logic path.</a:t>
            </a:r>
            <a:endParaRPr lang="en-US" sz="1200" dirty="0"/>
          </a:p>
        </p:txBody>
      </p:sp>
      <p:sp>
        <p:nvSpPr>
          <p:cNvPr id="33" name="Shape 29"/>
          <p:cNvSpPr/>
          <p:nvPr/>
        </p:nvSpPr>
        <p:spPr>
          <a:xfrm>
            <a:off x="4463641" y="0"/>
            <a:ext cx="12700" cy="6858000"/>
          </a:xfrm>
          <a:prstGeom prst="rect">
            <a:avLst/>
          </a:prstGeom>
          <a:solidFill>
            <a:srgbClr val="4E8F83"/>
          </a:solidFill>
          <a:ln/>
        </p:spPr>
      </p:sp>
      <p:sp>
        <p:nvSpPr>
          <p:cNvPr id="34" name="Text 30"/>
          <p:cNvSpPr/>
          <p:nvPr/>
        </p:nvSpPr>
        <p:spPr>
          <a:xfrm>
            <a:off x="11850391" y="6464300"/>
            <a:ext cx="341304" cy="184150"/>
          </a:xfrm>
          <a:prstGeom prst="rect">
            <a:avLst/>
          </a:prstGeom>
          <a:noFill/>
          <a:ln/>
        </p:spPr>
        <p:txBody>
          <a:bodyPr wrap="none" lIns="0" tIns="0" rIns="0" bIns="0" rtlCol="0" anchor="t"/>
          <a:lstStyle/>
          <a:p>
            <a:pPr marL="0" indent="0" algn="l">
              <a:lnSpc>
                <a:spcPct val="121000"/>
              </a:lnSpc>
              <a:buNone/>
            </a:pPr>
            <a:r>
              <a:rPr lang="en-US" sz="1000" dirty="0">
                <a:solidFill>
                  <a:srgbClr val="87ABA4"/>
                </a:solidFill>
                <a:latin typeface="Public Sans" pitchFamily="34" charset="0"/>
                <a:ea typeface="Public Sans" pitchFamily="34" charset="-122"/>
                <a:cs typeface="Public Sans" pitchFamily="34" charset="-120"/>
              </a:rPr>
              <a:t>08</a:t>
            </a:r>
            <a:endParaRPr lang="en-US" sz="1000" dirty="0"/>
          </a:p>
        </p:txBody>
      </p:sp>
      <p:sp>
        <p:nvSpPr>
          <p:cNvPr id="35" name="Shape 31"/>
          <p:cNvSpPr/>
          <p:nvPr/>
        </p:nvSpPr>
        <p:spPr>
          <a:xfrm>
            <a:off x="11093470" y="6578302"/>
            <a:ext cx="1046930" cy="203200"/>
          </a:xfrm>
          <a:prstGeom prst="rect">
            <a:avLst/>
          </a:prstGeom>
          <a:solidFill>
            <a:srgbClr val="17211F"/>
          </a:solidFill>
          <a:ln w="12700">
            <a:solidFill>
              <a:srgbClr val="17211F"/>
            </a:solidFill>
            <a:prstDash val="solid"/>
          </a:ln>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1076504" y="6558955"/>
            <a:ext cx="1071833" cy="255984"/>
          </a:xfrm>
          <a:prstGeom prst="rect">
            <a:avLst/>
          </a:prstGeom>
        </p:spPr>
      </p:pic>
      <p:pic>
        <p:nvPicPr>
          <p:cNvPr id="3" name="Image 1" descr="preencoded.png"/>
          <p:cNvPicPr>
            <a:picLocks noChangeAspect="1"/>
          </p:cNvPicPr>
          <p:nvPr/>
        </p:nvPicPr>
        <p:blipFill>
          <a:blip r:embed="rId4"/>
          <a:stretch>
            <a:fillRect/>
          </a:stretch>
        </p:blipFill>
        <p:spPr>
          <a:xfrm>
            <a:off x="11076206" y="6558855"/>
            <a:ext cx="1071833" cy="255984"/>
          </a:xfrm>
          <a:prstGeom prst="rect">
            <a:avLst/>
          </a:prstGeom>
        </p:spPr>
      </p:pic>
      <p:sp>
        <p:nvSpPr>
          <p:cNvPr id="4" name="Shape 0"/>
          <p:cNvSpPr/>
          <p:nvPr/>
        </p:nvSpPr>
        <p:spPr>
          <a:xfrm>
            <a:off x="6247847" y="4211439"/>
            <a:ext cx="5587463" cy="2626320"/>
          </a:xfrm>
          <a:prstGeom prst="roundRect">
            <a:avLst>
              <a:gd name="adj" fmla="val 627"/>
            </a:avLst>
          </a:prstGeom>
          <a:noFill/>
          <a:ln w="19050">
            <a:solidFill>
              <a:srgbClr val="4F5957"/>
            </a:solidFill>
            <a:prstDash val="solid"/>
          </a:ln>
        </p:spPr>
      </p:sp>
      <p:sp>
        <p:nvSpPr>
          <p:cNvPr id="5" name="Shape 1"/>
          <p:cNvSpPr/>
          <p:nvPr/>
        </p:nvSpPr>
        <p:spPr>
          <a:xfrm>
            <a:off x="6419293" y="4382889"/>
            <a:ext cx="5244572" cy="1141710"/>
          </a:xfrm>
          <a:prstGeom prst="rect">
            <a:avLst/>
          </a:prstGeom>
          <a:solidFill>
            <a:srgbClr val="26332F"/>
          </a:solidFill>
          <a:ln/>
        </p:spPr>
      </p:sp>
      <p:sp>
        <p:nvSpPr>
          <p:cNvPr id="6" name="Text 2"/>
          <p:cNvSpPr/>
          <p:nvPr/>
        </p:nvSpPr>
        <p:spPr>
          <a:xfrm>
            <a:off x="6980162" y="4644347"/>
            <a:ext cx="5211533" cy="121841"/>
          </a:xfrm>
          <a:prstGeom prst="rect">
            <a:avLst/>
          </a:prstGeom>
          <a:noFill/>
          <a:ln/>
        </p:spPr>
        <p:txBody>
          <a:bodyPr wrap="none" lIns="0" tIns="0" rIns="0" bIns="0" rtlCol="0" anchor="t"/>
          <a:lstStyle/>
          <a:p>
            <a:pPr marL="0" indent="0" algn="l">
              <a:lnSpc>
                <a:spcPct val="100000"/>
              </a:lnSpc>
              <a:buNone/>
            </a:pPr>
            <a:r>
              <a:rPr lang="en-US" sz="800" kern="100" spc="81" dirty="0">
                <a:solidFill>
                  <a:srgbClr val="87ABA4"/>
                </a:solidFill>
                <a:latin typeface="Spline Sans Mono" pitchFamily="34" charset="0"/>
                <a:ea typeface="Spline Sans Mono" pitchFamily="34" charset="-122"/>
                <a:cs typeface="Spline Sans Mono" pitchFamily="34" charset="-120"/>
              </a:rPr>
              <a:t>PHOTO SPACE</a:t>
            </a:r>
            <a:endParaRPr lang="en-US" sz="800" dirty="0"/>
          </a:p>
        </p:txBody>
      </p:sp>
      <p:sp>
        <p:nvSpPr>
          <p:cNvPr id="7" name="Text 3"/>
          <p:cNvSpPr/>
          <p:nvPr/>
        </p:nvSpPr>
        <p:spPr>
          <a:xfrm>
            <a:off x="6980162" y="4844078"/>
            <a:ext cx="5211533" cy="220960"/>
          </a:xfrm>
          <a:prstGeom prst="rect">
            <a:avLst/>
          </a:prstGeom>
          <a:noFill/>
          <a:ln/>
        </p:spPr>
        <p:txBody>
          <a:bodyPr wrap="none" lIns="0" tIns="0" rIns="0" bIns="0" rtlCol="0" anchor="t"/>
          <a:lstStyle/>
          <a:p>
            <a:pPr marL="0" indent="0" algn="l">
              <a:lnSpc>
                <a:spcPct val="100000"/>
              </a:lnSpc>
              <a:buNone/>
            </a:pPr>
            <a:r>
              <a:rPr lang="en-US" sz="1450" dirty="0">
                <a:solidFill>
                  <a:srgbClr val="87ABA4"/>
                </a:solidFill>
                <a:latin typeface="Public Sans SemiBold" pitchFamily="34" charset="0"/>
                <a:ea typeface="Public Sans SemiBold" pitchFamily="34" charset="-122"/>
                <a:cs typeface="Public Sans SemiBold" pitchFamily="34" charset="-120"/>
              </a:rPr>
              <a:t>ADD PROJECT IMAGE</a:t>
            </a:r>
            <a:endParaRPr lang="en-US" sz="1450" dirty="0"/>
          </a:p>
        </p:txBody>
      </p:sp>
      <p:sp>
        <p:nvSpPr>
          <p:cNvPr id="8" name="Text 4"/>
          <p:cNvSpPr/>
          <p:nvPr/>
        </p:nvSpPr>
        <p:spPr>
          <a:xfrm>
            <a:off x="6980162" y="5152958"/>
            <a:ext cx="5211533" cy="155377"/>
          </a:xfrm>
          <a:prstGeom prst="rect">
            <a:avLst/>
          </a:prstGeom>
          <a:noFill/>
          <a:ln/>
        </p:spPr>
        <p:txBody>
          <a:bodyPr wrap="none" lIns="0" tIns="0" rIns="0" bIns="0" rtlCol="0" anchor="t"/>
          <a:lstStyle/>
          <a:p>
            <a:pPr marL="0" indent="0" algn="l">
              <a:lnSpc>
                <a:spcPct val="113000"/>
              </a:lnSpc>
              <a:buNone/>
            </a:pPr>
            <a:r>
              <a:rPr lang="en-US" sz="900" kern="100" spc="18" dirty="0">
                <a:solidFill>
                  <a:srgbClr val="87ABA4"/>
                </a:solidFill>
                <a:latin typeface="Spline Sans Mono" pitchFamily="34" charset="0"/>
                <a:ea typeface="Spline Sans Mono" pitchFamily="34" charset="-122"/>
                <a:cs typeface="Spline Sans Mono" pitchFamily="34" charset="-120"/>
              </a:rPr>
              <a:t>ESP32 dashboard verification</a:t>
            </a:r>
            <a:endParaRPr lang="en-US" sz="900" dirty="0"/>
          </a:p>
        </p:txBody>
      </p:sp>
      <p:sp>
        <p:nvSpPr>
          <p:cNvPr id="9" name="Shape 5"/>
          <p:cNvSpPr/>
          <p:nvPr/>
        </p:nvSpPr>
        <p:spPr>
          <a:xfrm>
            <a:off x="11177308" y="6461125"/>
            <a:ext cx="962596" cy="303510"/>
          </a:xfrm>
          <a:prstGeom prst="rect">
            <a:avLst/>
          </a:prstGeom>
          <a:solidFill>
            <a:srgbClr val="17211F"/>
          </a:solidFill>
          <a:ln w="12700">
            <a:solidFill>
              <a:srgbClr val="17211F"/>
            </a:solidFill>
            <a:prstDash val="solid"/>
          </a:ln>
        </p:spPr>
      </p:sp>
      <p:sp>
        <p:nvSpPr>
          <p:cNvPr id="10" name="Shape 6"/>
          <p:cNvSpPr/>
          <p:nvPr/>
        </p:nvSpPr>
        <p:spPr>
          <a:xfrm>
            <a:off x="11037413" y="6559252"/>
            <a:ext cx="895526" cy="205184"/>
          </a:xfrm>
          <a:prstGeom prst="rect">
            <a:avLst/>
          </a:prstGeom>
          <a:solidFill>
            <a:srgbClr val="17211F"/>
          </a:solidFill>
          <a:ln w="12700">
            <a:solidFill>
              <a:srgbClr val="17211F"/>
            </a:solidFill>
            <a:prstDash val="solid"/>
          </a:ln>
        </p:spPr>
      </p:sp>
      <p:sp>
        <p:nvSpPr>
          <p:cNvPr id="11" name="Text 7"/>
          <p:cNvSpPr/>
          <p:nvPr/>
        </p:nvSpPr>
        <p:spPr>
          <a:xfrm>
            <a:off x="355591" y="305908"/>
            <a:ext cx="11836104" cy="121841"/>
          </a:xfrm>
          <a:prstGeom prst="rect">
            <a:avLst/>
          </a:prstGeom>
          <a:noFill/>
          <a:ln/>
        </p:spPr>
        <p:txBody>
          <a:bodyPr wrap="none" lIns="0" tIns="0" rIns="0" bIns="0" rtlCol="0" anchor="t"/>
          <a:lstStyle/>
          <a:p>
            <a:pPr marL="0" indent="0" algn="l">
              <a:lnSpc>
                <a:spcPct val="100000"/>
              </a:lnSpc>
              <a:buNone/>
            </a:pPr>
            <a:r>
              <a:rPr lang="en-US" sz="800" kern="100" spc="81" dirty="0">
                <a:solidFill>
                  <a:srgbClr val="D99032"/>
                </a:solidFill>
                <a:latin typeface="Spline Sans Mono" pitchFamily="34" charset="0"/>
                <a:ea typeface="Spline Sans Mono" pitchFamily="34" charset="-122"/>
                <a:cs typeface="Spline Sans Mono" pitchFamily="34" charset="-120"/>
              </a:rPr>
              <a:t>PROJECT LOG · IMAGE SPACES</a:t>
            </a:r>
            <a:endParaRPr lang="en-US" sz="800" dirty="0"/>
          </a:p>
        </p:txBody>
      </p:sp>
      <p:sp>
        <p:nvSpPr>
          <p:cNvPr id="12" name="Text 8"/>
          <p:cNvSpPr/>
          <p:nvPr/>
        </p:nvSpPr>
        <p:spPr>
          <a:xfrm>
            <a:off x="355591" y="535186"/>
            <a:ext cx="11365521" cy="349250"/>
          </a:xfrm>
          <a:prstGeom prst="rect">
            <a:avLst/>
          </a:prstGeom>
          <a:noFill/>
          <a:ln/>
        </p:spPr>
        <p:txBody>
          <a:bodyPr wrap="none" lIns="0" tIns="0" rIns="0" bIns="0" rtlCol="0" anchor="t"/>
          <a:lstStyle/>
          <a:p>
            <a:pPr marL="0" indent="0" algn="l">
              <a:lnSpc>
                <a:spcPct val="92000"/>
              </a:lnSpc>
              <a:buNone/>
            </a:pPr>
            <a:r>
              <a:rPr lang="en-US" sz="2500" kern="100" spc="-25" dirty="0">
                <a:solidFill>
                  <a:srgbClr val="D99032"/>
                </a:solidFill>
                <a:latin typeface="Sora SemiBold" pitchFamily="34" charset="0"/>
                <a:ea typeface="Sora SemiBold" pitchFamily="34" charset="-122"/>
                <a:cs typeface="Sora SemiBold" pitchFamily="34" charset="-120"/>
              </a:rPr>
              <a:t>Project Build Steps</a:t>
            </a:r>
            <a:endParaRPr lang="en-US" sz="2500" dirty="0"/>
          </a:p>
        </p:txBody>
      </p:sp>
      <p:sp>
        <p:nvSpPr>
          <p:cNvPr id="13" name="Text 9"/>
          <p:cNvSpPr/>
          <p:nvPr/>
        </p:nvSpPr>
        <p:spPr>
          <a:xfrm>
            <a:off x="355591" y="983075"/>
            <a:ext cx="11836104" cy="191988"/>
          </a:xfrm>
          <a:prstGeom prst="rect">
            <a:avLst/>
          </a:prstGeom>
          <a:noFill/>
          <a:ln/>
        </p:spPr>
        <p:txBody>
          <a:bodyPr wrap="none" lIns="0" tIns="0" rIns="0" bIns="0" rtlCol="0" anchor="t"/>
          <a:lstStyle/>
          <a:p>
            <a:pPr marL="0" indent="0" algn="l">
              <a:lnSpc>
                <a:spcPct val="105000"/>
              </a:lnSpc>
              <a:buNone/>
            </a:pPr>
            <a:r>
              <a:rPr lang="en-US" sz="1200" dirty="0">
                <a:solidFill>
                  <a:srgbClr val="87ABA4"/>
                </a:solidFill>
                <a:latin typeface="Public Sans" pitchFamily="34" charset="0"/>
                <a:ea typeface="Public Sans" pitchFamily="34" charset="-122"/>
                <a:cs typeface="Public Sans" pitchFamily="34" charset="-120"/>
              </a:rPr>
              <a:t>Use these four frames for the project photos. Record observed results only after each check.</a:t>
            </a:r>
            <a:endParaRPr lang="en-US" sz="1200" dirty="0"/>
          </a:p>
        </p:txBody>
      </p:sp>
      <p:sp>
        <p:nvSpPr>
          <p:cNvPr id="14" name="Shape 10"/>
          <p:cNvSpPr/>
          <p:nvPr/>
        </p:nvSpPr>
        <p:spPr>
          <a:xfrm>
            <a:off x="355591" y="1280120"/>
            <a:ext cx="5587463" cy="2626320"/>
          </a:xfrm>
          <a:prstGeom prst="roundRect">
            <a:avLst>
              <a:gd name="adj" fmla="val 627"/>
            </a:avLst>
          </a:prstGeom>
          <a:noFill/>
          <a:ln w="19050">
            <a:solidFill>
              <a:srgbClr val="4F5957"/>
            </a:solidFill>
            <a:prstDash val="solid"/>
          </a:ln>
        </p:spPr>
      </p:sp>
      <p:sp>
        <p:nvSpPr>
          <p:cNvPr id="15" name="Shape 11"/>
          <p:cNvSpPr/>
          <p:nvPr/>
        </p:nvSpPr>
        <p:spPr>
          <a:xfrm>
            <a:off x="527037" y="1451570"/>
            <a:ext cx="5244572" cy="1141710"/>
          </a:xfrm>
          <a:prstGeom prst="rect">
            <a:avLst/>
          </a:prstGeom>
          <a:solidFill>
            <a:srgbClr val="26332F"/>
          </a:solidFill>
          <a:ln/>
        </p:spPr>
      </p:sp>
      <p:sp>
        <p:nvSpPr>
          <p:cNvPr id="16" name="Text 12"/>
          <p:cNvSpPr/>
          <p:nvPr/>
        </p:nvSpPr>
        <p:spPr>
          <a:xfrm>
            <a:off x="1061416" y="1713326"/>
            <a:ext cx="5815165" cy="121841"/>
          </a:xfrm>
          <a:prstGeom prst="rect">
            <a:avLst/>
          </a:prstGeom>
          <a:noFill/>
          <a:ln/>
        </p:spPr>
        <p:txBody>
          <a:bodyPr wrap="none" lIns="0" tIns="0" rIns="0" bIns="0" rtlCol="0" anchor="t"/>
          <a:lstStyle/>
          <a:p>
            <a:pPr marL="0" indent="0" algn="l">
              <a:lnSpc>
                <a:spcPct val="100000"/>
              </a:lnSpc>
              <a:buNone/>
            </a:pPr>
            <a:r>
              <a:rPr lang="en-US" sz="800" kern="100" spc="81" dirty="0">
                <a:solidFill>
                  <a:srgbClr val="87ABA4"/>
                </a:solidFill>
                <a:latin typeface="Spline Sans Mono" pitchFamily="34" charset="0"/>
                <a:ea typeface="Spline Sans Mono" pitchFamily="34" charset="-122"/>
                <a:cs typeface="Spline Sans Mono" pitchFamily="34" charset="-120"/>
              </a:rPr>
              <a:t>PHOTO SPACE</a:t>
            </a:r>
            <a:endParaRPr lang="en-US" sz="800" dirty="0"/>
          </a:p>
        </p:txBody>
      </p:sp>
      <p:sp>
        <p:nvSpPr>
          <p:cNvPr id="17" name="Text 13"/>
          <p:cNvSpPr/>
          <p:nvPr/>
        </p:nvSpPr>
        <p:spPr>
          <a:xfrm>
            <a:off x="1061416" y="1913057"/>
            <a:ext cx="5586570" cy="220960"/>
          </a:xfrm>
          <a:prstGeom prst="rect">
            <a:avLst/>
          </a:prstGeom>
          <a:noFill/>
          <a:ln/>
        </p:spPr>
        <p:txBody>
          <a:bodyPr wrap="none" lIns="0" tIns="0" rIns="0" bIns="0" rtlCol="0" anchor="t"/>
          <a:lstStyle/>
          <a:p>
            <a:pPr marL="0" indent="0" algn="l">
              <a:lnSpc>
                <a:spcPct val="100000"/>
              </a:lnSpc>
              <a:buNone/>
            </a:pPr>
            <a:r>
              <a:rPr lang="en-US" sz="1450" dirty="0">
                <a:solidFill>
                  <a:srgbClr val="87ABA4"/>
                </a:solidFill>
                <a:latin typeface="Public Sans SemiBold" pitchFamily="34" charset="0"/>
                <a:ea typeface="Public Sans SemiBold" pitchFamily="34" charset="-122"/>
                <a:cs typeface="Public Sans SemiBold" pitchFamily="34" charset="-120"/>
              </a:rPr>
              <a:t>ADD PROJECT IMAGE</a:t>
            </a:r>
            <a:endParaRPr lang="en-US" sz="1450" dirty="0"/>
          </a:p>
        </p:txBody>
      </p:sp>
      <p:sp>
        <p:nvSpPr>
          <p:cNvPr id="18" name="Text 14"/>
          <p:cNvSpPr/>
          <p:nvPr/>
        </p:nvSpPr>
        <p:spPr>
          <a:xfrm>
            <a:off x="1061416" y="2221837"/>
            <a:ext cx="5815165" cy="155377"/>
          </a:xfrm>
          <a:prstGeom prst="rect">
            <a:avLst/>
          </a:prstGeom>
          <a:noFill/>
          <a:ln/>
        </p:spPr>
        <p:txBody>
          <a:bodyPr wrap="none" lIns="0" tIns="0" rIns="0" bIns="0" rtlCol="0" anchor="t"/>
          <a:lstStyle/>
          <a:p>
            <a:pPr marL="0" indent="0" algn="l">
              <a:lnSpc>
                <a:spcPct val="113000"/>
              </a:lnSpc>
              <a:buNone/>
            </a:pPr>
            <a:r>
              <a:rPr lang="en-US" sz="900" kern="100" spc="18" dirty="0">
                <a:solidFill>
                  <a:srgbClr val="87ABA4"/>
                </a:solidFill>
                <a:latin typeface="Spline Sans Mono" pitchFamily="34" charset="0"/>
                <a:ea typeface="Spline Sans Mono" pitchFamily="34" charset="-122"/>
                <a:cs typeface="Spline Sans Mono" pitchFamily="34" charset="-120"/>
              </a:rPr>
              <a:t>Sensor + magnet setup</a:t>
            </a:r>
            <a:endParaRPr lang="en-US" sz="900" dirty="0"/>
          </a:p>
        </p:txBody>
      </p:sp>
      <p:pic>
        <p:nvPicPr>
          <p:cNvPr id="19" name="Image 2" descr="preencoded.png"/>
          <p:cNvPicPr>
            <a:picLocks noChangeAspect="1"/>
          </p:cNvPicPr>
          <p:nvPr/>
        </p:nvPicPr>
        <p:blipFill>
          <a:blip r:embed="rId5"/>
          <a:stretch>
            <a:fillRect/>
          </a:stretch>
        </p:blipFill>
        <p:spPr>
          <a:xfrm>
            <a:off x="355591" y="1299369"/>
            <a:ext cx="5579724" cy="2579787"/>
          </a:xfrm>
          <a:prstGeom prst="rect">
            <a:avLst/>
          </a:prstGeom>
        </p:spPr>
      </p:pic>
      <p:sp>
        <p:nvSpPr>
          <p:cNvPr id="20" name="Shape 15"/>
          <p:cNvSpPr/>
          <p:nvPr/>
        </p:nvSpPr>
        <p:spPr>
          <a:xfrm>
            <a:off x="6419293" y="1451570"/>
            <a:ext cx="5244572" cy="1141710"/>
          </a:xfrm>
          <a:prstGeom prst="rect">
            <a:avLst/>
          </a:prstGeom>
          <a:solidFill>
            <a:srgbClr val="26332F"/>
          </a:solidFill>
          <a:ln/>
        </p:spPr>
      </p:sp>
      <p:sp>
        <p:nvSpPr>
          <p:cNvPr id="21" name="Text 16"/>
          <p:cNvSpPr/>
          <p:nvPr/>
        </p:nvSpPr>
        <p:spPr>
          <a:xfrm>
            <a:off x="6987306" y="1713326"/>
            <a:ext cx="5204389" cy="121841"/>
          </a:xfrm>
          <a:prstGeom prst="rect">
            <a:avLst/>
          </a:prstGeom>
          <a:noFill/>
          <a:ln/>
        </p:spPr>
        <p:txBody>
          <a:bodyPr wrap="none" lIns="0" tIns="0" rIns="0" bIns="0" rtlCol="0" anchor="t"/>
          <a:lstStyle/>
          <a:p>
            <a:pPr marL="0" indent="0" algn="l">
              <a:lnSpc>
                <a:spcPct val="100000"/>
              </a:lnSpc>
              <a:buNone/>
            </a:pPr>
            <a:r>
              <a:rPr lang="en-US" sz="800" kern="100" spc="81" dirty="0">
                <a:solidFill>
                  <a:srgbClr val="87ABA4"/>
                </a:solidFill>
                <a:latin typeface="Spline Sans Mono" pitchFamily="34" charset="0"/>
                <a:ea typeface="Spline Sans Mono" pitchFamily="34" charset="-122"/>
                <a:cs typeface="Spline Sans Mono" pitchFamily="34" charset="-120"/>
              </a:rPr>
              <a:t>PHOTO SPACE</a:t>
            </a:r>
            <a:endParaRPr lang="en-US" sz="800" dirty="0"/>
          </a:p>
        </p:txBody>
      </p:sp>
      <p:sp>
        <p:nvSpPr>
          <p:cNvPr id="22" name="Text 17"/>
          <p:cNvSpPr/>
          <p:nvPr/>
        </p:nvSpPr>
        <p:spPr>
          <a:xfrm>
            <a:off x="6987306" y="1913057"/>
            <a:ext cx="5204389" cy="220960"/>
          </a:xfrm>
          <a:prstGeom prst="rect">
            <a:avLst/>
          </a:prstGeom>
          <a:noFill/>
          <a:ln/>
        </p:spPr>
        <p:txBody>
          <a:bodyPr wrap="none" lIns="0" tIns="0" rIns="0" bIns="0" rtlCol="0" anchor="t"/>
          <a:lstStyle/>
          <a:p>
            <a:pPr marL="0" indent="0" algn="l">
              <a:lnSpc>
                <a:spcPct val="100000"/>
              </a:lnSpc>
              <a:buNone/>
            </a:pPr>
            <a:r>
              <a:rPr lang="en-US" sz="1450" dirty="0">
                <a:solidFill>
                  <a:srgbClr val="87ABA4"/>
                </a:solidFill>
                <a:latin typeface="Public Sans SemiBold" pitchFamily="34" charset="0"/>
                <a:ea typeface="Public Sans SemiBold" pitchFamily="34" charset="-122"/>
                <a:cs typeface="Public Sans SemiBold" pitchFamily="34" charset="-120"/>
              </a:rPr>
              <a:t>ADD PROJECT IMAGE</a:t>
            </a:r>
            <a:endParaRPr lang="en-US" sz="1450" dirty="0"/>
          </a:p>
        </p:txBody>
      </p:sp>
      <p:sp>
        <p:nvSpPr>
          <p:cNvPr id="23" name="Text 18"/>
          <p:cNvSpPr/>
          <p:nvPr/>
        </p:nvSpPr>
        <p:spPr>
          <a:xfrm>
            <a:off x="6987306" y="2221837"/>
            <a:ext cx="5204389" cy="155377"/>
          </a:xfrm>
          <a:prstGeom prst="rect">
            <a:avLst/>
          </a:prstGeom>
          <a:noFill/>
          <a:ln/>
        </p:spPr>
        <p:txBody>
          <a:bodyPr wrap="none" lIns="0" tIns="0" rIns="0" bIns="0" rtlCol="0" anchor="t"/>
          <a:lstStyle/>
          <a:p>
            <a:pPr marL="0" indent="0" algn="l">
              <a:lnSpc>
                <a:spcPct val="113000"/>
              </a:lnSpc>
              <a:buNone/>
            </a:pPr>
            <a:r>
              <a:rPr lang="en-US" sz="900" kern="100" spc="18" dirty="0">
                <a:solidFill>
                  <a:srgbClr val="87ABA4"/>
                </a:solidFill>
                <a:latin typeface="Spline Sans Mono" pitchFamily="34" charset="0"/>
                <a:ea typeface="Spline Sans Mono" pitchFamily="34" charset="-122"/>
                <a:cs typeface="Spline Sans Mono" pitchFamily="34" charset="-120"/>
              </a:rPr>
              <a:t>Motor + driver wiring</a:t>
            </a:r>
            <a:endParaRPr lang="en-US" sz="900" dirty="0"/>
          </a:p>
        </p:txBody>
      </p:sp>
      <p:pic>
        <p:nvPicPr>
          <p:cNvPr id="24" name="Image 3" descr="preencoded.png"/>
          <p:cNvPicPr>
            <a:picLocks noChangeAspect="1"/>
          </p:cNvPicPr>
          <p:nvPr/>
        </p:nvPicPr>
        <p:blipFill>
          <a:blip r:embed="rId6"/>
          <a:stretch>
            <a:fillRect/>
          </a:stretch>
        </p:blipFill>
        <p:spPr>
          <a:xfrm>
            <a:off x="6247946" y="1264841"/>
            <a:ext cx="5587463" cy="2704505"/>
          </a:xfrm>
          <a:prstGeom prst="rect">
            <a:avLst/>
          </a:prstGeom>
        </p:spPr>
      </p:pic>
      <p:sp>
        <p:nvSpPr>
          <p:cNvPr id="25" name="Shape 19"/>
          <p:cNvSpPr/>
          <p:nvPr/>
        </p:nvSpPr>
        <p:spPr>
          <a:xfrm>
            <a:off x="527037" y="4382889"/>
            <a:ext cx="5244572" cy="1141710"/>
          </a:xfrm>
          <a:prstGeom prst="rect">
            <a:avLst/>
          </a:prstGeom>
          <a:solidFill>
            <a:srgbClr val="26332F"/>
          </a:solidFill>
          <a:ln/>
        </p:spPr>
      </p:sp>
      <p:sp>
        <p:nvSpPr>
          <p:cNvPr id="26" name="Text 20"/>
          <p:cNvSpPr/>
          <p:nvPr/>
        </p:nvSpPr>
        <p:spPr>
          <a:xfrm>
            <a:off x="1097233" y="4644347"/>
            <a:ext cx="5779348" cy="121841"/>
          </a:xfrm>
          <a:prstGeom prst="rect">
            <a:avLst/>
          </a:prstGeom>
          <a:noFill/>
          <a:ln/>
        </p:spPr>
        <p:txBody>
          <a:bodyPr wrap="none" lIns="0" tIns="0" rIns="0" bIns="0" rtlCol="0" anchor="t"/>
          <a:lstStyle/>
          <a:p>
            <a:pPr marL="0" indent="0" algn="l">
              <a:lnSpc>
                <a:spcPct val="100000"/>
              </a:lnSpc>
              <a:buNone/>
            </a:pPr>
            <a:r>
              <a:rPr lang="en-US" sz="800" kern="100" spc="81" dirty="0">
                <a:solidFill>
                  <a:srgbClr val="87ABA4"/>
                </a:solidFill>
                <a:latin typeface="Spline Sans Mono" pitchFamily="34" charset="0"/>
                <a:ea typeface="Spline Sans Mono" pitchFamily="34" charset="-122"/>
                <a:cs typeface="Spline Sans Mono" pitchFamily="34" charset="-120"/>
              </a:rPr>
              <a:t>PHOTO SPACE</a:t>
            </a:r>
            <a:endParaRPr lang="en-US" sz="800" dirty="0"/>
          </a:p>
        </p:txBody>
      </p:sp>
      <p:sp>
        <p:nvSpPr>
          <p:cNvPr id="27" name="Text 21"/>
          <p:cNvSpPr/>
          <p:nvPr/>
        </p:nvSpPr>
        <p:spPr>
          <a:xfrm>
            <a:off x="1097233" y="4844078"/>
            <a:ext cx="5550753" cy="220960"/>
          </a:xfrm>
          <a:prstGeom prst="rect">
            <a:avLst/>
          </a:prstGeom>
          <a:noFill/>
          <a:ln/>
        </p:spPr>
        <p:txBody>
          <a:bodyPr wrap="none" lIns="0" tIns="0" rIns="0" bIns="0" rtlCol="0" anchor="t"/>
          <a:lstStyle/>
          <a:p>
            <a:pPr marL="0" indent="0" algn="l">
              <a:lnSpc>
                <a:spcPct val="100000"/>
              </a:lnSpc>
              <a:buNone/>
            </a:pPr>
            <a:r>
              <a:rPr lang="en-US" sz="1450" dirty="0">
                <a:solidFill>
                  <a:srgbClr val="87ABA4"/>
                </a:solidFill>
                <a:latin typeface="Public Sans SemiBold" pitchFamily="34" charset="0"/>
                <a:ea typeface="Public Sans SemiBold" pitchFamily="34" charset="-122"/>
                <a:cs typeface="Public Sans SemiBold" pitchFamily="34" charset="-120"/>
              </a:rPr>
              <a:t>ADD PROJECT IMAGE</a:t>
            </a:r>
            <a:endParaRPr lang="en-US" sz="1450" dirty="0"/>
          </a:p>
        </p:txBody>
      </p:sp>
      <p:sp>
        <p:nvSpPr>
          <p:cNvPr id="28" name="Text 22"/>
          <p:cNvSpPr/>
          <p:nvPr/>
        </p:nvSpPr>
        <p:spPr>
          <a:xfrm>
            <a:off x="1097233" y="5152958"/>
            <a:ext cx="5779348" cy="155377"/>
          </a:xfrm>
          <a:prstGeom prst="rect">
            <a:avLst/>
          </a:prstGeom>
          <a:noFill/>
          <a:ln/>
        </p:spPr>
        <p:txBody>
          <a:bodyPr wrap="none" lIns="0" tIns="0" rIns="0" bIns="0" rtlCol="0" anchor="t"/>
          <a:lstStyle/>
          <a:p>
            <a:pPr marL="0" indent="0" algn="l">
              <a:lnSpc>
                <a:spcPct val="113000"/>
              </a:lnSpc>
              <a:buNone/>
            </a:pPr>
            <a:r>
              <a:rPr lang="en-US" sz="900" kern="100" spc="18" dirty="0">
                <a:solidFill>
                  <a:srgbClr val="87ABA4"/>
                </a:solidFill>
                <a:latin typeface="Spline Sans Mono" pitchFamily="34" charset="0"/>
                <a:ea typeface="Spline Sans Mono" pitchFamily="34" charset="-122"/>
                <a:cs typeface="Spline Sans Mono" pitchFamily="34" charset="-120"/>
              </a:rPr>
              <a:t>Fault / alarm test</a:t>
            </a:r>
            <a:endParaRPr lang="en-US" sz="900" dirty="0"/>
          </a:p>
        </p:txBody>
      </p:sp>
      <p:pic>
        <p:nvPicPr>
          <p:cNvPr id="29" name="Image 4" descr="preencoded.png"/>
          <p:cNvPicPr>
            <a:picLocks noChangeAspect="1"/>
          </p:cNvPicPr>
          <p:nvPr/>
        </p:nvPicPr>
        <p:blipFill>
          <a:blip r:embed="rId7"/>
          <a:stretch>
            <a:fillRect/>
          </a:stretch>
        </p:blipFill>
        <p:spPr>
          <a:xfrm>
            <a:off x="355591" y="4211439"/>
            <a:ext cx="5579724" cy="2646462"/>
          </a:xfrm>
          <a:prstGeom prst="rect">
            <a:avLst/>
          </a:prstGeom>
        </p:spPr>
      </p:pic>
      <p:pic>
        <p:nvPicPr>
          <p:cNvPr id="30" name="Image 5" descr="preencoded.png"/>
          <p:cNvPicPr>
            <a:picLocks noChangeAspect="1"/>
          </p:cNvPicPr>
          <p:nvPr/>
        </p:nvPicPr>
        <p:blipFill>
          <a:blip r:embed="rId8"/>
          <a:stretch>
            <a:fillRect/>
          </a:stretch>
        </p:blipFill>
        <p:spPr>
          <a:xfrm>
            <a:off x="6247847" y="4211439"/>
            <a:ext cx="5530414" cy="2646462"/>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1076504" y="6558955"/>
            <a:ext cx="1071833" cy="255984"/>
          </a:xfrm>
          <a:prstGeom prst="rect">
            <a:avLst/>
          </a:prstGeom>
        </p:spPr>
      </p:pic>
      <p:pic>
        <p:nvPicPr>
          <p:cNvPr id="3" name="Image 1" descr="preencoded.png"/>
          <p:cNvPicPr>
            <a:picLocks noChangeAspect="1"/>
          </p:cNvPicPr>
          <p:nvPr/>
        </p:nvPicPr>
        <p:blipFill>
          <a:blip r:embed="rId4"/>
          <a:stretch>
            <a:fillRect/>
          </a:stretch>
        </p:blipFill>
        <p:spPr>
          <a:xfrm>
            <a:off x="11076206" y="6558855"/>
            <a:ext cx="1071833" cy="255984"/>
          </a:xfrm>
          <a:prstGeom prst="rect">
            <a:avLst/>
          </a:prstGeom>
        </p:spPr>
      </p:pic>
      <p:sp>
        <p:nvSpPr>
          <p:cNvPr id="4" name="Shape 0"/>
          <p:cNvSpPr/>
          <p:nvPr/>
        </p:nvSpPr>
        <p:spPr>
          <a:xfrm>
            <a:off x="11056165" y="6461125"/>
            <a:ext cx="1054173" cy="312738"/>
          </a:xfrm>
          <a:prstGeom prst="rect">
            <a:avLst/>
          </a:prstGeom>
          <a:solidFill>
            <a:srgbClr val="17211F"/>
          </a:solidFill>
          <a:ln w="12700">
            <a:solidFill>
              <a:srgbClr val="17211F"/>
            </a:solidFill>
            <a:prstDash val="solid"/>
          </a:ln>
        </p:spPr>
      </p:sp>
      <p:sp>
        <p:nvSpPr>
          <p:cNvPr id="5" name="Text 1"/>
          <p:cNvSpPr/>
          <p:nvPr/>
        </p:nvSpPr>
        <p:spPr>
          <a:xfrm>
            <a:off x="406390" y="355600"/>
            <a:ext cx="11785305" cy="167580"/>
          </a:xfrm>
          <a:prstGeom prst="rect">
            <a:avLst/>
          </a:prstGeom>
          <a:noFill/>
          <a:ln/>
        </p:spPr>
        <p:txBody>
          <a:bodyPr wrap="none" lIns="0" tIns="0" rIns="0" bIns="0" rtlCol="0" anchor="t"/>
          <a:lstStyle/>
          <a:p>
            <a:pPr marL="0" indent="0" algn="l">
              <a:lnSpc>
                <a:spcPct val="100000"/>
              </a:lnSpc>
              <a:buNone/>
            </a:pPr>
            <a:r>
              <a:rPr lang="en-US" sz="1100" kern="100" spc="110" dirty="0">
                <a:solidFill>
                  <a:srgbClr val="D99032"/>
                </a:solidFill>
                <a:latin typeface="Spline Sans Mono" pitchFamily="34" charset="0"/>
                <a:ea typeface="Spline Sans Mono" pitchFamily="34" charset="-122"/>
                <a:cs typeface="Spline Sans Mono" pitchFamily="34" charset="-120"/>
              </a:rPr>
              <a:t>SOFTWARE ARCHITECTURE</a:t>
            </a:r>
            <a:endParaRPr lang="en-US" sz="1100" dirty="0"/>
          </a:p>
        </p:txBody>
      </p:sp>
      <p:sp>
        <p:nvSpPr>
          <p:cNvPr id="6" name="Text 2"/>
          <p:cNvSpPr/>
          <p:nvPr/>
        </p:nvSpPr>
        <p:spPr>
          <a:xfrm>
            <a:off x="406390" y="675878"/>
            <a:ext cx="11321767" cy="457200"/>
          </a:xfrm>
          <a:prstGeom prst="rect">
            <a:avLst/>
          </a:prstGeom>
          <a:noFill/>
          <a:ln/>
        </p:spPr>
        <p:txBody>
          <a:bodyPr wrap="none" lIns="0" tIns="0" rIns="0" bIns="0" rtlCol="0" anchor="t"/>
          <a:lstStyle/>
          <a:p>
            <a:pPr marL="0" indent="0" algn="l">
              <a:lnSpc>
                <a:spcPct val="75000"/>
              </a:lnSpc>
              <a:buNone/>
            </a:pPr>
            <a:r>
              <a:rPr lang="en-US" sz="4000" kern="100" spc="-34" dirty="0">
                <a:solidFill>
                  <a:srgbClr val="D99032"/>
                </a:solidFill>
                <a:latin typeface="Sora SemiBold" pitchFamily="34" charset="0"/>
                <a:ea typeface="Sora SemiBold" pitchFamily="34" charset="-122"/>
                <a:cs typeface="Sora SemiBold" pitchFamily="34" charset="-120"/>
              </a:rPr>
              <a:t>Three software layers power JamGuard</a:t>
            </a:r>
            <a:endParaRPr lang="en-US" sz="4000" dirty="0"/>
          </a:p>
        </p:txBody>
      </p:sp>
      <p:sp>
        <p:nvSpPr>
          <p:cNvPr id="7" name="Text 3"/>
          <p:cNvSpPr/>
          <p:nvPr/>
        </p:nvSpPr>
        <p:spPr>
          <a:xfrm>
            <a:off x="406390" y="2230211"/>
            <a:ext cx="3981350" cy="228600"/>
          </a:xfrm>
          <a:prstGeom prst="rect">
            <a:avLst/>
          </a:prstGeom>
          <a:noFill/>
          <a:ln/>
        </p:spPr>
        <p:txBody>
          <a:bodyPr wrap="none" lIns="0" tIns="0" rIns="0" bIns="0" rtlCol="0" anchor="t"/>
          <a:lstStyle/>
          <a:p>
            <a:pPr marL="0" indent="0" algn="l">
              <a:lnSpc>
                <a:spcPct val="83000"/>
              </a:lnSpc>
              <a:buNone/>
            </a:pPr>
            <a:r>
              <a:rPr lang="en-US" sz="1800" dirty="0">
                <a:solidFill>
                  <a:srgbClr val="D99032"/>
                </a:solidFill>
                <a:latin typeface="Public Sans SemiBold" pitchFamily="34" charset="0"/>
                <a:ea typeface="Public Sans SemiBold" pitchFamily="34" charset="-122"/>
                <a:cs typeface="Public Sans SemiBold" pitchFamily="34" charset="-120"/>
              </a:rPr>
              <a:t>01</a:t>
            </a:r>
            <a:endParaRPr lang="en-US" sz="1800" dirty="0"/>
          </a:p>
        </p:txBody>
      </p:sp>
      <p:sp>
        <p:nvSpPr>
          <p:cNvPr id="8" name="Shape 4"/>
          <p:cNvSpPr/>
          <p:nvPr/>
        </p:nvSpPr>
        <p:spPr>
          <a:xfrm>
            <a:off x="406390" y="2514600"/>
            <a:ext cx="3428914" cy="19050"/>
          </a:xfrm>
          <a:prstGeom prst="rect">
            <a:avLst/>
          </a:prstGeom>
          <a:solidFill>
            <a:srgbClr val="D99032"/>
          </a:solidFill>
          <a:ln/>
        </p:spPr>
      </p:sp>
      <p:sp>
        <p:nvSpPr>
          <p:cNvPr id="9" name="Text 5"/>
          <p:cNvSpPr/>
          <p:nvPr/>
        </p:nvSpPr>
        <p:spPr>
          <a:xfrm>
            <a:off x="406390" y="2665440"/>
            <a:ext cx="3981350" cy="221655"/>
          </a:xfrm>
          <a:prstGeom prst="rect">
            <a:avLst/>
          </a:prstGeom>
          <a:noFill/>
          <a:ln/>
        </p:spPr>
        <p:txBody>
          <a:bodyPr wrap="none" lIns="0" tIns="0" rIns="0" bIns="0" rtlCol="0" anchor="t"/>
          <a:lstStyle/>
          <a:p>
            <a:pPr marL="0" indent="0" algn="l">
              <a:lnSpc>
                <a:spcPct val="81000"/>
              </a:lnSpc>
              <a:buNone/>
            </a:pPr>
            <a:r>
              <a:rPr lang="en-US" sz="1800" dirty="0">
                <a:solidFill>
                  <a:srgbClr val="547871"/>
                </a:solidFill>
                <a:latin typeface="Public Sans SemiBold" pitchFamily="34" charset="0"/>
                <a:ea typeface="Public Sans SemiBold" pitchFamily="34" charset="-122"/>
                <a:cs typeface="Public Sans SemiBold" pitchFamily="34" charset="-120"/>
              </a:rPr>
              <a:t>Arduino Uno · sense + protect</a:t>
            </a:r>
            <a:endParaRPr lang="en-US" sz="1800" dirty="0"/>
          </a:p>
        </p:txBody>
      </p:sp>
      <p:sp>
        <p:nvSpPr>
          <p:cNvPr id="10" name="Text 6"/>
          <p:cNvSpPr/>
          <p:nvPr/>
        </p:nvSpPr>
        <p:spPr>
          <a:xfrm>
            <a:off x="406390" y="3279458"/>
            <a:ext cx="3428914" cy="994172"/>
          </a:xfrm>
          <a:prstGeom prst="rect">
            <a:avLst/>
          </a:prstGeom>
          <a:noFill/>
          <a:ln/>
        </p:spPr>
        <p:txBody>
          <a:bodyPr wrap="square" lIns="0" tIns="0" rIns="0" bIns="0" rtlCol="0" anchor="t">
            <a:normAutofit/>
          </a:bodyPr>
          <a:lstStyle/>
          <a:p>
            <a:pPr marL="0" indent="0" algn="l">
              <a:lnSpc>
                <a:spcPct val="121000"/>
              </a:lnSpc>
              <a:buNone/>
            </a:pPr>
            <a:r>
              <a:rPr lang="en-US" sz="1800" dirty="0">
                <a:solidFill>
                  <a:srgbClr val="87ABA4"/>
                </a:solidFill>
                <a:latin typeface="Public Sans" pitchFamily="34" charset="0"/>
                <a:ea typeface="Public Sans" pitchFamily="34" charset="-122"/>
                <a:cs typeface="Public Sans" pitchFamily="34" charset="-120"/>
              </a:rPr>
              <a:t>Reads Hall pulses, calculates RPM, detects jams, and trips the motor alarm.</a:t>
            </a:r>
            <a:endParaRPr lang="en-US" sz="1800" dirty="0"/>
          </a:p>
        </p:txBody>
      </p:sp>
      <p:sp>
        <p:nvSpPr>
          <p:cNvPr id="11" name="Text 7"/>
          <p:cNvSpPr/>
          <p:nvPr/>
        </p:nvSpPr>
        <p:spPr>
          <a:xfrm>
            <a:off x="4254394" y="2230211"/>
            <a:ext cx="3981350" cy="228600"/>
          </a:xfrm>
          <a:prstGeom prst="rect">
            <a:avLst/>
          </a:prstGeom>
          <a:noFill/>
          <a:ln/>
        </p:spPr>
        <p:txBody>
          <a:bodyPr wrap="none" lIns="0" tIns="0" rIns="0" bIns="0" rtlCol="0" anchor="t"/>
          <a:lstStyle/>
          <a:p>
            <a:pPr marL="0" indent="0" algn="l">
              <a:lnSpc>
                <a:spcPct val="83000"/>
              </a:lnSpc>
              <a:buNone/>
            </a:pPr>
            <a:r>
              <a:rPr lang="en-US" sz="1800" dirty="0">
                <a:solidFill>
                  <a:srgbClr val="D99032"/>
                </a:solidFill>
                <a:latin typeface="Public Sans SemiBold" pitchFamily="34" charset="0"/>
                <a:ea typeface="Public Sans SemiBold" pitchFamily="34" charset="-122"/>
                <a:cs typeface="Public Sans SemiBold" pitchFamily="34" charset="-120"/>
              </a:rPr>
              <a:t>02</a:t>
            </a:r>
            <a:endParaRPr lang="en-US" sz="1800" dirty="0"/>
          </a:p>
        </p:txBody>
      </p:sp>
      <p:sp>
        <p:nvSpPr>
          <p:cNvPr id="12" name="Shape 8"/>
          <p:cNvSpPr/>
          <p:nvPr/>
        </p:nvSpPr>
        <p:spPr>
          <a:xfrm>
            <a:off x="4254394" y="2514600"/>
            <a:ext cx="3428914" cy="19050"/>
          </a:xfrm>
          <a:prstGeom prst="rect">
            <a:avLst/>
          </a:prstGeom>
          <a:solidFill>
            <a:srgbClr val="D99032"/>
          </a:solidFill>
          <a:ln/>
        </p:spPr>
      </p:sp>
      <p:sp>
        <p:nvSpPr>
          <p:cNvPr id="13" name="Text 9"/>
          <p:cNvSpPr/>
          <p:nvPr/>
        </p:nvSpPr>
        <p:spPr>
          <a:xfrm>
            <a:off x="4254394" y="2665440"/>
            <a:ext cx="3981350" cy="221655"/>
          </a:xfrm>
          <a:prstGeom prst="rect">
            <a:avLst/>
          </a:prstGeom>
          <a:noFill/>
          <a:ln/>
        </p:spPr>
        <p:txBody>
          <a:bodyPr wrap="none" lIns="0" tIns="0" rIns="0" bIns="0" rtlCol="0" anchor="t"/>
          <a:lstStyle/>
          <a:p>
            <a:pPr marL="0" indent="0" algn="l">
              <a:lnSpc>
                <a:spcPct val="81000"/>
              </a:lnSpc>
              <a:buNone/>
            </a:pPr>
            <a:r>
              <a:rPr lang="en-US" sz="1800" dirty="0">
                <a:solidFill>
                  <a:srgbClr val="547871"/>
                </a:solidFill>
                <a:latin typeface="Public Sans SemiBold" pitchFamily="34" charset="0"/>
                <a:ea typeface="Public Sans SemiBold" pitchFamily="34" charset="-122"/>
                <a:cs typeface="Public Sans SemiBold" pitchFamily="34" charset="-120"/>
              </a:rPr>
              <a:t>ESP32 · publish + connect</a:t>
            </a:r>
            <a:endParaRPr lang="en-US" sz="1800" dirty="0"/>
          </a:p>
        </p:txBody>
      </p:sp>
      <p:sp>
        <p:nvSpPr>
          <p:cNvPr id="14" name="Text 10"/>
          <p:cNvSpPr/>
          <p:nvPr/>
        </p:nvSpPr>
        <p:spPr>
          <a:xfrm>
            <a:off x="4254394" y="3279458"/>
            <a:ext cx="3428914" cy="994172"/>
          </a:xfrm>
          <a:prstGeom prst="rect">
            <a:avLst/>
          </a:prstGeom>
          <a:noFill/>
          <a:ln/>
        </p:spPr>
        <p:txBody>
          <a:bodyPr wrap="square" lIns="0" tIns="0" rIns="0" bIns="0" rtlCol="0" anchor="t">
            <a:normAutofit/>
          </a:bodyPr>
          <a:lstStyle/>
          <a:p>
            <a:pPr marL="0" indent="0" algn="l">
              <a:lnSpc>
                <a:spcPct val="121000"/>
              </a:lnSpc>
              <a:buNone/>
            </a:pPr>
            <a:r>
              <a:rPr lang="en-US" sz="1800" dirty="0">
                <a:solidFill>
                  <a:srgbClr val="87ABA4"/>
                </a:solidFill>
                <a:latin typeface="Public Sans" pitchFamily="34" charset="0"/>
                <a:ea typeface="Public Sans" pitchFamily="34" charset="-122"/>
                <a:cs typeface="Public Sans" pitchFamily="34" charset="-120"/>
              </a:rPr>
              <a:t>Receives motor state over UART and serves a local Wi-Fi dashboard—no cloud required.</a:t>
            </a:r>
            <a:endParaRPr lang="en-US" sz="1800" dirty="0"/>
          </a:p>
        </p:txBody>
      </p:sp>
      <p:sp>
        <p:nvSpPr>
          <p:cNvPr id="15" name="Text 11"/>
          <p:cNvSpPr/>
          <p:nvPr/>
        </p:nvSpPr>
        <p:spPr>
          <a:xfrm>
            <a:off x="8102397" y="2230211"/>
            <a:ext cx="3981350" cy="228600"/>
          </a:xfrm>
          <a:prstGeom prst="rect">
            <a:avLst/>
          </a:prstGeom>
          <a:noFill/>
          <a:ln/>
        </p:spPr>
        <p:txBody>
          <a:bodyPr wrap="none" lIns="0" tIns="0" rIns="0" bIns="0" rtlCol="0" anchor="t"/>
          <a:lstStyle/>
          <a:p>
            <a:pPr marL="0" indent="0" algn="l">
              <a:lnSpc>
                <a:spcPct val="83000"/>
              </a:lnSpc>
              <a:buNone/>
            </a:pPr>
            <a:r>
              <a:rPr lang="en-US" sz="1800" dirty="0">
                <a:solidFill>
                  <a:srgbClr val="D99032"/>
                </a:solidFill>
                <a:latin typeface="Public Sans SemiBold" pitchFamily="34" charset="0"/>
                <a:ea typeface="Public Sans SemiBold" pitchFamily="34" charset="-122"/>
                <a:cs typeface="Public Sans SemiBold" pitchFamily="34" charset="-120"/>
              </a:rPr>
              <a:t>03</a:t>
            </a:r>
            <a:endParaRPr lang="en-US" sz="1800" dirty="0"/>
          </a:p>
        </p:txBody>
      </p:sp>
      <p:sp>
        <p:nvSpPr>
          <p:cNvPr id="16" name="Shape 12"/>
          <p:cNvSpPr/>
          <p:nvPr/>
        </p:nvSpPr>
        <p:spPr>
          <a:xfrm>
            <a:off x="8102397" y="2514600"/>
            <a:ext cx="3428914" cy="19050"/>
          </a:xfrm>
          <a:prstGeom prst="rect">
            <a:avLst/>
          </a:prstGeom>
          <a:solidFill>
            <a:srgbClr val="D99032"/>
          </a:solidFill>
          <a:ln/>
        </p:spPr>
      </p:sp>
      <p:sp>
        <p:nvSpPr>
          <p:cNvPr id="17" name="Text 13"/>
          <p:cNvSpPr/>
          <p:nvPr/>
        </p:nvSpPr>
        <p:spPr>
          <a:xfrm>
            <a:off x="8102397" y="2665440"/>
            <a:ext cx="3981350" cy="221655"/>
          </a:xfrm>
          <a:prstGeom prst="rect">
            <a:avLst/>
          </a:prstGeom>
          <a:noFill/>
          <a:ln/>
        </p:spPr>
        <p:txBody>
          <a:bodyPr wrap="none" lIns="0" tIns="0" rIns="0" bIns="0" rtlCol="0" anchor="t"/>
          <a:lstStyle/>
          <a:p>
            <a:pPr marL="0" indent="0" algn="l">
              <a:lnSpc>
                <a:spcPct val="81000"/>
              </a:lnSpc>
              <a:buNone/>
            </a:pPr>
            <a:r>
              <a:rPr lang="en-US" sz="1800" dirty="0">
                <a:solidFill>
                  <a:srgbClr val="547871"/>
                </a:solidFill>
                <a:latin typeface="Public Sans SemiBold" pitchFamily="34" charset="0"/>
                <a:ea typeface="Public Sans SemiBold" pitchFamily="34" charset="-122"/>
                <a:cs typeface="Public Sans SemiBold" pitchFamily="34" charset="-120"/>
              </a:rPr>
              <a:t>Browser · monitor + alert</a:t>
            </a:r>
            <a:endParaRPr lang="en-US" sz="1800" dirty="0"/>
          </a:p>
        </p:txBody>
      </p:sp>
      <p:sp>
        <p:nvSpPr>
          <p:cNvPr id="18" name="Text 14"/>
          <p:cNvSpPr/>
          <p:nvPr/>
        </p:nvSpPr>
        <p:spPr>
          <a:xfrm>
            <a:off x="8102397" y="3279458"/>
            <a:ext cx="3428914" cy="994172"/>
          </a:xfrm>
          <a:prstGeom prst="rect">
            <a:avLst/>
          </a:prstGeom>
          <a:noFill/>
          <a:ln/>
        </p:spPr>
        <p:txBody>
          <a:bodyPr wrap="square" lIns="0" tIns="0" rIns="0" bIns="0" rtlCol="0" anchor="t">
            <a:normAutofit/>
          </a:bodyPr>
          <a:lstStyle/>
          <a:p>
            <a:pPr marL="0" indent="0" algn="l">
              <a:lnSpc>
                <a:spcPct val="121000"/>
              </a:lnSpc>
              <a:buNone/>
            </a:pPr>
            <a:r>
              <a:rPr lang="en-US" sz="1800" dirty="0">
                <a:solidFill>
                  <a:srgbClr val="87ABA4"/>
                </a:solidFill>
                <a:latin typeface="Public Sans" pitchFamily="34" charset="0"/>
                <a:ea typeface="Public Sans" pitchFamily="34" charset="-122"/>
                <a:cs typeface="Public Sans" pitchFamily="34" charset="-120"/>
              </a:rPr>
              <a:t>Live RPM, motor status, and jam alerts help operators respond quickly.</a:t>
            </a:r>
            <a:endParaRPr lang="en-US" sz="1800" dirty="0"/>
          </a:p>
        </p:txBody>
      </p:sp>
      <p:sp>
        <p:nvSpPr>
          <p:cNvPr id="19" name="Text 15"/>
          <p:cNvSpPr/>
          <p:nvPr/>
        </p:nvSpPr>
        <p:spPr>
          <a:xfrm>
            <a:off x="406390" y="5746623"/>
            <a:ext cx="11378915" cy="483592"/>
          </a:xfrm>
          <a:prstGeom prst="rect">
            <a:avLst/>
          </a:prstGeom>
          <a:noFill/>
          <a:ln/>
        </p:spPr>
        <p:txBody>
          <a:bodyPr wrap="square" lIns="0" tIns="0" rIns="0" bIns="0" rtlCol="0" anchor="t">
            <a:normAutofit/>
          </a:bodyPr>
          <a:lstStyle/>
          <a:p>
            <a:pPr marL="0" indent="0" algn="l">
              <a:lnSpc>
                <a:spcPct val="113000"/>
              </a:lnSpc>
              <a:buNone/>
            </a:pPr>
            <a:r>
              <a:rPr lang="en-US" sz="1400" kern="100" spc="24" dirty="0">
                <a:solidFill>
                  <a:srgbClr val="939F99"/>
                </a:solidFill>
                <a:latin typeface="Spline Sans Mono" pitchFamily="34" charset="0"/>
                <a:ea typeface="Spline Sans Mono" pitchFamily="34" charset="-122"/>
                <a:cs typeface="Spline Sans Mono" pitchFamily="34" charset="-120"/>
              </a:rPr>
              <a:t>Arduino decides. ESP32 publishes. The browser displays. UART + local Wi-Fi keep JamGuard fast and cloud-free.</a:t>
            </a:r>
            <a:endParaRPr lang="en-US" sz="14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1076504" y="6558955"/>
            <a:ext cx="1071833" cy="255984"/>
          </a:xfrm>
          <a:prstGeom prst="rect">
            <a:avLst/>
          </a:prstGeom>
        </p:spPr>
      </p:pic>
      <p:pic>
        <p:nvPicPr>
          <p:cNvPr id="3" name="Image 1" descr="preencoded.png"/>
          <p:cNvPicPr>
            <a:picLocks noChangeAspect="1"/>
          </p:cNvPicPr>
          <p:nvPr/>
        </p:nvPicPr>
        <p:blipFill>
          <a:blip r:embed="rId4"/>
          <a:stretch>
            <a:fillRect/>
          </a:stretch>
        </p:blipFill>
        <p:spPr>
          <a:xfrm>
            <a:off x="11076206" y="6558855"/>
            <a:ext cx="1071833" cy="255984"/>
          </a:xfrm>
          <a:prstGeom prst="rect">
            <a:avLst/>
          </a:prstGeom>
        </p:spPr>
      </p:pic>
      <p:sp>
        <p:nvSpPr>
          <p:cNvPr id="4" name="Text 0"/>
          <p:cNvSpPr/>
          <p:nvPr/>
        </p:nvSpPr>
        <p:spPr>
          <a:xfrm>
            <a:off x="609585" y="609600"/>
            <a:ext cx="11582110" cy="167580"/>
          </a:xfrm>
          <a:prstGeom prst="rect">
            <a:avLst/>
          </a:prstGeom>
          <a:noFill/>
          <a:ln/>
        </p:spPr>
        <p:txBody>
          <a:bodyPr wrap="none" lIns="0" tIns="0" rIns="0" bIns="0" rtlCol="0" anchor="t"/>
          <a:lstStyle/>
          <a:p>
            <a:pPr marL="0" indent="0" algn="l">
              <a:lnSpc>
                <a:spcPct val="100000"/>
              </a:lnSpc>
              <a:buNone/>
            </a:pPr>
            <a:r>
              <a:rPr lang="en-US" sz="1100" kern="100" spc="110" dirty="0">
                <a:solidFill>
                  <a:srgbClr val="D99032"/>
                </a:solidFill>
                <a:latin typeface="Spline Sans Mono" pitchFamily="34" charset="0"/>
                <a:ea typeface="Spline Sans Mono" pitchFamily="34" charset="-122"/>
                <a:cs typeface="Spline Sans Mono" pitchFamily="34" charset="-120"/>
              </a:rPr>
              <a:t>VALIDATION VIEW</a:t>
            </a:r>
            <a:endParaRPr lang="en-US" sz="1100" dirty="0"/>
          </a:p>
        </p:txBody>
      </p:sp>
      <p:sp>
        <p:nvSpPr>
          <p:cNvPr id="5" name="Text 1"/>
          <p:cNvSpPr/>
          <p:nvPr/>
        </p:nvSpPr>
        <p:spPr>
          <a:xfrm>
            <a:off x="609585" y="962965"/>
            <a:ext cx="11582110" cy="474960"/>
          </a:xfrm>
          <a:prstGeom prst="rect">
            <a:avLst/>
          </a:prstGeom>
          <a:noFill/>
          <a:ln/>
        </p:spPr>
        <p:txBody>
          <a:bodyPr wrap="none" lIns="0" tIns="0" rIns="0" bIns="0" rtlCol="0" anchor="t"/>
          <a:lstStyle/>
          <a:p>
            <a:pPr marL="0" indent="0" algn="l">
              <a:lnSpc>
                <a:spcPct val="92000"/>
              </a:lnSpc>
              <a:buNone/>
            </a:pPr>
            <a:r>
              <a:rPr lang="en-US" sz="3400" kern="100" spc="-34" dirty="0">
                <a:solidFill>
                  <a:srgbClr val="D99032"/>
                </a:solidFill>
                <a:latin typeface="Sora SemiBold" pitchFamily="34" charset="0"/>
                <a:ea typeface="Sora SemiBold" pitchFamily="34" charset="-122"/>
                <a:cs typeface="Sora SemiBold" pitchFamily="34" charset="-120"/>
              </a:rPr>
              <a:t>Normal and fault states use different evidence</a:t>
            </a:r>
            <a:endParaRPr lang="en-US" sz="3400" dirty="0"/>
          </a:p>
        </p:txBody>
      </p:sp>
      <p:sp>
        <p:nvSpPr>
          <p:cNvPr id="6" name="Shape 2"/>
          <p:cNvSpPr/>
          <p:nvPr/>
        </p:nvSpPr>
        <p:spPr>
          <a:xfrm>
            <a:off x="609585" y="1607741"/>
            <a:ext cx="5333867" cy="1957090"/>
          </a:xfrm>
          <a:prstGeom prst="rect">
            <a:avLst/>
          </a:prstGeom>
          <a:solidFill>
            <a:srgbClr val="26332F"/>
          </a:solidFill>
          <a:ln/>
        </p:spPr>
      </p:sp>
      <p:sp>
        <p:nvSpPr>
          <p:cNvPr id="7" name="Text 3"/>
          <p:cNvSpPr/>
          <p:nvPr/>
        </p:nvSpPr>
        <p:spPr>
          <a:xfrm>
            <a:off x="914377" y="1912541"/>
            <a:ext cx="5029074" cy="167580"/>
          </a:xfrm>
          <a:prstGeom prst="rect">
            <a:avLst/>
          </a:prstGeom>
          <a:noFill/>
          <a:ln/>
        </p:spPr>
        <p:txBody>
          <a:bodyPr wrap="none" lIns="0" tIns="0" rIns="0" bIns="0" rtlCol="0" anchor="t"/>
          <a:lstStyle/>
          <a:p>
            <a:pPr marL="0" indent="0" algn="l">
              <a:lnSpc>
                <a:spcPct val="100000"/>
              </a:lnSpc>
              <a:buNone/>
            </a:pPr>
            <a:r>
              <a:rPr lang="en-US" sz="1100" kern="100" spc="110" dirty="0">
                <a:solidFill>
                  <a:srgbClr val="87ABA4"/>
                </a:solidFill>
                <a:latin typeface="Spline Sans Mono" pitchFamily="34" charset="0"/>
                <a:ea typeface="Spline Sans Mono" pitchFamily="34" charset="-122"/>
                <a:cs typeface="Spline Sans Mono" pitchFamily="34" charset="-120"/>
              </a:rPr>
              <a:t>NORMAL</a:t>
            </a:r>
            <a:endParaRPr lang="en-US" sz="1100" dirty="0"/>
          </a:p>
        </p:txBody>
      </p:sp>
      <p:sp>
        <p:nvSpPr>
          <p:cNvPr id="8" name="Text 4"/>
          <p:cNvSpPr/>
          <p:nvPr/>
        </p:nvSpPr>
        <p:spPr>
          <a:xfrm>
            <a:off x="914377" y="2387402"/>
            <a:ext cx="5029074" cy="304800"/>
          </a:xfrm>
          <a:prstGeom prst="rect">
            <a:avLst/>
          </a:prstGeom>
          <a:noFill/>
          <a:ln/>
        </p:spPr>
        <p:txBody>
          <a:bodyPr wrap="none" lIns="0" tIns="0" rIns="0" bIns="0" rtlCol="0" anchor="t"/>
          <a:lstStyle/>
          <a:p>
            <a:pPr marL="0" indent="0" algn="l">
              <a:lnSpc>
                <a:spcPct val="100000"/>
              </a:lnSpc>
              <a:buNone/>
            </a:pPr>
            <a:r>
              <a:rPr lang="en-US" sz="2000" dirty="0">
                <a:solidFill>
                  <a:srgbClr val="87ABA4"/>
                </a:solidFill>
                <a:latin typeface="Public Sans SemiBold" pitchFamily="34" charset="0"/>
                <a:ea typeface="Public Sans SemiBold" pitchFamily="34" charset="-122"/>
                <a:cs typeface="Public Sans SemiBold" pitchFamily="34" charset="-120"/>
              </a:rPr>
              <a:t>Motion is confirmed</a:t>
            </a:r>
            <a:endParaRPr lang="en-US" sz="2000" dirty="0"/>
          </a:p>
        </p:txBody>
      </p:sp>
      <p:sp>
        <p:nvSpPr>
          <p:cNvPr id="9" name="Text 5"/>
          <p:cNvSpPr/>
          <p:nvPr/>
        </p:nvSpPr>
        <p:spPr>
          <a:xfrm>
            <a:off x="914377" y="2798862"/>
            <a:ext cx="4724282" cy="589161"/>
          </a:xfrm>
          <a:prstGeom prst="rect">
            <a:avLst/>
          </a:prstGeom>
          <a:noFill/>
          <a:ln/>
        </p:spPr>
        <p:txBody>
          <a:bodyPr wrap="square" lIns="0" tIns="0" rIns="0" bIns="0" rtlCol="0" anchor="t">
            <a:normAutofit/>
          </a:bodyPr>
          <a:lstStyle/>
          <a:p>
            <a:pPr marL="0" indent="0" algn="l">
              <a:lnSpc>
                <a:spcPct val="121000"/>
              </a:lnSpc>
              <a:buNone/>
            </a:pPr>
            <a:r>
              <a:rPr lang="en-US" sz="1600" dirty="0">
                <a:solidFill>
                  <a:srgbClr val="87ABA4"/>
                </a:solidFill>
                <a:latin typeface="Public Sans" pitchFamily="34" charset="0"/>
                <a:ea typeface="Public Sans" pitchFamily="34" charset="-122"/>
                <a:cs typeface="Public Sans" pitchFamily="34" charset="-120"/>
              </a:rPr>
              <a:t>Motor commanded to run, pulses detected, RPM reported.</a:t>
            </a:r>
            <a:endParaRPr lang="en-US" sz="1600" dirty="0"/>
          </a:p>
        </p:txBody>
      </p:sp>
      <p:sp>
        <p:nvSpPr>
          <p:cNvPr id="10" name="Shape 6"/>
          <p:cNvSpPr/>
          <p:nvPr/>
        </p:nvSpPr>
        <p:spPr>
          <a:xfrm>
            <a:off x="6248244" y="1607741"/>
            <a:ext cx="5333867" cy="1957090"/>
          </a:xfrm>
          <a:prstGeom prst="rect">
            <a:avLst/>
          </a:prstGeom>
          <a:solidFill>
            <a:srgbClr val="3A1F1A"/>
          </a:solidFill>
          <a:ln/>
        </p:spPr>
      </p:sp>
      <p:sp>
        <p:nvSpPr>
          <p:cNvPr id="11" name="Text 7"/>
          <p:cNvSpPr/>
          <p:nvPr/>
        </p:nvSpPr>
        <p:spPr>
          <a:xfrm>
            <a:off x="6553036" y="1912541"/>
            <a:ext cx="5029074" cy="167580"/>
          </a:xfrm>
          <a:prstGeom prst="rect">
            <a:avLst/>
          </a:prstGeom>
          <a:noFill/>
          <a:ln/>
        </p:spPr>
        <p:txBody>
          <a:bodyPr wrap="none" lIns="0" tIns="0" rIns="0" bIns="0" rtlCol="0" anchor="t"/>
          <a:lstStyle/>
          <a:p>
            <a:pPr marL="0" indent="0" algn="l">
              <a:lnSpc>
                <a:spcPct val="100000"/>
              </a:lnSpc>
              <a:buNone/>
            </a:pPr>
            <a:r>
              <a:rPr lang="en-US" sz="1100" kern="100" spc="110" dirty="0">
                <a:solidFill>
                  <a:srgbClr val="FFFFFF"/>
                </a:solidFill>
                <a:latin typeface="Spline Sans Mono" pitchFamily="34" charset="0"/>
                <a:ea typeface="Spline Sans Mono" pitchFamily="34" charset="-122"/>
                <a:cs typeface="Spline Sans Mono" pitchFamily="34" charset="-120"/>
              </a:rPr>
              <a:t>FAULT</a:t>
            </a:r>
            <a:endParaRPr lang="en-US" sz="1100" dirty="0"/>
          </a:p>
        </p:txBody>
      </p:sp>
      <p:sp>
        <p:nvSpPr>
          <p:cNvPr id="12" name="Text 8"/>
          <p:cNvSpPr/>
          <p:nvPr/>
        </p:nvSpPr>
        <p:spPr>
          <a:xfrm>
            <a:off x="6553036" y="2387402"/>
            <a:ext cx="5029074" cy="304800"/>
          </a:xfrm>
          <a:prstGeom prst="rect">
            <a:avLst/>
          </a:prstGeom>
          <a:noFill/>
          <a:ln/>
        </p:spPr>
        <p:txBody>
          <a:bodyPr wrap="none" lIns="0" tIns="0" rIns="0" bIns="0" rtlCol="0" anchor="t"/>
          <a:lstStyle/>
          <a:p>
            <a:pPr marL="0" indent="0" algn="l">
              <a:lnSpc>
                <a:spcPct val="100000"/>
              </a:lnSpc>
              <a:buNone/>
            </a:pPr>
            <a:r>
              <a:rPr lang="en-US" sz="2000" dirty="0">
                <a:solidFill>
                  <a:srgbClr val="FFFFFF"/>
                </a:solidFill>
                <a:latin typeface="Public Sans SemiBold" pitchFamily="34" charset="0"/>
                <a:ea typeface="Public Sans SemiBold" pitchFamily="34" charset="-122"/>
                <a:cs typeface="Public Sans SemiBold" pitchFamily="34" charset="-120"/>
              </a:rPr>
              <a:t>Protection is active</a:t>
            </a:r>
            <a:endParaRPr lang="en-US" sz="2000" dirty="0"/>
          </a:p>
        </p:txBody>
      </p:sp>
      <p:sp>
        <p:nvSpPr>
          <p:cNvPr id="13" name="Text 9"/>
          <p:cNvSpPr/>
          <p:nvPr/>
        </p:nvSpPr>
        <p:spPr>
          <a:xfrm>
            <a:off x="6553036" y="2798862"/>
            <a:ext cx="4724282" cy="589161"/>
          </a:xfrm>
          <a:prstGeom prst="rect">
            <a:avLst/>
          </a:prstGeom>
          <a:noFill/>
          <a:ln/>
        </p:spPr>
        <p:txBody>
          <a:bodyPr wrap="square" lIns="0" tIns="0" rIns="0" bIns="0" rtlCol="0" anchor="t">
            <a:normAutofit/>
          </a:bodyPr>
          <a:lstStyle/>
          <a:p>
            <a:pPr marL="0" indent="0" algn="l">
              <a:lnSpc>
                <a:spcPct val="121000"/>
              </a:lnSpc>
              <a:buNone/>
            </a:pPr>
            <a:r>
              <a:rPr lang="en-US" sz="1600" dirty="0">
                <a:solidFill>
                  <a:srgbClr val="FFFFFF"/>
                </a:solidFill>
                <a:latin typeface="Public Sans" pitchFamily="34" charset="0"/>
                <a:ea typeface="Public Sans" pitchFamily="34" charset="-122"/>
                <a:cs typeface="Public Sans" pitchFamily="34" charset="-120"/>
              </a:rPr>
              <a:t>No pulses beyond the configured timeout, motor disabled, LED illuminated, buzzer activated.</a:t>
            </a:r>
            <a:endParaRPr lang="en-US" sz="1600" dirty="0"/>
          </a:p>
        </p:txBody>
      </p:sp>
      <p:sp>
        <p:nvSpPr>
          <p:cNvPr id="14" name="Text 10"/>
          <p:cNvSpPr/>
          <p:nvPr/>
        </p:nvSpPr>
        <p:spPr>
          <a:xfrm>
            <a:off x="609585" y="5306493"/>
            <a:ext cx="5333867" cy="207169"/>
          </a:xfrm>
          <a:prstGeom prst="rect">
            <a:avLst/>
          </a:prstGeom>
          <a:noFill/>
          <a:ln/>
        </p:spPr>
        <p:txBody>
          <a:bodyPr wrap="none" lIns="0" tIns="0" rIns="0" bIns="0" rtlCol="0" anchor="t"/>
          <a:lstStyle/>
          <a:p>
            <a:pPr marL="0" indent="0" algn="l">
              <a:lnSpc>
                <a:spcPct val="113000"/>
              </a:lnSpc>
              <a:buNone/>
            </a:pPr>
            <a:r>
              <a:rPr lang="en-US" sz="1200" kern="100" spc="24" dirty="0">
                <a:solidFill>
                  <a:srgbClr val="939F99"/>
                </a:solidFill>
                <a:latin typeface="Spline Sans Mono" pitchFamily="34" charset="0"/>
                <a:ea typeface="Spline Sans Mono" pitchFamily="34" charset="-122"/>
                <a:cs typeface="Spline Sans Mono" pitchFamily="34" charset="-120"/>
              </a:rPr>
              <a:t>Prototype settings</a:t>
            </a:r>
            <a:endParaRPr lang="en-US" sz="1200" dirty="0"/>
          </a:p>
        </p:txBody>
      </p:sp>
      <p:sp>
        <p:nvSpPr>
          <p:cNvPr id="15" name="Text 11"/>
          <p:cNvSpPr/>
          <p:nvPr/>
        </p:nvSpPr>
        <p:spPr>
          <a:xfrm>
            <a:off x="6248244" y="5264622"/>
            <a:ext cx="5333867" cy="414338"/>
          </a:xfrm>
          <a:prstGeom prst="rect">
            <a:avLst/>
          </a:prstGeom>
          <a:noFill/>
          <a:ln/>
        </p:spPr>
        <p:txBody>
          <a:bodyPr wrap="square" lIns="0" tIns="0" rIns="0" bIns="0" rtlCol="0" anchor="t">
            <a:normAutofit/>
          </a:bodyPr>
          <a:lstStyle/>
          <a:p>
            <a:pPr marL="0" indent="0" algn="l">
              <a:lnSpc>
                <a:spcPct val="113000"/>
              </a:lnSpc>
              <a:buNone/>
            </a:pPr>
            <a:r>
              <a:rPr lang="en-US" sz="1200" kern="100" spc="24" dirty="0">
                <a:solidFill>
                  <a:srgbClr val="939F99"/>
                </a:solidFill>
                <a:latin typeface="Spline Sans Mono" pitchFamily="34" charset="0"/>
                <a:ea typeface="Spline Sans Mono" pitchFamily="34" charset="-122"/>
                <a:cs typeface="Spline Sans Mono" pitchFamily="34" charset="-120"/>
              </a:rPr>
              <a:t>Current logic detects loss of rotation, not every slowdown or every possible motor fault.</a:t>
            </a:r>
            <a:endParaRPr lang="en-US" sz="1200" dirty="0"/>
          </a:p>
        </p:txBody>
      </p:sp>
      <p:sp>
        <p:nvSpPr>
          <p:cNvPr id="16" name="Text 12"/>
          <p:cNvSpPr/>
          <p:nvPr/>
        </p:nvSpPr>
        <p:spPr>
          <a:xfrm>
            <a:off x="609585" y="5620841"/>
            <a:ext cx="5333867" cy="589161"/>
          </a:xfrm>
          <a:prstGeom prst="rect">
            <a:avLst/>
          </a:prstGeom>
          <a:noFill/>
          <a:ln/>
        </p:spPr>
        <p:txBody>
          <a:bodyPr wrap="square" lIns="0" tIns="0" rIns="0" bIns="0" rtlCol="0" anchor="t">
            <a:normAutofit/>
          </a:bodyPr>
          <a:lstStyle/>
          <a:p>
            <a:pPr marL="0" indent="0" algn="l">
              <a:lnSpc>
                <a:spcPct val="121000"/>
              </a:lnSpc>
              <a:buNone/>
            </a:pPr>
            <a:r>
              <a:rPr lang="en-US" sz="1600" dirty="0">
                <a:solidFill>
                  <a:srgbClr val="87ABA4"/>
                </a:solidFill>
                <a:latin typeface="Public Sans" pitchFamily="34" charset="0"/>
                <a:ea typeface="Public Sans" pitchFamily="34" charset="-122"/>
                <a:cs typeface="Public Sans" pitchFamily="34" charset="-120"/>
              </a:rPr>
              <a:t>3-second startup grace period · 1.5-second no-pulse timeout</a:t>
            </a:r>
            <a:endParaRPr lang="en-US" sz="1600" dirty="0"/>
          </a:p>
        </p:txBody>
      </p:sp>
      <p:sp>
        <p:nvSpPr>
          <p:cNvPr id="17" name="Shape 13"/>
          <p:cNvSpPr/>
          <p:nvPr/>
        </p:nvSpPr>
        <p:spPr>
          <a:xfrm>
            <a:off x="10944249" y="6461125"/>
            <a:ext cx="1156762" cy="312738"/>
          </a:xfrm>
          <a:prstGeom prst="rect">
            <a:avLst/>
          </a:prstGeom>
          <a:solidFill>
            <a:srgbClr val="17211F"/>
          </a:solidFill>
          <a:ln w="12700">
            <a:solidFill>
              <a:srgbClr val="17211F"/>
            </a:solidFill>
            <a:prstDash val="solid"/>
          </a:ln>
        </p:spPr>
      </p:sp>
    </p:spTree>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4571886" cy="6858000"/>
          </a:xfrm>
          <a:prstGeom prst="rect">
            <a:avLst/>
          </a:prstGeom>
          <a:solidFill>
            <a:srgbClr val="D99032"/>
          </a:solidFill>
          <a:ln/>
        </p:spPr>
      </p:sp>
      <p:sp>
        <p:nvSpPr>
          <p:cNvPr id="3" name="Text 1"/>
          <p:cNvSpPr/>
          <p:nvPr/>
        </p:nvSpPr>
        <p:spPr>
          <a:xfrm>
            <a:off x="355591" y="482600"/>
            <a:ext cx="4743331" cy="167580"/>
          </a:xfrm>
          <a:prstGeom prst="rect">
            <a:avLst/>
          </a:prstGeom>
          <a:noFill/>
          <a:ln/>
        </p:spPr>
        <p:txBody>
          <a:bodyPr wrap="none" lIns="0" tIns="0" rIns="0" bIns="0" rtlCol="0" anchor="t"/>
          <a:lstStyle/>
          <a:p>
            <a:pPr marL="0" indent="0" algn="l">
              <a:lnSpc>
                <a:spcPct val="100000"/>
              </a:lnSpc>
              <a:buNone/>
            </a:pPr>
            <a:r>
              <a:rPr lang="en-US" sz="1100" kern="100" spc="110" dirty="0">
                <a:solidFill>
                  <a:srgbClr val="16181C"/>
                </a:solidFill>
                <a:latin typeface="Spline Sans Mono" pitchFamily="34" charset="0"/>
                <a:ea typeface="Spline Sans Mono" pitchFamily="34" charset="-122"/>
                <a:cs typeface="Spline Sans Mono" pitchFamily="34" charset="-120"/>
              </a:rPr>
              <a:t>BUILD DETAIL · ALERT LOGIC</a:t>
            </a:r>
            <a:endParaRPr lang="en-US" sz="1100" dirty="0"/>
          </a:p>
        </p:txBody>
      </p:sp>
      <p:sp>
        <p:nvSpPr>
          <p:cNvPr id="4" name="Shape 2"/>
          <p:cNvSpPr/>
          <p:nvPr/>
        </p:nvSpPr>
        <p:spPr>
          <a:xfrm>
            <a:off x="355591" y="927100"/>
            <a:ext cx="1142971" cy="38100"/>
          </a:xfrm>
          <a:prstGeom prst="roundRect">
            <a:avLst>
              <a:gd name="adj" fmla="val 49999"/>
            </a:avLst>
          </a:prstGeom>
          <a:solidFill>
            <a:srgbClr val="F4C542"/>
          </a:solidFill>
          <a:ln/>
        </p:spPr>
      </p:sp>
      <p:sp>
        <p:nvSpPr>
          <p:cNvPr id="5" name="Text 3"/>
          <p:cNvSpPr/>
          <p:nvPr/>
        </p:nvSpPr>
        <p:spPr>
          <a:xfrm>
            <a:off x="355591" y="1429964"/>
            <a:ext cx="3752756" cy="457200"/>
          </a:xfrm>
          <a:prstGeom prst="rect">
            <a:avLst/>
          </a:prstGeom>
          <a:noFill/>
          <a:ln/>
        </p:spPr>
        <p:txBody>
          <a:bodyPr wrap="none" lIns="0" tIns="0" rIns="0" bIns="0" rtlCol="0" anchor="t"/>
          <a:lstStyle/>
          <a:p>
            <a:pPr marL="0" indent="0" algn="l">
              <a:lnSpc>
                <a:spcPct val="100000"/>
              </a:lnSpc>
              <a:buNone/>
            </a:pPr>
            <a:r>
              <a:rPr lang="en-US" sz="3000" kern="100" spc="-20" dirty="0">
                <a:solidFill>
                  <a:srgbClr val="16181C"/>
                </a:solidFill>
                <a:latin typeface="Sora SemiBold" pitchFamily="34" charset="0"/>
                <a:ea typeface="Sora SemiBold" pitchFamily="34" charset="-122"/>
                <a:cs typeface="Sora SemiBold" pitchFamily="34" charset="-120"/>
              </a:rPr>
              <a:t>Component details</a:t>
            </a:r>
            <a:endParaRPr lang="en-US" sz="3000" dirty="0"/>
          </a:p>
        </p:txBody>
      </p:sp>
      <p:sp>
        <p:nvSpPr>
          <p:cNvPr id="6" name="Text 4"/>
          <p:cNvSpPr/>
          <p:nvPr/>
        </p:nvSpPr>
        <p:spPr>
          <a:xfrm>
            <a:off x="355591" y="2606834"/>
            <a:ext cx="3752756" cy="506611"/>
          </a:xfrm>
          <a:prstGeom prst="rect">
            <a:avLst/>
          </a:prstGeom>
          <a:noFill/>
          <a:ln/>
        </p:spPr>
        <p:txBody>
          <a:bodyPr wrap="square" lIns="0" tIns="0" rIns="0" bIns="0" rtlCol="0" anchor="t">
            <a:normAutofit/>
          </a:bodyPr>
          <a:lstStyle/>
          <a:p>
            <a:pPr marL="0" indent="0" algn="l">
              <a:lnSpc>
                <a:spcPct val="111000"/>
              </a:lnSpc>
              <a:buNone/>
            </a:pPr>
            <a:r>
              <a:rPr lang="en-US" sz="1500" dirty="0">
                <a:solidFill>
                  <a:srgbClr val="16181C"/>
                </a:solidFill>
                <a:latin typeface="Public Sans" pitchFamily="34" charset="0"/>
                <a:ea typeface="Public Sans" pitchFamily="34" charset="-122"/>
                <a:cs typeface="Public Sans" pitchFamily="34" charset="-120"/>
              </a:rPr>
              <a:t>Small parts turn the motion signal into a visible, actionable protection response.</a:t>
            </a:r>
            <a:endParaRPr lang="en-US" sz="1500" dirty="0"/>
          </a:p>
        </p:txBody>
      </p:sp>
      <p:sp>
        <p:nvSpPr>
          <p:cNvPr id="7" name="Shape 5"/>
          <p:cNvSpPr/>
          <p:nvPr/>
        </p:nvSpPr>
        <p:spPr>
          <a:xfrm>
            <a:off x="355591" y="3873500"/>
            <a:ext cx="3809905" cy="2413000"/>
          </a:xfrm>
          <a:prstGeom prst="roundRect">
            <a:avLst>
              <a:gd name="adj" fmla="val 1421"/>
            </a:avLst>
          </a:prstGeom>
          <a:solidFill>
            <a:srgbClr val="17211F"/>
          </a:solidFill>
          <a:ln/>
        </p:spPr>
      </p:sp>
      <p:sp>
        <p:nvSpPr>
          <p:cNvPr id="8" name="Text 6"/>
          <p:cNvSpPr/>
          <p:nvPr/>
        </p:nvSpPr>
        <p:spPr>
          <a:xfrm>
            <a:off x="558786" y="4089400"/>
            <a:ext cx="3981350" cy="251420"/>
          </a:xfrm>
          <a:prstGeom prst="rect">
            <a:avLst/>
          </a:prstGeom>
          <a:noFill/>
          <a:ln/>
        </p:spPr>
        <p:txBody>
          <a:bodyPr wrap="none" lIns="0" tIns="0" rIns="0" bIns="0" rtlCol="0" anchor="t"/>
          <a:lstStyle/>
          <a:p>
            <a:pPr marL="0" indent="0" algn="l">
              <a:lnSpc>
                <a:spcPct val="100000"/>
              </a:lnSpc>
              <a:buNone/>
            </a:pPr>
            <a:r>
              <a:rPr lang="en-US" sz="1650" dirty="0">
                <a:solidFill>
                  <a:srgbClr val="FFFFFF"/>
                </a:solidFill>
                <a:latin typeface="Public Sans SemiBold" pitchFamily="34" charset="0"/>
                <a:ea typeface="Public Sans SemiBold" pitchFamily="34" charset="-122"/>
                <a:cs typeface="Public Sans SemiBold" pitchFamily="34" charset="-120"/>
              </a:rPr>
              <a:t>Resistor code</a:t>
            </a:r>
            <a:endParaRPr lang="en-US" sz="1650" dirty="0"/>
          </a:p>
        </p:txBody>
      </p:sp>
      <p:sp>
        <p:nvSpPr>
          <p:cNvPr id="9" name="Text 7"/>
          <p:cNvSpPr/>
          <p:nvPr/>
        </p:nvSpPr>
        <p:spPr>
          <a:xfrm>
            <a:off x="558786" y="4523454"/>
            <a:ext cx="3371766" cy="439142"/>
          </a:xfrm>
          <a:prstGeom prst="rect">
            <a:avLst/>
          </a:prstGeom>
          <a:noFill/>
          <a:ln/>
        </p:spPr>
        <p:txBody>
          <a:bodyPr wrap="square" lIns="0" tIns="0" rIns="0" bIns="0" rtlCol="0" anchor="t">
            <a:normAutofit/>
          </a:bodyPr>
          <a:lstStyle/>
          <a:p>
            <a:pPr marL="0" indent="0" algn="l">
              <a:lnSpc>
                <a:spcPct val="111000"/>
              </a:lnSpc>
              <a:buNone/>
            </a:pPr>
            <a:r>
              <a:rPr lang="en-US" sz="1300" dirty="0">
                <a:solidFill>
                  <a:srgbClr val="FFFFFF"/>
                </a:solidFill>
                <a:latin typeface="Public Sans" pitchFamily="34" charset="0"/>
                <a:ea typeface="Public Sans" pitchFamily="34" charset="-122"/>
                <a:cs typeface="Public Sans" pitchFamily="34" charset="-120"/>
              </a:rPr>
              <a:t>Brown · Green · Red · Gold</a:t>
            </a:r>
            <a:endParaRPr lang="en-US" sz="1300" dirty="0"/>
          </a:p>
          <a:p>
            <a:pPr marL="0" indent="0" algn="l">
              <a:lnSpc>
                <a:spcPct val="111000"/>
              </a:lnSpc>
              <a:buNone/>
            </a:pPr>
            <a:r>
              <a:rPr lang="en-US" sz="1300" dirty="0">
                <a:solidFill>
                  <a:srgbClr val="F4C542"/>
                </a:solidFill>
                <a:latin typeface="Public Sans" pitchFamily="34" charset="0"/>
                <a:ea typeface="Public Sans" pitchFamily="34" charset="-122"/>
                <a:cs typeface="Public Sans" pitchFamily="34" charset="-120"/>
              </a:rPr>
              <a:t>Tolerance: ±5%</a:t>
            </a:r>
            <a:endParaRPr lang="en-US" sz="1300" dirty="0"/>
          </a:p>
        </p:txBody>
      </p:sp>
      <p:sp>
        <p:nvSpPr>
          <p:cNvPr id="10" name="Shape 8"/>
          <p:cNvSpPr/>
          <p:nvPr/>
        </p:nvSpPr>
        <p:spPr>
          <a:xfrm>
            <a:off x="787380" y="5384800"/>
            <a:ext cx="457189" cy="304800"/>
          </a:xfrm>
          <a:prstGeom prst="roundRect">
            <a:avLst>
              <a:gd name="adj" fmla="val 11250"/>
            </a:avLst>
          </a:prstGeom>
          <a:solidFill>
            <a:srgbClr val="8A4B2A"/>
          </a:solidFill>
          <a:ln/>
        </p:spPr>
      </p:sp>
      <p:sp>
        <p:nvSpPr>
          <p:cNvPr id="11" name="Shape 9"/>
          <p:cNvSpPr/>
          <p:nvPr/>
        </p:nvSpPr>
        <p:spPr>
          <a:xfrm>
            <a:off x="1320767" y="5384800"/>
            <a:ext cx="457189" cy="304800"/>
          </a:xfrm>
          <a:prstGeom prst="roundRect">
            <a:avLst>
              <a:gd name="adj" fmla="val 11250"/>
            </a:avLst>
          </a:prstGeom>
          <a:solidFill>
            <a:srgbClr val="2E7D32"/>
          </a:solidFill>
          <a:ln/>
        </p:spPr>
      </p:sp>
      <p:sp>
        <p:nvSpPr>
          <p:cNvPr id="12" name="Shape 10"/>
          <p:cNvSpPr/>
          <p:nvPr/>
        </p:nvSpPr>
        <p:spPr>
          <a:xfrm>
            <a:off x="1854154" y="5384800"/>
            <a:ext cx="457189" cy="304800"/>
          </a:xfrm>
          <a:prstGeom prst="roundRect">
            <a:avLst>
              <a:gd name="adj" fmla="val 11250"/>
            </a:avLst>
          </a:prstGeom>
          <a:solidFill>
            <a:srgbClr val="B33A2E"/>
          </a:solidFill>
          <a:ln/>
        </p:spPr>
      </p:sp>
      <p:sp>
        <p:nvSpPr>
          <p:cNvPr id="13" name="Shape 11"/>
          <p:cNvSpPr/>
          <p:nvPr/>
        </p:nvSpPr>
        <p:spPr>
          <a:xfrm>
            <a:off x="2387540" y="5384800"/>
            <a:ext cx="457189" cy="304800"/>
          </a:xfrm>
          <a:prstGeom prst="roundRect">
            <a:avLst>
              <a:gd name="adj" fmla="val 11250"/>
            </a:avLst>
          </a:prstGeom>
          <a:solidFill>
            <a:srgbClr val="D9A441"/>
          </a:solidFill>
          <a:ln/>
        </p:spPr>
      </p:sp>
      <p:sp>
        <p:nvSpPr>
          <p:cNvPr id="14" name="Text 12"/>
          <p:cNvSpPr/>
          <p:nvPr/>
        </p:nvSpPr>
        <p:spPr>
          <a:xfrm>
            <a:off x="558786" y="5973889"/>
            <a:ext cx="3911502" cy="189905"/>
          </a:xfrm>
          <a:prstGeom prst="rect">
            <a:avLst/>
          </a:prstGeom>
          <a:noFill/>
          <a:ln/>
        </p:spPr>
        <p:txBody>
          <a:bodyPr wrap="none" lIns="0" tIns="0" rIns="0" bIns="0" rtlCol="0" anchor="t"/>
          <a:lstStyle/>
          <a:p>
            <a:pPr marL="0" indent="0" algn="l">
              <a:lnSpc>
                <a:spcPct val="113000"/>
              </a:lnSpc>
              <a:buNone/>
            </a:pPr>
            <a:r>
              <a:rPr lang="en-US" sz="1100" kern="100" spc="24" dirty="0">
                <a:solidFill>
                  <a:srgbClr val="FFFFFF"/>
                </a:solidFill>
                <a:latin typeface="Spline Sans Mono" pitchFamily="34" charset="0"/>
                <a:ea typeface="Spline Sans Mono" pitchFamily="34" charset="-122"/>
                <a:cs typeface="Spline Sans Mono" pitchFamily="34" charset="-120"/>
              </a:rPr>
              <a:t>Current-limiting protection.</a:t>
            </a:r>
            <a:endParaRPr lang="en-US" sz="1100" dirty="0"/>
          </a:p>
        </p:txBody>
      </p:sp>
      <p:sp>
        <p:nvSpPr>
          <p:cNvPr id="15" name="Shape 13"/>
          <p:cNvSpPr/>
          <p:nvPr/>
        </p:nvSpPr>
        <p:spPr>
          <a:xfrm>
            <a:off x="4571886" y="0"/>
            <a:ext cx="7619809" cy="6858000"/>
          </a:xfrm>
          <a:prstGeom prst="rect">
            <a:avLst/>
          </a:prstGeom>
          <a:solidFill>
            <a:srgbClr val="17211F"/>
          </a:solidFill>
          <a:ln/>
        </p:spPr>
      </p:sp>
      <p:pic>
        <p:nvPicPr>
          <p:cNvPr id="16" name="Image 0" descr="preencoded.png"/>
          <p:cNvPicPr>
            <a:picLocks noChangeAspect="1"/>
          </p:cNvPicPr>
          <p:nvPr/>
        </p:nvPicPr>
        <p:blipFill>
          <a:blip r:embed="rId3"/>
          <a:stretch>
            <a:fillRect/>
          </a:stretch>
        </p:blipFill>
        <p:spPr>
          <a:xfrm>
            <a:off x="4952876" y="355600"/>
            <a:ext cx="6857828" cy="3175000"/>
          </a:xfrm>
          <a:prstGeom prst="rect">
            <a:avLst/>
          </a:prstGeom>
        </p:spPr>
      </p:pic>
      <p:sp>
        <p:nvSpPr>
          <p:cNvPr id="17" name="Shape 14"/>
          <p:cNvSpPr/>
          <p:nvPr/>
        </p:nvSpPr>
        <p:spPr>
          <a:xfrm>
            <a:off x="4952876" y="2870200"/>
            <a:ext cx="6857828" cy="660400"/>
          </a:xfrm>
          <a:prstGeom prst="roundRect">
            <a:avLst>
              <a:gd name="adj" fmla="val 5192"/>
            </a:avLst>
          </a:prstGeom>
          <a:solidFill>
            <a:srgbClr val="17211F">
              <a:alpha val="62000"/>
            </a:srgbClr>
          </a:solidFill>
          <a:ln/>
        </p:spPr>
      </p:sp>
      <p:sp>
        <p:nvSpPr>
          <p:cNvPr id="18" name="Text 15"/>
          <p:cNvSpPr/>
          <p:nvPr/>
        </p:nvSpPr>
        <p:spPr>
          <a:xfrm>
            <a:off x="5206870" y="3048000"/>
            <a:ext cx="6902277" cy="251420"/>
          </a:xfrm>
          <a:prstGeom prst="rect">
            <a:avLst/>
          </a:prstGeom>
          <a:noFill/>
          <a:ln/>
        </p:spPr>
        <p:txBody>
          <a:bodyPr wrap="none" lIns="0" tIns="0" rIns="0" bIns="0" rtlCol="0" anchor="t"/>
          <a:lstStyle/>
          <a:p>
            <a:pPr marL="0" indent="0" algn="l">
              <a:lnSpc>
                <a:spcPct val="100000"/>
              </a:lnSpc>
              <a:buNone/>
            </a:pPr>
            <a:r>
              <a:rPr lang="en-US" sz="1650" dirty="0">
                <a:solidFill>
                  <a:srgbClr val="FFFFFF"/>
                </a:solidFill>
                <a:latin typeface="Public Sans SemiBold" pitchFamily="34" charset="0"/>
                <a:ea typeface="Public Sans SemiBold" pitchFamily="34" charset="-122"/>
                <a:cs typeface="Public Sans SemiBold" pitchFamily="34" charset="-120"/>
              </a:rPr>
              <a:t>Prototype hardware · sensor, motor, and controller</a:t>
            </a:r>
            <a:endParaRPr lang="en-US" sz="1650" dirty="0"/>
          </a:p>
        </p:txBody>
      </p:sp>
      <p:sp>
        <p:nvSpPr>
          <p:cNvPr id="19" name="Text 16"/>
          <p:cNvSpPr/>
          <p:nvPr/>
        </p:nvSpPr>
        <p:spPr>
          <a:xfrm>
            <a:off x="4952876" y="3810000"/>
            <a:ext cx="6902277" cy="251420"/>
          </a:xfrm>
          <a:prstGeom prst="rect">
            <a:avLst/>
          </a:prstGeom>
          <a:noFill/>
          <a:ln/>
        </p:spPr>
        <p:txBody>
          <a:bodyPr wrap="none" lIns="0" tIns="0" rIns="0" bIns="0" rtlCol="0" anchor="t"/>
          <a:lstStyle/>
          <a:p>
            <a:pPr marL="0" indent="0" algn="l">
              <a:lnSpc>
                <a:spcPct val="100000"/>
              </a:lnSpc>
              <a:buNone/>
            </a:pPr>
            <a:r>
              <a:rPr lang="en-US" sz="1650" dirty="0">
                <a:solidFill>
                  <a:srgbClr val="87ABA4"/>
                </a:solidFill>
                <a:latin typeface="Public Sans SemiBold" pitchFamily="34" charset="0"/>
                <a:ea typeface="Public Sans SemiBold" pitchFamily="34" charset="-122"/>
                <a:cs typeface="Public Sans SemiBold" pitchFamily="34" charset="-120"/>
              </a:rPr>
              <a:t>Alert conditions</a:t>
            </a:r>
            <a:endParaRPr lang="en-US" sz="1650" dirty="0"/>
          </a:p>
        </p:txBody>
      </p:sp>
      <p:sp>
        <p:nvSpPr>
          <p:cNvPr id="20" name="Shape 17"/>
          <p:cNvSpPr/>
          <p:nvPr/>
        </p:nvSpPr>
        <p:spPr>
          <a:xfrm>
            <a:off x="4952876" y="4343400"/>
            <a:ext cx="3301917" cy="990600"/>
          </a:xfrm>
          <a:prstGeom prst="roundRect">
            <a:avLst>
              <a:gd name="adj" fmla="val 3461"/>
            </a:avLst>
          </a:prstGeom>
          <a:solidFill>
            <a:srgbClr val="24332F"/>
          </a:solidFill>
          <a:ln/>
        </p:spPr>
      </p:sp>
      <p:sp>
        <p:nvSpPr>
          <p:cNvPr id="21" name="Text 18"/>
          <p:cNvSpPr/>
          <p:nvPr/>
        </p:nvSpPr>
        <p:spPr>
          <a:xfrm>
            <a:off x="5156071" y="4498054"/>
            <a:ext cx="3473363" cy="219571"/>
          </a:xfrm>
          <a:prstGeom prst="rect">
            <a:avLst/>
          </a:prstGeom>
          <a:noFill/>
          <a:ln/>
        </p:spPr>
        <p:txBody>
          <a:bodyPr wrap="none" lIns="0" tIns="0" rIns="0" bIns="0" rtlCol="0" anchor="t"/>
          <a:lstStyle/>
          <a:p>
            <a:pPr marL="0" indent="0" algn="l">
              <a:lnSpc>
                <a:spcPct val="111000"/>
              </a:lnSpc>
              <a:buNone/>
            </a:pPr>
            <a:r>
              <a:rPr lang="en-US" sz="1300" b="1" dirty="0">
                <a:solidFill>
                  <a:srgbClr val="F4C542"/>
                </a:solidFill>
                <a:latin typeface="Public Sans Bold" pitchFamily="34" charset="0"/>
                <a:ea typeface="Public Sans Bold" pitchFamily="34" charset="-122"/>
                <a:cs typeface="Public Sans Bold" pitchFamily="34" charset="-120"/>
              </a:rPr>
              <a:t>LED glows</a:t>
            </a:r>
            <a:r>
              <a:rPr lang="en-US" sz="1300" dirty="0">
                <a:solidFill>
                  <a:srgbClr val="FFFFFF"/>
                </a:solidFill>
                <a:latin typeface="Public Sans" pitchFamily="34" charset="0"/>
                <a:ea typeface="Public Sans" pitchFamily="34" charset="-122"/>
                <a:cs typeface="Public Sans" pitchFamily="34" charset="-120"/>
              </a:rPr>
              <a:t> when RPM is below 2100.</a:t>
            </a:r>
            <a:endParaRPr lang="en-US" sz="1300" dirty="0"/>
          </a:p>
        </p:txBody>
      </p:sp>
      <p:sp>
        <p:nvSpPr>
          <p:cNvPr id="22" name="Shape 19"/>
          <p:cNvSpPr/>
          <p:nvPr/>
        </p:nvSpPr>
        <p:spPr>
          <a:xfrm>
            <a:off x="8508787" y="4343400"/>
            <a:ext cx="3301917" cy="990600"/>
          </a:xfrm>
          <a:prstGeom prst="roundRect">
            <a:avLst>
              <a:gd name="adj" fmla="val 3461"/>
            </a:avLst>
          </a:prstGeom>
          <a:solidFill>
            <a:srgbClr val="24332F"/>
          </a:solidFill>
          <a:ln/>
        </p:spPr>
      </p:sp>
      <p:sp>
        <p:nvSpPr>
          <p:cNvPr id="23" name="Text 20"/>
          <p:cNvSpPr/>
          <p:nvPr/>
        </p:nvSpPr>
        <p:spPr>
          <a:xfrm>
            <a:off x="8711982" y="4498054"/>
            <a:ext cx="2863778" cy="439142"/>
          </a:xfrm>
          <a:prstGeom prst="rect">
            <a:avLst/>
          </a:prstGeom>
          <a:noFill/>
          <a:ln/>
        </p:spPr>
        <p:txBody>
          <a:bodyPr wrap="square" lIns="0" tIns="0" rIns="0" bIns="0" rtlCol="0" anchor="t">
            <a:normAutofit/>
          </a:bodyPr>
          <a:lstStyle/>
          <a:p>
            <a:pPr marL="0" indent="0" algn="l">
              <a:lnSpc>
                <a:spcPct val="111000"/>
              </a:lnSpc>
              <a:buNone/>
            </a:pPr>
            <a:r>
              <a:rPr lang="en-US" sz="1300" b="1" dirty="0">
                <a:solidFill>
                  <a:srgbClr val="F4C542"/>
                </a:solidFill>
                <a:latin typeface="Public Sans Bold" pitchFamily="34" charset="0"/>
                <a:ea typeface="Public Sans Bold" pitchFamily="34" charset="-122"/>
                <a:cs typeface="Public Sans Bold" pitchFamily="34" charset="-120"/>
              </a:rPr>
              <a:t>LED + buzzer</a:t>
            </a:r>
            <a:r>
              <a:rPr lang="en-US" sz="1300" dirty="0">
                <a:solidFill>
                  <a:srgbClr val="FFFFFF"/>
                </a:solidFill>
                <a:latin typeface="Public Sans" pitchFamily="34" charset="0"/>
                <a:ea typeface="Public Sans" pitchFamily="34" charset="-122"/>
                <a:cs typeface="Public Sans" pitchFamily="34" charset="-120"/>
              </a:rPr>
              <a:t> glow when the motor is off or any fault occurs.</a:t>
            </a:r>
            <a:endParaRPr lang="en-US" sz="1300" dirty="0"/>
          </a:p>
        </p:txBody>
      </p:sp>
      <p:sp>
        <p:nvSpPr>
          <p:cNvPr id="24" name="Shape 21"/>
          <p:cNvSpPr/>
          <p:nvPr/>
        </p:nvSpPr>
        <p:spPr>
          <a:xfrm>
            <a:off x="4952876" y="5715000"/>
            <a:ext cx="6857828" cy="685800"/>
          </a:xfrm>
          <a:prstGeom prst="roundRect">
            <a:avLst>
              <a:gd name="adj" fmla="val 5000"/>
            </a:avLst>
          </a:prstGeom>
          <a:solidFill>
            <a:srgbClr val="A83A1C"/>
          </a:solidFill>
          <a:ln/>
        </p:spPr>
      </p:sp>
      <p:sp>
        <p:nvSpPr>
          <p:cNvPr id="25" name="Text 22"/>
          <p:cNvSpPr/>
          <p:nvPr/>
        </p:nvSpPr>
        <p:spPr>
          <a:xfrm>
            <a:off x="5156071" y="5856954"/>
            <a:ext cx="7029274" cy="219571"/>
          </a:xfrm>
          <a:prstGeom prst="rect">
            <a:avLst/>
          </a:prstGeom>
          <a:noFill/>
          <a:ln/>
        </p:spPr>
        <p:txBody>
          <a:bodyPr wrap="none" lIns="0" tIns="0" rIns="0" bIns="0" rtlCol="0" anchor="t"/>
          <a:lstStyle/>
          <a:p>
            <a:pPr marL="0" indent="0" algn="l">
              <a:lnSpc>
                <a:spcPct val="111000"/>
              </a:lnSpc>
              <a:buNone/>
            </a:pPr>
            <a:r>
              <a:rPr lang="en-US" sz="1300" b="1" dirty="0">
                <a:solidFill>
                  <a:srgbClr val="FFFFFF"/>
                </a:solidFill>
                <a:latin typeface="Public Sans Bold" pitchFamily="34" charset="0"/>
                <a:ea typeface="Public Sans Bold" pitchFamily="34" charset="-122"/>
                <a:cs typeface="Public Sans Bold" pitchFamily="34" charset="-120"/>
              </a:rPr>
              <a:t>Response:</a:t>
            </a:r>
            <a:r>
              <a:rPr lang="en-US" sz="1300" dirty="0">
                <a:solidFill>
                  <a:srgbClr val="FFFFFF"/>
                </a:solidFill>
                <a:latin typeface="Public Sans" pitchFamily="34" charset="0"/>
                <a:ea typeface="Public Sans" pitchFamily="34" charset="-122"/>
                <a:cs typeface="Public Sans" pitchFamily="34" charset="-120"/>
              </a:rPr>
              <a:t> make the loss of motion impossible to miss.</a:t>
            </a:r>
            <a:endParaRPr lang="en-US" sz="1300" dirty="0"/>
          </a:p>
        </p:txBody>
      </p:sp>
      <p:sp>
        <p:nvSpPr>
          <p:cNvPr id="26" name="Text 23"/>
          <p:cNvSpPr/>
          <p:nvPr/>
        </p:nvSpPr>
        <p:spPr>
          <a:xfrm>
            <a:off x="11882140" y="6464300"/>
            <a:ext cx="309555" cy="184150"/>
          </a:xfrm>
          <a:prstGeom prst="rect">
            <a:avLst/>
          </a:prstGeom>
          <a:noFill/>
          <a:ln/>
        </p:spPr>
        <p:txBody>
          <a:bodyPr wrap="none" lIns="0" tIns="0" rIns="0" bIns="0" rtlCol="0" anchor="t"/>
          <a:lstStyle/>
          <a:p>
            <a:pPr marL="0" indent="0" algn="l">
              <a:lnSpc>
                <a:spcPct val="121000"/>
              </a:lnSpc>
              <a:buNone/>
            </a:pPr>
            <a:r>
              <a:rPr lang="en-US" sz="1000" dirty="0">
                <a:solidFill>
                  <a:srgbClr val="87ABA4"/>
                </a:solidFill>
                <a:latin typeface="Public Sans" pitchFamily="34" charset="0"/>
                <a:ea typeface="Public Sans" pitchFamily="34" charset="-122"/>
                <a:cs typeface="Public Sans" pitchFamily="34" charset="-120"/>
              </a:rPr>
              <a:t>13</a:t>
            </a:r>
            <a:endParaRPr lang="en-US" sz="1000" dirty="0"/>
          </a:p>
        </p:txBody>
      </p:sp>
      <p:sp>
        <p:nvSpPr>
          <p:cNvPr id="27" name="Shape 24"/>
          <p:cNvSpPr/>
          <p:nvPr/>
        </p:nvSpPr>
        <p:spPr>
          <a:xfrm>
            <a:off x="11755838" y="6461125"/>
            <a:ext cx="282667" cy="184150"/>
          </a:xfrm>
          <a:prstGeom prst="rect">
            <a:avLst/>
          </a:prstGeom>
          <a:solidFill>
            <a:srgbClr val="17211F"/>
          </a:solidFill>
          <a:ln w="12700">
            <a:solidFill>
              <a:srgbClr val="17211F"/>
            </a:solidFill>
            <a:prstDash val="solid"/>
          </a:ln>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6502237" cy="6858000"/>
          </a:xfrm>
          <a:prstGeom prst="rect">
            <a:avLst/>
          </a:prstGeom>
          <a:solidFill>
            <a:srgbClr val="17211F"/>
          </a:solidFill>
          <a:ln/>
        </p:spPr>
      </p:sp>
      <p:sp>
        <p:nvSpPr>
          <p:cNvPr id="3" name="Text 1"/>
          <p:cNvSpPr/>
          <p:nvPr/>
        </p:nvSpPr>
        <p:spPr>
          <a:xfrm>
            <a:off x="431789" y="355600"/>
            <a:ext cx="6070448" cy="210245"/>
          </a:xfrm>
          <a:prstGeom prst="rect">
            <a:avLst/>
          </a:prstGeom>
          <a:noFill/>
          <a:ln/>
        </p:spPr>
        <p:txBody>
          <a:bodyPr wrap="none" lIns="0" tIns="0" rIns="0" bIns="0" rtlCol="0" anchor="t"/>
          <a:lstStyle/>
          <a:p>
            <a:pPr marL="0" indent="0" algn="l">
              <a:lnSpc>
                <a:spcPct val="100000"/>
              </a:lnSpc>
              <a:buNone/>
            </a:pPr>
            <a:r>
              <a:rPr lang="en-US" sz="1400" kern="100" spc="83" dirty="0">
                <a:solidFill>
                  <a:srgbClr val="FFFFFF"/>
                </a:solidFill>
                <a:latin typeface="Spline Sans Mono" pitchFamily="34" charset="0"/>
                <a:ea typeface="Spline Sans Mono" pitchFamily="34" charset="-122"/>
                <a:cs typeface="Spline Sans Mono" pitchFamily="34" charset="-120"/>
              </a:rPr>
              <a:t>JAMGUARD · MOTOR PROTECTION</a:t>
            </a:r>
            <a:endParaRPr lang="en-US" sz="1400" dirty="0"/>
          </a:p>
        </p:txBody>
      </p:sp>
      <p:sp>
        <p:nvSpPr>
          <p:cNvPr id="4" name="Text 2"/>
          <p:cNvSpPr/>
          <p:nvPr/>
        </p:nvSpPr>
        <p:spPr>
          <a:xfrm>
            <a:off x="431789" y="686733"/>
            <a:ext cx="5638659" cy="1036241"/>
          </a:xfrm>
          <a:prstGeom prst="rect">
            <a:avLst/>
          </a:prstGeom>
          <a:noFill/>
          <a:ln/>
        </p:spPr>
        <p:txBody>
          <a:bodyPr wrap="square" lIns="0" tIns="0" rIns="0" bIns="0" rtlCol="0" anchor="t">
            <a:normAutofit lnSpcReduction="10000"/>
          </a:bodyPr>
          <a:lstStyle/>
          <a:p>
            <a:pPr marL="0" indent="0" algn="l">
              <a:lnSpc>
                <a:spcPct val="100000"/>
              </a:lnSpc>
              <a:buNone/>
            </a:pPr>
            <a:r>
              <a:rPr lang="en-US" sz="3400" dirty="0">
                <a:solidFill>
                  <a:srgbClr val="FFFFFF"/>
                </a:solidFill>
                <a:latin typeface="Sora SemiBold" pitchFamily="34" charset="0"/>
                <a:ea typeface="Sora SemiBold" pitchFamily="34" charset="-122"/>
                <a:cs typeface="Sora SemiBold" pitchFamily="34" charset="-120"/>
              </a:rPr>
              <a:t>When RPM vanishes, efficiency hits zero</a:t>
            </a:r>
            <a:endParaRPr lang="en-US" sz="3400" dirty="0"/>
          </a:p>
        </p:txBody>
      </p:sp>
      <p:sp>
        <p:nvSpPr>
          <p:cNvPr id="5" name="Shape 3"/>
          <p:cNvSpPr/>
          <p:nvPr/>
        </p:nvSpPr>
        <p:spPr>
          <a:xfrm>
            <a:off x="431789" y="1984573"/>
            <a:ext cx="1860603" cy="38100"/>
          </a:xfrm>
          <a:prstGeom prst="roundRect">
            <a:avLst>
              <a:gd name="adj" fmla="val 49999"/>
            </a:avLst>
          </a:prstGeom>
          <a:solidFill>
            <a:srgbClr val="D99032"/>
          </a:solidFill>
          <a:ln/>
        </p:spPr>
      </p:sp>
      <p:sp>
        <p:nvSpPr>
          <p:cNvPr id="6" name="Text 4"/>
          <p:cNvSpPr/>
          <p:nvPr/>
        </p:nvSpPr>
        <p:spPr>
          <a:xfrm>
            <a:off x="431789" y="2302371"/>
            <a:ext cx="5638659" cy="426641"/>
          </a:xfrm>
          <a:prstGeom prst="rect">
            <a:avLst/>
          </a:prstGeom>
          <a:noFill/>
          <a:ln/>
        </p:spPr>
        <p:txBody>
          <a:bodyPr wrap="square" lIns="0" tIns="0" rIns="0" bIns="0" rtlCol="0" anchor="t">
            <a:normAutofit lnSpcReduction="10000"/>
          </a:bodyPr>
          <a:lstStyle/>
          <a:p>
            <a:pPr marL="0" indent="0" algn="l">
              <a:lnSpc>
                <a:spcPct val="100000"/>
              </a:lnSpc>
              <a:buNone/>
            </a:pPr>
            <a:r>
              <a:rPr lang="en-US" sz="1400" b="1" dirty="0">
                <a:solidFill>
                  <a:srgbClr val="FFFFFF"/>
                </a:solidFill>
                <a:latin typeface="Public Sans Bold" pitchFamily="34" charset="0"/>
                <a:ea typeface="Public Sans Bold" pitchFamily="34" charset="-122"/>
                <a:cs typeface="Public Sans Bold" pitchFamily="34" charset="-120"/>
              </a:rPr>
              <a:t>Efficiency (η) = Mechanical Power Out (Pout) / Electrical Power In (Pin) × 100%</a:t>
            </a:r>
            <a:endParaRPr lang="en-US" sz="1400" dirty="0"/>
          </a:p>
        </p:txBody>
      </p:sp>
      <p:sp>
        <p:nvSpPr>
          <p:cNvPr id="7" name="Text 5"/>
          <p:cNvSpPr/>
          <p:nvPr/>
        </p:nvSpPr>
        <p:spPr>
          <a:xfrm>
            <a:off x="431789" y="3202214"/>
            <a:ext cx="5638659" cy="431205"/>
          </a:xfrm>
          <a:prstGeom prst="rect">
            <a:avLst/>
          </a:prstGeom>
          <a:noFill/>
          <a:ln/>
        </p:spPr>
        <p:txBody>
          <a:bodyPr wrap="none" lIns="0" tIns="0" rIns="0" bIns="0" rtlCol="0" anchor="t"/>
          <a:lstStyle/>
          <a:p>
            <a:pPr marL="0" indent="0" algn="l">
              <a:lnSpc>
                <a:spcPct val="100000"/>
              </a:lnSpc>
              <a:buNone/>
            </a:pPr>
            <a:r>
              <a:rPr lang="en-US" sz="2850" dirty="0">
                <a:solidFill>
                  <a:srgbClr val="FFFFFF"/>
                </a:solidFill>
                <a:latin typeface="Sora SemiBold" pitchFamily="34" charset="0"/>
                <a:ea typeface="Sora SemiBold" pitchFamily="34" charset="-122"/>
                <a:cs typeface="Sora SemiBold" pitchFamily="34" charset="-120"/>
              </a:rPr>
              <a:t>The stalling paradox</a:t>
            </a:r>
            <a:endParaRPr lang="en-US" sz="2850" dirty="0"/>
          </a:p>
        </p:txBody>
      </p:sp>
      <p:sp>
        <p:nvSpPr>
          <p:cNvPr id="8" name="Text 6"/>
          <p:cNvSpPr/>
          <p:nvPr/>
        </p:nvSpPr>
        <p:spPr>
          <a:xfrm>
            <a:off x="431789" y="3855541"/>
            <a:ext cx="5638659" cy="304800"/>
          </a:xfrm>
          <a:prstGeom prst="rect">
            <a:avLst/>
          </a:prstGeom>
          <a:noFill/>
          <a:ln/>
        </p:spPr>
        <p:txBody>
          <a:bodyPr wrap="square" lIns="0" tIns="0" rIns="0" bIns="0" rtlCol="0" anchor="t">
            <a:normAutofit/>
          </a:bodyPr>
          <a:lstStyle/>
          <a:p>
            <a:pPr marL="0" indent="0" algn="l">
              <a:lnSpc>
                <a:spcPct val="100000"/>
              </a:lnSpc>
              <a:buNone/>
            </a:pPr>
            <a:r>
              <a:rPr lang="en-US" sz="1000" dirty="0">
                <a:solidFill>
                  <a:srgbClr val="FFFFFF"/>
                </a:solidFill>
                <a:latin typeface="Public Sans" pitchFamily="34" charset="0"/>
                <a:ea typeface="Public Sans" pitchFamily="34" charset="-122"/>
                <a:cs typeface="Public Sans" pitchFamily="34" charset="-120"/>
              </a:rPr>
              <a:t>When a conveyor or packaging machine jams, the motor can experience its highest possible torque (stall torque), but because RPM is zero, net efficiency is 0%.</a:t>
            </a:r>
            <a:endParaRPr lang="en-US" sz="1000" dirty="0"/>
          </a:p>
        </p:txBody>
      </p:sp>
      <p:sp>
        <p:nvSpPr>
          <p:cNvPr id="9" name="Text 7"/>
          <p:cNvSpPr/>
          <p:nvPr/>
        </p:nvSpPr>
        <p:spPr>
          <a:xfrm>
            <a:off x="431789" y="4624018"/>
            <a:ext cx="5638659" cy="431205"/>
          </a:xfrm>
          <a:prstGeom prst="rect">
            <a:avLst/>
          </a:prstGeom>
          <a:noFill/>
          <a:ln/>
        </p:spPr>
        <p:txBody>
          <a:bodyPr wrap="none" lIns="0" tIns="0" rIns="0" bIns="0" rtlCol="0" anchor="t"/>
          <a:lstStyle/>
          <a:p>
            <a:pPr marL="0" indent="0" algn="l">
              <a:lnSpc>
                <a:spcPct val="100000"/>
              </a:lnSpc>
              <a:buNone/>
            </a:pPr>
            <a:r>
              <a:rPr lang="en-US" sz="2850" dirty="0">
                <a:solidFill>
                  <a:srgbClr val="FFFFFF"/>
                </a:solidFill>
                <a:latin typeface="Sora SemiBold" pitchFamily="34" charset="0"/>
                <a:ea typeface="Sora SemiBold" pitchFamily="34" charset="-122"/>
                <a:cs typeface="Sora SemiBold" pitchFamily="34" charset="-120"/>
              </a:rPr>
              <a:t>Why JamGuard is essential</a:t>
            </a:r>
            <a:endParaRPr lang="en-US" sz="2850" dirty="0"/>
          </a:p>
        </p:txBody>
      </p:sp>
      <p:sp>
        <p:nvSpPr>
          <p:cNvPr id="10" name="Text 8"/>
          <p:cNvSpPr/>
          <p:nvPr/>
        </p:nvSpPr>
        <p:spPr>
          <a:xfrm>
            <a:off x="431789" y="5277346"/>
            <a:ext cx="5638659" cy="304800"/>
          </a:xfrm>
          <a:prstGeom prst="rect">
            <a:avLst/>
          </a:prstGeom>
          <a:noFill/>
          <a:ln/>
        </p:spPr>
        <p:txBody>
          <a:bodyPr wrap="square" lIns="0" tIns="0" rIns="0" bIns="0" rtlCol="0" anchor="t">
            <a:normAutofit/>
          </a:bodyPr>
          <a:lstStyle/>
          <a:p>
            <a:pPr marL="0" indent="0" algn="l">
              <a:lnSpc>
                <a:spcPct val="100000"/>
              </a:lnSpc>
              <a:buNone/>
            </a:pPr>
            <a:r>
              <a:rPr lang="en-US" sz="1000" dirty="0">
                <a:solidFill>
                  <a:srgbClr val="FFFFFF"/>
                </a:solidFill>
                <a:latin typeface="Public Sans" pitchFamily="34" charset="0"/>
                <a:ea typeface="Public Sans" pitchFamily="34" charset="-122"/>
                <a:cs typeface="Public Sans" pitchFamily="34" charset="-120"/>
              </a:rPr>
              <a:t>During a jam, incoming electrical power (V × I) is converted into heat inside the motor windings; JamGuard protects the motor by shutting it down when RPM vanishes.</a:t>
            </a:r>
            <a:endParaRPr lang="en-US" sz="1000" dirty="0"/>
          </a:p>
        </p:txBody>
      </p:sp>
      <p:sp>
        <p:nvSpPr>
          <p:cNvPr id="11" name="Shape 9"/>
          <p:cNvSpPr/>
          <p:nvPr/>
        </p:nvSpPr>
        <p:spPr>
          <a:xfrm>
            <a:off x="6502237" y="0"/>
            <a:ext cx="5689458" cy="6858000"/>
          </a:xfrm>
          <a:prstGeom prst="rect">
            <a:avLst/>
          </a:prstGeom>
          <a:solidFill>
            <a:srgbClr val="26332F"/>
          </a:solidFill>
          <a:ln/>
        </p:spPr>
      </p:sp>
      <p:sp>
        <p:nvSpPr>
          <p:cNvPr id="12" name="Text 10"/>
          <p:cNvSpPr/>
          <p:nvPr/>
        </p:nvSpPr>
        <p:spPr>
          <a:xfrm>
            <a:off x="6807030" y="320802"/>
            <a:ext cx="5079873" cy="431205"/>
          </a:xfrm>
          <a:prstGeom prst="rect">
            <a:avLst/>
          </a:prstGeom>
          <a:noFill/>
          <a:ln/>
        </p:spPr>
        <p:txBody>
          <a:bodyPr wrap="none" lIns="0" tIns="0" rIns="0" bIns="0" rtlCol="0" anchor="t"/>
          <a:lstStyle/>
          <a:p>
            <a:pPr marL="0" indent="0" algn="l">
              <a:lnSpc>
                <a:spcPct val="100000"/>
              </a:lnSpc>
              <a:buNone/>
            </a:pPr>
            <a:r>
              <a:rPr lang="en-US" sz="2850" dirty="0">
                <a:solidFill>
                  <a:srgbClr val="FFFFFF"/>
                </a:solidFill>
                <a:latin typeface="Sora SemiBold" pitchFamily="34" charset="0"/>
                <a:ea typeface="Sora SemiBold" pitchFamily="34" charset="-122"/>
                <a:cs typeface="Sora SemiBold" pitchFamily="34" charset="-120"/>
              </a:rPr>
              <a:t>RPM over time</a:t>
            </a:r>
            <a:endParaRPr lang="en-US" sz="2850" dirty="0"/>
          </a:p>
        </p:txBody>
      </p:sp>
      <p:pic>
        <p:nvPicPr>
          <p:cNvPr id="13" name="Image 0" descr="preencoded.png"/>
          <p:cNvPicPr>
            <a:picLocks noChangeAspect="1"/>
          </p:cNvPicPr>
          <p:nvPr/>
        </p:nvPicPr>
        <p:blipFill>
          <a:blip r:embed="rId3"/>
          <a:stretch>
            <a:fillRect/>
          </a:stretch>
        </p:blipFill>
        <p:spPr>
          <a:xfrm>
            <a:off x="6807030" y="736005"/>
            <a:ext cx="5079873" cy="5186164"/>
          </a:xfrm>
          <a:prstGeom prst="rect">
            <a:avLst/>
          </a:prstGeom>
        </p:spPr>
      </p:pic>
      <p:sp>
        <p:nvSpPr>
          <p:cNvPr id="14" name="Text 11"/>
          <p:cNvSpPr/>
          <p:nvPr/>
        </p:nvSpPr>
        <p:spPr>
          <a:xfrm>
            <a:off x="6807030" y="6028769"/>
            <a:ext cx="5079873" cy="274241"/>
          </a:xfrm>
          <a:prstGeom prst="rect">
            <a:avLst/>
          </a:prstGeom>
          <a:noFill/>
          <a:ln/>
        </p:spPr>
        <p:txBody>
          <a:bodyPr wrap="square" lIns="0" tIns="0" rIns="0" bIns="0" rtlCol="0" anchor="t">
            <a:normAutofit lnSpcReduction="10000"/>
          </a:bodyPr>
          <a:lstStyle/>
          <a:p>
            <a:pPr marL="0" indent="0" algn="l">
              <a:lnSpc>
                <a:spcPct val="100000"/>
              </a:lnSpc>
              <a:buNone/>
            </a:pPr>
            <a:r>
              <a:rPr lang="en-US" sz="900" dirty="0">
                <a:solidFill>
                  <a:srgbClr val="FFFFFF"/>
                </a:solidFill>
                <a:latin typeface="Public Sans" pitchFamily="34" charset="0"/>
                <a:ea typeface="Public Sans" pitchFamily="34" charset="-122"/>
                <a:cs typeface="Public Sans" pitchFamily="34" charset="-120"/>
              </a:rPr>
              <a:t>The graph shows RPM performance relative to 2100 RPM, with the signal dropping to zero during a stall and returning to normal operation.</a:t>
            </a:r>
            <a:endParaRPr lang="en-US" sz="900" dirty="0"/>
          </a:p>
        </p:txBody>
      </p:sp>
      <p:pic>
        <p:nvPicPr>
          <p:cNvPr id="15" name="Image 1" descr="preencoded.png"/>
          <p:cNvPicPr>
            <a:picLocks noChangeAspect="1"/>
          </p:cNvPicPr>
          <p:nvPr/>
        </p:nvPicPr>
        <p:blipFill>
          <a:blip r:embed="rId4"/>
          <a:stretch>
            <a:fillRect/>
          </a:stretch>
        </p:blipFill>
        <p:spPr>
          <a:xfrm>
            <a:off x="11076306" y="6559054"/>
            <a:ext cx="1071833" cy="255984"/>
          </a:xfrm>
          <a:prstGeom prst="rect">
            <a:avLst/>
          </a:prstGeom>
        </p:spPr>
      </p:pic>
    </p:spTree>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1076504" y="6558955"/>
            <a:ext cx="1071833" cy="255984"/>
          </a:xfrm>
          <a:prstGeom prst="rect">
            <a:avLst/>
          </a:prstGeom>
        </p:spPr>
      </p:pic>
      <p:sp>
        <p:nvSpPr>
          <p:cNvPr id="3" name="Shape 0"/>
          <p:cNvSpPr/>
          <p:nvPr/>
        </p:nvSpPr>
        <p:spPr>
          <a:xfrm>
            <a:off x="6171649" y="4670127"/>
            <a:ext cx="6019253" cy="2182713"/>
          </a:xfrm>
          <a:prstGeom prst="rect">
            <a:avLst/>
          </a:prstGeom>
          <a:solidFill>
            <a:srgbClr val="17211F"/>
          </a:solidFill>
          <a:ln/>
        </p:spPr>
      </p:sp>
      <p:sp>
        <p:nvSpPr>
          <p:cNvPr id="4" name="Text 1"/>
          <p:cNvSpPr/>
          <p:nvPr/>
        </p:nvSpPr>
        <p:spPr>
          <a:xfrm>
            <a:off x="6324045" y="5157788"/>
            <a:ext cx="5867650" cy="251420"/>
          </a:xfrm>
          <a:prstGeom prst="rect">
            <a:avLst/>
          </a:prstGeom>
          <a:noFill/>
          <a:ln/>
        </p:spPr>
        <p:txBody>
          <a:bodyPr wrap="none" lIns="0" tIns="0" rIns="0" bIns="0" rtlCol="0" anchor="t"/>
          <a:lstStyle/>
          <a:p>
            <a:pPr marL="0" indent="0" algn="l">
              <a:lnSpc>
                <a:spcPct val="100000"/>
              </a:lnSpc>
              <a:buNone/>
            </a:pPr>
            <a:r>
              <a:rPr lang="en-US" sz="1650" dirty="0">
                <a:solidFill>
                  <a:srgbClr val="547871"/>
                </a:solidFill>
                <a:latin typeface="Public Sans SemiBold" pitchFamily="34" charset="0"/>
                <a:ea typeface="Public Sans SemiBold" pitchFamily="34" charset="-122"/>
                <a:cs typeface="Public Sans SemiBold" pitchFamily="34" charset="-120"/>
              </a:rPr>
              <a:t>Small motor-driven manufacturing systems</a:t>
            </a:r>
            <a:endParaRPr lang="en-US" sz="1650" dirty="0"/>
          </a:p>
        </p:txBody>
      </p:sp>
      <p:sp>
        <p:nvSpPr>
          <p:cNvPr id="5" name="Text 2"/>
          <p:cNvSpPr/>
          <p:nvPr/>
        </p:nvSpPr>
        <p:spPr>
          <a:xfrm>
            <a:off x="6324045" y="5484019"/>
            <a:ext cx="5600163" cy="830064"/>
          </a:xfrm>
          <a:prstGeom prst="rect">
            <a:avLst/>
          </a:prstGeom>
          <a:noFill/>
          <a:ln/>
        </p:spPr>
        <p:txBody>
          <a:bodyPr wrap="square" lIns="0" tIns="0" rIns="0" bIns="0" rtlCol="0" anchor="t">
            <a:normAutofit/>
          </a:bodyPr>
          <a:lstStyle/>
          <a:p>
            <a:pPr marL="0" indent="0" algn="l">
              <a:lnSpc>
                <a:spcPct val="111000"/>
              </a:lnSpc>
              <a:spcAft>
                <a:spcPts val="1100"/>
              </a:spcAft>
              <a:buNone/>
            </a:pPr>
            <a:r>
              <a:rPr lang="en-US" sz="1350" b="1" dirty="0">
                <a:solidFill>
                  <a:srgbClr val="87ABA4"/>
                </a:solidFill>
                <a:latin typeface="Public Sans Bold" pitchFamily="34" charset="0"/>
                <a:ea typeface="Public Sans Bold" pitchFamily="34" charset="-122"/>
                <a:cs typeface="Public Sans Bold" pitchFamily="34" charset="-120"/>
              </a:rPr>
              <a:t>Problem:</a:t>
            </a:r>
            <a:r>
              <a:rPr lang="en-US" sz="1350" dirty="0">
                <a:solidFill>
                  <a:srgbClr val="87ABA4"/>
                </a:solidFill>
                <a:latin typeface="Public Sans" pitchFamily="34" charset="0"/>
                <a:ea typeface="Public Sans" pitchFamily="34" charset="-122"/>
                <a:cs typeface="Public Sans" pitchFamily="34" charset="-120"/>
              </a:rPr>
              <a:t> A compact machine can keep running logically while mechanical motion stops.</a:t>
            </a:r>
            <a:endParaRPr lang="en-US" sz="1350" dirty="0"/>
          </a:p>
          <a:p>
            <a:pPr marL="0" indent="0" algn="l">
              <a:lnSpc>
                <a:spcPct val="111000"/>
              </a:lnSpc>
              <a:buNone/>
            </a:pPr>
            <a:r>
              <a:rPr lang="en-US" sz="1350" b="1" dirty="0">
                <a:solidFill>
                  <a:srgbClr val="87ABA4"/>
                </a:solidFill>
                <a:latin typeface="Public Sans Bold" pitchFamily="34" charset="0"/>
                <a:ea typeface="Public Sans Bold" pitchFamily="34" charset="-122"/>
                <a:cs typeface="Public Sans Bold" pitchFamily="34" charset="-120"/>
              </a:rPr>
              <a:t>Solution:</a:t>
            </a:r>
            <a:r>
              <a:rPr lang="en-US" sz="1350" dirty="0">
                <a:solidFill>
                  <a:srgbClr val="87ABA4"/>
                </a:solidFill>
                <a:latin typeface="Public Sans" pitchFamily="34" charset="0"/>
                <a:ea typeface="Public Sans" pitchFamily="34" charset="-122"/>
                <a:cs typeface="Public Sans" pitchFamily="34" charset="-120"/>
              </a:rPr>
              <a:t> Apply the sense–decide–protect pattern to the mechanism.</a:t>
            </a:r>
            <a:endParaRPr lang="en-US" sz="1350" dirty="0"/>
          </a:p>
        </p:txBody>
      </p:sp>
      <p:sp>
        <p:nvSpPr>
          <p:cNvPr id="6" name="Text 3"/>
          <p:cNvSpPr/>
          <p:nvPr/>
        </p:nvSpPr>
        <p:spPr>
          <a:xfrm>
            <a:off x="11882140" y="6464300"/>
            <a:ext cx="309555" cy="184150"/>
          </a:xfrm>
          <a:prstGeom prst="rect">
            <a:avLst/>
          </a:prstGeom>
          <a:noFill/>
          <a:ln/>
        </p:spPr>
        <p:txBody>
          <a:bodyPr wrap="none" lIns="0" tIns="0" rIns="0" bIns="0" rtlCol="0" anchor="t"/>
          <a:lstStyle/>
          <a:p>
            <a:pPr marL="0" indent="0" algn="l">
              <a:lnSpc>
                <a:spcPct val="121000"/>
              </a:lnSpc>
              <a:buNone/>
            </a:pPr>
            <a:r>
              <a:rPr lang="en-US" sz="1000" dirty="0">
                <a:solidFill>
                  <a:srgbClr val="87ABA4"/>
                </a:solidFill>
                <a:latin typeface="Public Sans" pitchFamily="34" charset="0"/>
                <a:ea typeface="Public Sans" pitchFamily="34" charset="-122"/>
                <a:cs typeface="Public Sans" pitchFamily="34" charset="-120"/>
              </a:rPr>
              <a:t>12</a:t>
            </a:r>
            <a:endParaRPr lang="en-US" sz="1000" dirty="0"/>
          </a:p>
        </p:txBody>
      </p:sp>
      <p:sp>
        <p:nvSpPr>
          <p:cNvPr id="7" name="Shape 4"/>
          <p:cNvSpPr/>
          <p:nvPr/>
        </p:nvSpPr>
        <p:spPr>
          <a:xfrm>
            <a:off x="11755838" y="6461125"/>
            <a:ext cx="282667" cy="184150"/>
          </a:xfrm>
          <a:prstGeom prst="rect">
            <a:avLst/>
          </a:prstGeom>
          <a:solidFill>
            <a:srgbClr val="17211F"/>
          </a:solidFill>
          <a:ln w="12700">
            <a:solidFill>
              <a:srgbClr val="17211F"/>
            </a:solidFill>
            <a:prstDash val="solid"/>
          </a:ln>
        </p:spPr>
      </p:sp>
      <p:sp>
        <p:nvSpPr>
          <p:cNvPr id="8" name="Shape 5"/>
          <p:cNvSpPr/>
          <p:nvPr/>
        </p:nvSpPr>
        <p:spPr>
          <a:xfrm>
            <a:off x="0" y="0"/>
            <a:ext cx="6019253" cy="6858000"/>
          </a:xfrm>
          <a:prstGeom prst="rect">
            <a:avLst/>
          </a:prstGeom>
          <a:solidFill>
            <a:srgbClr val="A83A1C"/>
          </a:solidFill>
          <a:ln/>
        </p:spPr>
      </p:sp>
      <p:sp>
        <p:nvSpPr>
          <p:cNvPr id="9" name="Text 6"/>
          <p:cNvSpPr/>
          <p:nvPr/>
        </p:nvSpPr>
        <p:spPr>
          <a:xfrm>
            <a:off x="152396" y="1876719"/>
            <a:ext cx="6971729" cy="513797"/>
          </a:xfrm>
          <a:prstGeom prst="rect">
            <a:avLst/>
          </a:prstGeom>
          <a:noFill/>
          <a:ln/>
        </p:spPr>
        <p:txBody>
          <a:bodyPr wrap="none" lIns="0" tIns="0" rIns="0" bIns="0" rtlCol="0" anchor="t"/>
          <a:lstStyle/>
          <a:p>
            <a:pPr marL="0" indent="0" algn="l">
              <a:lnSpc>
                <a:spcPct val="100000"/>
              </a:lnSpc>
              <a:buNone/>
            </a:pPr>
            <a:r>
              <a:rPr lang="en-US" sz="900" kern="100" spc="91" dirty="0">
                <a:solidFill>
                  <a:srgbClr val="FFFFFF"/>
                </a:solidFill>
                <a:latin typeface="Spline Sans Mono" pitchFamily="34" charset="0"/>
                <a:ea typeface="Spline Sans Mono" pitchFamily="34" charset="-122"/>
                <a:cs typeface="Spline Sans Mono" pitchFamily="34" charset="-120"/>
              </a:rPr>
              <a:t>APPLICATIONS · PROBLEM · RESPONSE</a:t>
            </a:r>
            <a:endParaRPr lang="en-US" sz="900" dirty="0"/>
          </a:p>
        </p:txBody>
      </p:sp>
      <p:sp>
        <p:nvSpPr>
          <p:cNvPr id="10" name="Text 7"/>
          <p:cNvSpPr/>
          <p:nvPr/>
        </p:nvSpPr>
        <p:spPr>
          <a:xfrm>
            <a:off x="152396" y="2415477"/>
            <a:ext cx="5600163" cy="704056"/>
          </a:xfrm>
          <a:prstGeom prst="rect">
            <a:avLst/>
          </a:prstGeom>
          <a:noFill/>
          <a:ln/>
        </p:spPr>
        <p:txBody>
          <a:bodyPr wrap="square" lIns="0" tIns="0" rIns="0" bIns="0" rtlCol="0" anchor="t">
            <a:normAutofit lnSpcReduction="10000"/>
          </a:bodyPr>
          <a:lstStyle/>
          <a:p>
            <a:pPr marL="0" indent="0" algn="l">
              <a:lnSpc>
                <a:spcPct val="83000"/>
              </a:lnSpc>
              <a:buNone/>
            </a:pPr>
            <a:r>
              <a:rPr lang="en-US" sz="2800" kern="100" spc="-28" dirty="0">
                <a:solidFill>
                  <a:srgbClr val="FFFFFF"/>
                </a:solidFill>
                <a:latin typeface="Sora SemiBold" pitchFamily="34" charset="0"/>
                <a:ea typeface="Sora SemiBold" pitchFamily="34" charset="-122"/>
                <a:cs typeface="Sora SemiBold" pitchFamily="34" charset="-120"/>
              </a:rPr>
              <a:t>Real-Life Problems and JamGuard Solutions</a:t>
            </a:r>
            <a:endParaRPr lang="en-US" sz="2800" dirty="0"/>
          </a:p>
        </p:txBody>
      </p:sp>
      <p:sp>
        <p:nvSpPr>
          <p:cNvPr id="11" name="Shape 8"/>
          <p:cNvSpPr/>
          <p:nvPr/>
        </p:nvSpPr>
        <p:spPr>
          <a:xfrm>
            <a:off x="152396" y="3447355"/>
            <a:ext cx="150710" cy="31452"/>
          </a:xfrm>
          <a:prstGeom prst="roundRect">
            <a:avLst>
              <a:gd name="adj" fmla="val 49999"/>
            </a:avLst>
          </a:prstGeom>
          <a:solidFill>
            <a:srgbClr val="D99032"/>
          </a:solidFill>
          <a:ln/>
        </p:spPr>
      </p:sp>
      <p:sp>
        <p:nvSpPr>
          <p:cNvPr id="12" name="Text 9"/>
          <p:cNvSpPr/>
          <p:nvPr/>
        </p:nvSpPr>
        <p:spPr>
          <a:xfrm>
            <a:off x="152396" y="3639685"/>
            <a:ext cx="5600163" cy="456009"/>
          </a:xfrm>
          <a:prstGeom prst="rect">
            <a:avLst/>
          </a:prstGeom>
          <a:noFill/>
          <a:ln/>
        </p:spPr>
        <p:txBody>
          <a:bodyPr wrap="square" lIns="0" tIns="0" rIns="0" bIns="0" rtlCol="0" anchor="t">
            <a:normAutofit/>
          </a:bodyPr>
          <a:lstStyle/>
          <a:p>
            <a:pPr marL="0" indent="0" algn="l">
              <a:lnSpc>
                <a:spcPct val="111000"/>
              </a:lnSpc>
              <a:buNone/>
            </a:pPr>
            <a:r>
              <a:rPr lang="en-US" sz="1350" dirty="0">
                <a:solidFill>
                  <a:srgbClr val="FFFFFF"/>
                </a:solidFill>
                <a:latin typeface="Public Sans" pitchFamily="34" charset="0"/>
                <a:ea typeface="Public Sans" pitchFamily="34" charset="-122"/>
                <a:cs typeface="Public Sans" pitchFamily="34" charset="-120"/>
              </a:rPr>
              <a:t>One adaptable principle for small motor-driven systems: notice lost motion, make the condition visible, and support a protective reaction.</a:t>
            </a:r>
            <a:endParaRPr lang="en-US" sz="1350" dirty="0"/>
          </a:p>
        </p:txBody>
      </p:sp>
      <p:sp>
        <p:nvSpPr>
          <p:cNvPr id="13" name="Text 10"/>
          <p:cNvSpPr/>
          <p:nvPr/>
        </p:nvSpPr>
        <p:spPr>
          <a:xfrm>
            <a:off x="152396" y="4259739"/>
            <a:ext cx="5714460" cy="345281"/>
          </a:xfrm>
          <a:prstGeom prst="rect">
            <a:avLst/>
          </a:prstGeom>
          <a:noFill/>
          <a:ln/>
        </p:spPr>
        <p:txBody>
          <a:bodyPr wrap="square" lIns="0" tIns="0" rIns="0" bIns="0" rtlCol="0" anchor="t">
            <a:normAutofit/>
          </a:bodyPr>
          <a:lstStyle/>
          <a:p>
            <a:pPr marL="0" indent="0" algn="l">
              <a:lnSpc>
                <a:spcPct val="113000"/>
              </a:lnSpc>
              <a:buNone/>
            </a:pPr>
            <a:r>
              <a:rPr lang="en-US" sz="1000" kern="100" spc="20" dirty="0">
                <a:solidFill>
                  <a:srgbClr val="FFFFFF"/>
                </a:solidFill>
                <a:latin typeface="Spline Sans Mono" pitchFamily="34" charset="0"/>
                <a:ea typeface="Spline Sans Mono" pitchFamily="34" charset="-122"/>
                <a:cs typeface="Spline Sans Mono" pitchFamily="34" charset="-120"/>
              </a:rPr>
              <a:t>JamGuard is demonstrated here as a prototype concept, not an already deployed industrial product.</a:t>
            </a:r>
            <a:endParaRPr lang="en-US" sz="1000" dirty="0"/>
          </a:p>
        </p:txBody>
      </p:sp>
      <p:sp>
        <p:nvSpPr>
          <p:cNvPr id="14" name="Shape 11"/>
          <p:cNvSpPr/>
          <p:nvPr/>
        </p:nvSpPr>
        <p:spPr>
          <a:xfrm>
            <a:off x="6171649" y="0"/>
            <a:ext cx="2933329" cy="2182713"/>
          </a:xfrm>
          <a:prstGeom prst="rect">
            <a:avLst/>
          </a:prstGeom>
          <a:solidFill>
            <a:srgbClr val="17211F"/>
          </a:solidFill>
          <a:ln/>
        </p:spPr>
      </p:sp>
      <p:sp>
        <p:nvSpPr>
          <p:cNvPr id="15" name="Shape 12"/>
          <p:cNvSpPr/>
          <p:nvPr/>
        </p:nvSpPr>
        <p:spPr>
          <a:xfrm>
            <a:off x="6171649" y="0"/>
            <a:ext cx="2933329" cy="2182713"/>
          </a:xfrm>
          <a:prstGeom prst="rect">
            <a:avLst/>
          </a:prstGeom>
          <a:solidFill>
            <a:srgbClr val="000000">
              <a:alpha val="40000"/>
            </a:srgbClr>
          </a:solidFill>
          <a:ln/>
        </p:spPr>
      </p:sp>
      <p:sp>
        <p:nvSpPr>
          <p:cNvPr id="16" name="Text 13"/>
          <p:cNvSpPr/>
          <p:nvPr/>
        </p:nvSpPr>
        <p:spPr>
          <a:xfrm>
            <a:off x="6324045" y="264021"/>
            <a:ext cx="3733409" cy="251420"/>
          </a:xfrm>
          <a:prstGeom prst="rect">
            <a:avLst/>
          </a:prstGeom>
          <a:noFill/>
          <a:ln/>
        </p:spPr>
        <p:txBody>
          <a:bodyPr wrap="none" lIns="0" tIns="0" rIns="0" bIns="0" rtlCol="0" anchor="t"/>
          <a:lstStyle/>
          <a:p>
            <a:pPr marL="0" indent="0" algn="l">
              <a:lnSpc>
                <a:spcPct val="100000"/>
              </a:lnSpc>
              <a:buNone/>
            </a:pPr>
            <a:r>
              <a:rPr lang="en-US" sz="1650" dirty="0">
                <a:solidFill>
                  <a:srgbClr val="FFFFFF"/>
                </a:solidFill>
                <a:latin typeface="Public Sans SemiBold" pitchFamily="34" charset="0"/>
                <a:ea typeface="Public Sans SemiBold" pitchFamily="34" charset="-122"/>
                <a:cs typeface="Public Sans SemiBold" pitchFamily="34" charset="-120"/>
              </a:rPr>
              <a:t>Conveyor belts</a:t>
            </a:r>
            <a:endParaRPr lang="en-US" sz="1650" dirty="0"/>
          </a:p>
        </p:txBody>
      </p:sp>
      <p:sp>
        <p:nvSpPr>
          <p:cNvPr id="17" name="Text 14"/>
          <p:cNvSpPr/>
          <p:nvPr/>
        </p:nvSpPr>
        <p:spPr>
          <a:xfrm>
            <a:off x="6324045" y="598587"/>
            <a:ext cx="2514239" cy="1266825"/>
          </a:xfrm>
          <a:prstGeom prst="rect">
            <a:avLst/>
          </a:prstGeom>
          <a:noFill/>
          <a:ln/>
        </p:spPr>
        <p:txBody>
          <a:bodyPr wrap="square" lIns="0" tIns="0" rIns="0" bIns="0" rtlCol="0" anchor="t">
            <a:normAutofit/>
          </a:bodyPr>
          <a:lstStyle/>
          <a:p>
            <a:pPr marL="0" indent="0" algn="l">
              <a:lnSpc>
                <a:spcPct val="111000"/>
              </a:lnSpc>
              <a:buNone/>
            </a:pPr>
            <a:r>
              <a:rPr lang="en-US" sz="1250" b="1" dirty="0">
                <a:solidFill>
                  <a:srgbClr val="FFFFFF"/>
                </a:solidFill>
                <a:latin typeface="Public Sans Bold" pitchFamily="34" charset="0"/>
                <a:ea typeface="Public Sans Bold" pitchFamily="34" charset="-122"/>
                <a:cs typeface="Public Sans Bold" pitchFamily="34" charset="-120"/>
              </a:rPr>
              <a:t>Problem:</a:t>
            </a:r>
            <a:r>
              <a:rPr lang="en-US" sz="1250" dirty="0">
                <a:solidFill>
                  <a:srgbClr val="FFFFFF"/>
                </a:solidFill>
                <a:latin typeface="Public Sans" pitchFamily="34" charset="0"/>
                <a:ea typeface="Public Sans" pitchFamily="34" charset="-122"/>
                <a:cs typeface="Public Sans" pitchFamily="34" charset="-120"/>
              </a:rPr>
              <a:t> A belt can stop while upstream material keeps arriving.</a:t>
            </a:r>
            <a:endParaRPr lang="en-US" sz="1250" dirty="0"/>
          </a:p>
          <a:p>
            <a:pPr marL="0" indent="0" algn="l">
              <a:lnSpc>
                <a:spcPct val="111000"/>
              </a:lnSpc>
              <a:buNone/>
            </a:pPr>
            <a:r>
              <a:rPr lang="en-US" sz="1250" dirty="0">
                <a:solidFill>
                  <a:srgbClr val="87ABA4"/>
                </a:solidFill>
                <a:latin typeface="Public Sans" pitchFamily="34" charset="0"/>
                <a:ea typeface="Public Sans" pitchFamily="34" charset="-122"/>
                <a:cs typeface="Public Sans" pitchFamily="34" charset="-120"/>
              </a:rPr>
              <a:t> </a:t>
            </a:r>
            <a:endParaRPr lang="en-US" sz="1250" dirty="0"/>
          </a:p>
          <a:p>
            <a:pPr marL="0" indent="0" algn="l">
              <a:lnSpc>
                <a:spcPct val="111000"/>
              </a:lnSpc>
              <a:buNone/>
            </a:pPr>
            <a:r>
              <a:rPr lang="en-US" sz="1250" b="1" dirty="0">
                <a:solidFill>
                  <a:srgbClr val="FFFFFF"/>
                </a:solidFill>
                <a:latin typeface="Public Sans Bold" pitchFamily="34" charset="0"/>
                <a:ea typeface="Public Sans Bold" pitchFamily="34" charset="-122"/>
                <a:cs typeface="Public Sans Bold" pitchFamily="34" charset="-120"/>
              </a:rPr>
              <a:t>Solution:</a:t>
            </a:r>
            <a:r>
              <a:rPr lang="en-US" sz="1250" dirty="0">
                <a:solidFill>
                  <a:srgbClr val="FFFFFF"/>
                </a:solidFill>
                <a:latin typeface="Public Sans" pitchFamily="34" charset="0"/>
                <a:ea typeface="Public Sans" pitchFamily="34" charset="-122"/>
                <a:cs typeface="Public Sans" pitchFamily="34" charset="-120"/>
              </a:rPr>
              <a:t> Monitor rotation and surface a possible stoppage for a protective response.</a:t>
            </a:r>
            <a:endParaRPr lang="en-US" sz="1250" dirty="0"/>
          </a:p>
        </p:txBody>
      </p:sp>
      <p:sp>
        <p:nvSpPr>
          <p:cNvPr id="18" name="Shape 15"/>
          <p:cNvSpPr/>
          <p:nvPr/>
        </p:nvSpPr>
        <p:spPr>
          <a:xfrm>
            <a:off x="9257473" y="0"/>
            <a:ext cx="2933329" cy="2182713"/>
          </a:xfrm>
          <a:prstGeom prst="rect">
            <a:avLst/>
          </a:prstGeom>
          <a:solidFill>
            <a:srgbClr val="17211F"/>
          </a:solidFill>
          <a:ln/>
        </p:spPr>
      </p:sp>
      <p:sp>
        <p:nvSpPr>
          <p:cNvPr id="19" name="Shape 16"/>
          <p:cNvSpPr/>
          <p:nvPr/>
        </p:nvSpPr>
        <p:spPr>
          <a:xfrm>
            <a:off x="9257473" y="0"/>
            <a:ext cx="2933329" cy="2182713"/>
          </a:xfrm>
          <a:prstGeom prst="rect">
            <a:avLst/>
          </a:prstGeom>
          <a:solidFill>
            <a:srgbClr val="000000">
              <a:alpha val="40000"/>
            </a:srgbClr>
          </a:solidFill>
          <a:ln/>
        </p:spPr>
      </p:sp>
      <p:sp>
        <p:nvSpPr>
          <p:cNvPr id="20" name="Text 17"/>
          <p:cNvSpPr/>
          <p:nvPr/>
        </p:nvSpPr>
        <p:spPr>
          <a:xfrm>
            <a:off x="9409869" y="264021"/>
            <a:ext cx="2781826" cy="251420"/>
          </a:xfrm>
          <a:prstGeom prst="rect">
            <a:avLst/>
          </a:prstGeom>
          <a:noFill/>
          <a:ln/>
        </p:spPr>
        <p:txBody>
          <a:bodyPr wrap="none" lIns="0" tIns="0" rIns="0" bIns="0" rtlCol="0" anchor="t"/>
          <a:lstStyle/>
          <a:p>
            <a:pPr marL="0" indent="0" algn="l">
              <a:lnSpc>
                <a:spcPct val="100000"/>
              </a:lnSpc>
              <a:buNone/>
            </a:pPr>
            <a:r>
              <a:rPr lang="en-US" sz="1650" dirty="0">
                <a:solidFill>
                  <a:srgbClr val="FFFFFF"/>
                </a:solidFill>
                <a:latin typeface="Public Sans SemiBold" pitchFamily="34" charset="0"/>
                <a:ea typeface="Public Sans SemiBold" pitchFamily="34" charset="-122"/>
                <a:cs typeface="Public Sans SemiBold" pitchFamily="34" charset="-120"/>
              </a:rPr>
              <a:t>Packaging machines</a:t>
            </a:r>
            <a:endParaRPr lang="en-US" sz="1650" dirty="0"/>
          </a:p>
        </p:txBody>
      </p:sp>
      <p:sp>
        <p:nvSpPr>
          <p:cNvPr id="21" name="Text 18"/>
          <p:cNvSpPr/>
          <p:nvPr/>
        </p:nvSpPr>
        <p:spPr>
          <a:xfrm>
            <a:off x="9409869" y="579862"/>
            <a:ext cx="2571388" cy="1244203"/>
          </a:xfrm>
          <a:prstGeom prst="rect">
            <a:avLst/>
          </a:prstGeom>
          <a:noFill/>
          <a:ln/>
        </p:spPr>
        <p:txBody>
          <a:bodyPr wrap="square" lIns="0" tIns="0" rIns="0" bIns="0" rtlCol="0" anchor="t">
            <a:normAutofit/>
          </a:bodyPr>
          <a:lstStyle/>
          <a:p>
            <a:pPr marL="0" indent="0" algn="l">
              <a:lnSpc>
                <a:spcPct val="101000"/>
              </a:lnSpc>
              <a:buNone/>
            </a:pPr>
            <a:r>
              <a:rPr lang="en-US" sz="1350" b="1" dirty="0">
                <a:solidFill>
                  <a:srgbClr val="FFFFFF"/>
                </a:solidFill>
                <a:latin typeface="Public Sans Bold" pitchFamily="34" charset="0"/>
                <a:ea typeface="Public Sans Bold" pitchFamily="34" charset="-122"/>
                <a:cs typeface="Public Sans Bold" pitchFamily="34" charset="-120"/>
              </a:rPr>
              <a:t>Problem:</a:t>
            </a:r>
            <a:r>
              <a:rPr lang="en-US" sz="1350" dirty="0">
                <a:solidFill>
                  <a:srgbClr val="FFFFFF"/>
                </a:solidFill>
                <a:latin typeface="Public Sans" pitchFamily="34" charset="0"/>
                <a:ea typeface="Public Sans" pitchFamily="34" charset="-122"/>
                <a:cs typeface="Public Sans" pitchFamily="34" charset="-120"/>
              </a:rPr>
              <a:t> A missed feed or jam can leave the cycle waiting on motion that is no longer there.</a:t>
            </a:r>
            <a:endParaRPr lang="en-US" sz="1350" dirty="0"/>
          </a:p>
          <a:p>
            <a:pPr marL="0" indent="0" algn="l">
              <a:lnSpc>
                <a:spcPct val="101000"/>
              </a:lnSpc>
              <a:buNone/>
            </a:pPr>
            <a:r>
              <a:rPr lang="en-US" sz="1350" dirty="0">
                <a:solidFill>
                  <a:srgbClr val="87ABA4"/>
                </a:solidFill>
                <a:latin typeface="Public Sans" pitchFamily="34" charset="0"/>
                <a:ea typeface="Public Sans" pitchFamily="34" charset="-122"/>
                <a:cs typeface="Public Sans" pitchFamily="34" charset="-120"/>
              </a:rPr>
              <a:t> </a:t>
            </a:r>
            <a:endParaRPr lang="en-US" sz="1350" dirty="0"/>
          </a:p>
          <a:p>
            <a:pPr marL="0" indent="0" algn="l">
              <a:lnSpc>
                <a:spcPct val="101000"/>
              </a:lnSpc>
              <a:buNone/>
            </a:pPr>
            <a:r>
              <a:rPr lang="en-US" sz="1350" b="1" dirty="0">
                <a:solidFill>
                  <a:srgbClr val="FFFFFF"/>
                </a:solidFill>
                <a:latin typeface="Public Sans Bold" pitchFamily="34" charset="0"/>
                <a:ea typeface="Public Sans Bold" pitchFamily="34" charset="-122"/>
                <a:cs typeface="Public Sans Bold" pitchFamily="34" charset="-120"/>
              </a:rPr>
              <a:t>Solution:</a:t>
            </a:r>
            <a:r>
              <a:rPr lang="en-US" sz="1350" dirty="0">
                <a:solidFill>
                  <a:srgbClr val="FFFFFF"/>
                </a:solidFill>
                <a:latin typeface="Public Sans" pitchFamily="34" charset="0"/>
                <a:ea typeface="Public Sans" pitchFamily="34" charset="-122"/>
                <a:cs typeface="Public Sans" pitchFamily="34" charset="-120"/>
              </a:rPr>
              <a:t> Use rotation evidence to flag the missing movement.</a:t>
            </a:r>
            <a:endParaRPr lang="en-US" sz="1350" dirty="0"/>
          </a:p>
        </p:txBody>
      </p:sp>
      <p:sp>
        <p:nvSpPr>
          <p:cNvPr id="22" name="Shape 19"/>
          <p:cNvSpPr/>
          <p:nvPr/>
        </p:nvSpPr>
        <p:spPr>
          <a:xfrm>
            <a:off x="6171649" y="2335014"/>
            <a:ext cx="2933329" cy="2182813"/>
          </a:xfrm>
          <a:prstGeom prst="rect">
            <a:avLst/>
          </a:prstGeom>
          <a:solidFill>
            <a:srgbClr val="17211F"/>
          </a:solidFill>
          <a:ln/>
        </p:spPr>
      </p:sp>
      <p:sp>
        <p:nvSpPr>
          <p:cNvPr id="23" name="Shape 20"/>
          <p:cNvSpPr/>
          <p:nvPr/>
        </p:nvSpPr>
        <p:spPr>
          <a:xfrm>
            <a:off x="6171649" y="2335014"/>
            <a:ext cx="2933329" cy="2182813"/>
          </a:xfrm>
          <a:prstGeom prst="rect">
            <a:avLst/>
          </a:prstGeom>
          <a:solidFill>
            <a:srgbClr val="000000">
              <a:alpha val="40000"/>
            </a:srgbClr>
          </a:solidFill>
          <a:ln/>
        </p:spPr>
      </p:sp>
      <p:sp>
        <p:nvSpPr>
          <p:cNvPr id="24" name="Text 21"/>
          <p:cNvSpPr/>
          <p:nvPr/>
        </p:nvSpPr>
        <p:spPr>
          <a:xfrm>
            <a:off x="6324045" y="2710755"/>
            <a:ext cx="3733409" cy="251420"/>
          </a:xfrm>
          <a:prstGeom prst="rect">
            <a:avLst/>
          </a:prstGeom>
          <a:noFill/>
          <a:ln/>
        </p:spPr>
        <p:txBody>
          <a:bodyPr wrap="none" lIns="0" tIns="0" rIns="0" bIns="0" rtlCol="0" anchor="t"/>
          <a:lstStyle/>
          <a:p>
            <a:pPr marL="0" indent="0" algn="l">
              <a:lnSpc>
                <a:spcPct val="100000"/>
              </a:lnSpc>
              <a:buNone/>
            </a:pPr>
            <a:r>
              <a:rPr lang="en-US" sz="1650" dirty="0">
                <a:solidFill>
                  <a:srgbClr val="FFFFFF"/>
                </a:solidFill>
                <a:latin typeface="Public Sans SemiBold" pitchFamily="34" charset="0"/>
                <a:ea typeface="Public Sans SemiBold" pitchFamily="34" charset="-122"/>
                <a:cs typeface="Public Sans SemiBold" pitchFamily="34" charset="-120"/>
              </a:rPr>
              <a:t>Robotics</a:t>
            </a:r>
            <a:endParaRPr lang="en-US" sz="1650" dirty="0"/>
          </a:p>
        </p:txBody>
      </p:sp>
      <p:sp>
        <p:nvSpPr>
          <p:cNvPr id="25" name="Text 22"/>
          <p:cNvSpPr/>
          <p:nvPr/>
        </p:nvSpPr>
        <p:spPr>
          <a:xfrm>
            <a:off x="6324045" y="3041055"/>
            <a:ext cx="2571388" cy="990600"/>
          </a:xfrm>
          <a:prstGeom prst="rect">
            <a:avLst/>
          </a:prstGeom>
          <a:noFill/>
          <a:ln/>
        </p:spPr>
        <p:txBody>
          <a:bodyPr wrap="square" lIns="0" tIns="0" rIns="0" bIns="0" rtlCol="0" anchor="t">
            <a:normAutofit/>
          </a:bodyPr>
          <a:lstStyle/>
          <a:p>
            <a:pPr marL="0" indent="0" algn="l">
              <a:lnSpc>
                <a:spcPct val="111000"/>
              </a:lnSpc>
              <a:spcAft>
                <a:spcPts val="1100"/>
              </a:spcAft>
              <a:buNone/>
            </a:pPr>
            <a:r>
              <a:rPr lang="en-US" sz="1250" b="1" dirty="0">
                <a:solidFill>
                  <a:srgbClr val="FFFFFF"/>
                </a:solidFill>
                <a:latin typeface="Public Sans Bold" pitchFamily="34" charset="0"/>
                <a:ea typeface="Public Sans Bold" pitchFamily="34" charset="-122"/>
                <a:cs typeface="Public Sans Bold" pitchFamily="34" charset="-120"/>
              </a:rPr>
              <a:t>Problem:</a:t>
            </a:r>
            <a:r>
              <a:rPr lang="en-US" sz="1250" dirty="0">
                <a:solidFill>
                  <a:srgbClr val="FFFFFF"/>
                </a:solidFill>
                <a:latin typeface="Public Sans" pitchFamily="34" charset="0"/>
                <a:ea typeface="Public Sans" pitchFamily="34" charset="-122"/>
                <a:cs typeface="Public Sans" pitchFamily="34" charset="-120"/>
              </a:rPr>
              <a:t> A motor-driven axis may fail to move as expected.</a:t>
            </a:r>
            <a:endParaRPr lang="en-US" sz="1250" dirty="0"/>
          </a:p>
          <a:p>
            <a:pPr marL="0" indent="0" algn="l">
              <a:lnSpc>
                <a:spcPct val="111000"/>
              </a:lnSpc>
              <a:buNone/>
            </a:pPr>
            <a:r>
              <a:rPr lang="en-US" sz="1250" b="1" dirty="0">
                <a:solidFill>
                  <a:srgbClr val="FFFFFF"/>
                </a:solidFill>
                <a:latin typeface="Public Sans Bold" pitchFamily="34" charset="0"/>
                <a:ea typeface="Public Sans Bold" pitchFamily="34" charset="-122"/>
                <a:cs typeface="Public Sans Bold" pitchFamily="34" charset="-120"/>
              </a:rPr>
              <a:t>Solution:</a:t>
            </a:r>
            <a:r>
              <a:rPr lang="en-US" sz="1250" dirty="0">
                <a:solidFill>
                  <a:srgbClr val="FFFFFF"/>
                </a:solidFill>
                <a:latin typeface="Public Sans" pitchFamily="34" charset="0"/>
                <a:ea typeface="Public Sans" pitchFamily="34" charset="-122"/>
                <a:cs typeface="Public Sans" pitchFamily="34" charset="-120"/>
              </a:rPr>
              <a:t> Add a motion-loss check to the system's awareness.</a:t>
            </a:r>
            <a:endParaRPr lang="en-US" sz="1250" dirty="0"/>
          </a:p>
        </p:txBody>
      </p:sp>
      <p:sp>
        <p:nvSpPr>
          <p:cNvPr id="26" name="Shape 23"/>
          <p:cNvSpPr/>
          <p:nvPr/>
        </p:nvSpPr>
        <p:spPr>
          <a:xfrm>
            <a:off x="9257473" y="2335014"/>
            <a:ext cx="2933329" cy="2182813"/>
          </a:xfrm>
          <a:prstGeom prst="rect">
            <a:avLst/>
          </a:prstGeom>
          <a:solidFill>
            <a:srgbClr val="17211F"/>
          </a:solidFill>
          <a:ln/>
        </p:spPr>
      </p:sp>
      <p:sp>
        <p:nvSpPr>
          <p:cNvPr id="27" name="Shape 24"/>
          <p:cNvSpPr/>
          <p:nvPr/>
        </p:nvSpPr>
        <p:spPr>
          <a:xfrm>
            <a:off x="9257473" y="2335014"/>
            <a:ext cx="2933329" cy="2182813"/>
          </a:xfrm>
          <a:prstGeom prst="rect">
            <a:avLst/>
          </a:prstGeom>
          <a:solidFill>
            <a:srgbClr val="000000">
              <a:alpha val="40000"/>
            </a:srgbClr>
          </a:solidFill>
          <a:ln/>
        </p:spPr>
      </p:sp>
      <p:sp>
        <p:nvSpPr>
          <p:cNvPr id="28" name="Text 25"/>
          <p:cNvSpPr/>
          <p:nvPr/>
        </p:nvSpPr>
        <p:spPr>
          <a:xfrm>
            <a:off x="9409869" y="2487414"/>
            <a:ext cx="2781826" cy="251420"/>
          </a:xfrm>
          <a:prstGeom prst="rect">
            <a:avLst/>
          </a:prstGeom>
          <a:noFill/>
          <a:ln/>
        </p:spPr>
        <p:txBody>
          <a:bodyPr wrap="none" lIns="0" tIns="0" rIns="0" bIns="0" rtlCol="0" anchor="t"/>
          <a:lstStyle/>
          <a:p>
            <a:pPr marL="0" indent="0" algn="l">
              <a:lnSpc>
                <a:spcPct val="100000"/>
              </a:lnSpc>
              <a:buNone/>
            </a:pPr>
            <a:r>
              <a:rPr lang="en-US" sz="1650" dirty="0">
                <a:solidFill>
                  <a:srgbClr val="FFFFFF"/>
                </a:solidFill>
                <a:latin typeface="Public Sans SemiBold" pitchFamily="34" charset="0"/>
                <a:ea typeface="Public Sans SemiBold" pitchFamily="34" charset="-122"/>
                <a:cs typeface="Public Sans SemiBold" pitchFamily="34" charset="-120"/>
              </a:rPr>
              <a:t>Automated gates</a:t>
            </a:r>
            <a:endParaRPr lang="en-US" sz="1650" dirty="0"/>
          </a:p>
        </p:txBody>
      </p:sp>
      <p:sp>
        <p:nvSpPr>
          <p:cNvPr id="29" name="Text 26"/>
          <p:cNvSpPr/>
          <p:nvPr/>
        </p:nvSpPr>
        <p:spPr>
          <a:xfrm>
            <a:off x="9409869" y="2803255"/>
            <a:ext cx="2514239" cy="1451570"/>
          </a:xfrm>
          <a:prstGeom prst="rect">
            <a:avLst/>
          </a:prstGeom>
          <a:noFill/>
          <a:ln/>
        </p:spPr>
        <p:txBody>
          <a:bodyPr wrap="square" lIns="0" tIns="0" rIns="0" bIns="0" rtlCol="0" anchor="t">
            <a:normAutofit/>
          </a:bodyPr>
          <a:lstStyle/>
          <a:p>
            <a:pPr marL="0" indent="0" algn="l">
              <a:lnSpc>
                <a:spcPct val="101000"/>
              </a:lnSpc>
              <a:buNone/>
            </a:pPr>
            <a:r>
              <a:rPr lang="en-US" sz="1350" b="1" dirty="0">
                <a:solidFill>
                  <a:srgbClr val="FFFFFF"/>
                </a:solidFill>
                <a:latin typeface="Public Sans Bold" pitchFamily="34" charset="0"/>
                <a:ea typeface="Public Sans Bold" pitchFamily="34" charset="-122"/>
                <a:cs typeface="Public Sans Bold" pitchFamily="34" charset="-120"/>
              </a:rPr>
              <a:t>Problem:</a:t>
            </a:r>
            <a:r>
              <a:rPr lang="en-US" sz="1350" dirty="0">
                <a:solidFill>
                  <a:srgbClr val="FFFFFF"/>
                </a:solidFill>
                <a:latin typeface="Public Sans" pitchFamily="34" charset="0"/>
                <a:ea typeface="Public Sans" pitchFamily="34" charset="-122"/>
                <a:cs typeface="Public Sans" pitchFamily="34" charset="-120"/>
              </a:rPr>
              <a:t> A gate may stall mid-cycle while the command has already been issued.</a:t>
            </a:r>
            <a:endParaRPr lang="en-US" sz="1350" dirty="0"/>
          </a:p>
          <a:p>
            <a:pPr marL="0" indent="0" algn="l">
              <a:lnSpc>
                <a:spcPct val="101000"/>
              </a:lnSpc>
              <a:buNone/>
            </a:pPr>
            <a:r>
              <a:rPr lang="en-US" sz="1350" dirty="0">
                <a:solidFill>
                  <a:srgbClr val="87ABA4"/>
                </a:solidFill>
                <a:latin typeface="Public Sans" pitchFamily="34" charset="0"/>
                <a:ea typeface="Public Sans" pitchFamily="34" charset="-122"/>
                <a:cs typeface="Public Sans" pitchFamily="34" charset="-120"/>
              </a:rPr>
              <a:t> </a:t>
            </a:r>
            <a:endParaRPr lang="en-US" sz="1350" dirty="0"/>
          </a:p>
          <a:p>
            <a:pPr marL="0" indent="0" algn="l">
              <a:lnSpc>
                <a:spcPct val="101000"/>
              </a:lnSpc>
              <a:buNone/>
            </a:pPr>
            <a:r>
              <a:rPr lang="en-US" sz="1350" b="1" dirty="0">
                <a:solidFill>
                  <a:srgbClr val="FFFFFF"/>
                </a:solidFill>
                <a:latin typeface="Public Sans Bold" pitchFamily="34" charset="0"/>
                <a:ea typeface="Public Sans Bold" pitchFamily="34" charset="-122"/>
                <a:cs typeface="Public Sans Bold" pitchFamily="34" charset="-120"/>
              </a:rPr>
              <a:t>Solution:</a:t>
            </a:r>
            <a:r>
              <a:rPr lang="en-US" sz="1350" dirty="0">
                <a:solidFill>
                  <a:srgbClr val="FFFFFF"/>
                </a:solidFill>
                <a:latin typeface="Public Sans" pitchFamily="34" charset="0"/>
                <a:ea typeface="Public Sans" pitchFamily="34" charset="-122"/>
                <a:cs typeface="Public Sans" pitchFamily="34" charset="-120"/>
              </a:rPr>
              <a:t> Watch for continued rotation and react when it disappears.</a:t>
            </a:r>
            <a:endParaRPr lang="en-US" sz="13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1801</Words>
  <Application>Microsoft Office PowerPoint</Application>
  <PresentationFormat>Widescreen</PresentationFormat>
  <Paragraphs>222</Paragraphs>
  <Slides>14</Slides>
  <Notes>14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Spline Sans Mono</vt:lpstr>
      <vt:lpstr>Public Sans</vt:lpstr>
      <vt:lpstr>Carlito</vt:lpstr>
      <vt:lpstr>Public Sans Bold</vt:lpstr>
      <vt:lpstr>Arial</vt:lpstr>
      <vt:lpstr>Public Sans SemiBold</vt:lpstr>
      <vt:lpstr>Sora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Aarav Ghiya</cp:lastModifiedBy>
  <cp:revision>4</cp:revision>
  <dcterms:created xsi:type="dcterms:W3CDTF">2026-10-11T22:14:05Z</dcterms:created>
  <dcterms:modified xsi:type="dcterms:W3CDTF">2026-10-11T22:30:59Z</dcterms:modified>
</cp:coreProperties>
</file>